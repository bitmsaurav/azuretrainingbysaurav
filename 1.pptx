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f16c6518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af16c6518_4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af16c6518_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af16c6518_4_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af16c6518_4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af16c6518_4_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f16c6518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af16c6518_4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af16c6518_4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af16c6518_4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af16c6518_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baf16c6518_4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af16c6518_4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baf16c6518_4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af16c6518_4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af16c6518_4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f16c6518_4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baf16c6518_4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af16c6518_4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baf16c6518_4_1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af16c6518_4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baf16c6518_4_1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af16c6518_4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baf16c6518_4_1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af16c6518_4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af16c6518_4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af16c6518_4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baf16c6518_4_2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af16c6518_4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baf16c6518_4_2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278282" y="1224915"/>
            <a:ext cx="6718459" cy="2580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33647" y="201266"/>
            <a:ext cx="1071941" cy="3233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 u="none" cap="none" strike="noStrike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78282" y="1224915"/>
            <a:ext cx="6718459" cy="2580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Relationship Id="rId10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16.jpg"/><Relationship Id="rId8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Relationship Id="rId4" Type="http://schemas.openxmlformats.org/officeDocument/2006/relationships/image" Target="../media/image23.jp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288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620725" y="358483"/>
            <a:ext cx="68136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1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rgbClr val="001F5F"/>
                </a:solidFill>
              </a:rPr>
              <a:t>Microsoft Azure</a:t>
            </a:r>
            <a:endParaRPr sz="7500"/>
          </a:p>
          <a:p>
            <a:pPr indent="0" lvl="0" marL="12700" marR="1714500" rtl="0" algn="l">
              <a:lnSpc>
                <a:spcPct val="121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</p:txBody>
      </p:sp>
      <p:sp>
        <p:nvSpPr>
          <p:cNvPr id="92" name="Google Shape;92;p19"/>
          <p:cNvSpPr txBox="1"/>
          <p:nvPr/>
        </p:nvSpPr>
        <p:spPr>
          <a:xfrm>
            <a:off x="1282350" y="3539375"/>
            <a:ext cx="4016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rPr>
              <a:t>Saurav kunal</a:t>
            </a:r>
            <a:endParaRPr sz="23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3" name="Google Shape;93;p19" title="DSC_0352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9975" y="1590025"/>
            <a:ext cx="3088451" cy="28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Cloud?</a:t>
            </a:r>
            <a:endParaRPr/>
          </a:p>
        </p:txBody>
      </p:sp>
      <p:grpSp>
        <p:nvGrpSpPr>
          <p:cNvPr id="99" name="Google Shape;99;p20"/>
          <p:cNvGrpSpPr/>
          <p:nvPr/>
        </p:nvGrpSpPr>
        <p:grpSpPr>
          <a:xfrm>
            <a:off x="1789937" y="1380744"/>
            <a:ext cx="5125402" cy="548640"/>
            <a:chOff x="2386583" y="1840992"/>
            <a:chExt cx="6833870" cy="731520"/>
          </a:xfrm>
        </p:grpSpPr>
        <p:sp>
          <p:nvSpPr>
            <p:cNvPr id="100" name="Google Shape;100;p20"/>
            <p:cNvSpPr/>
            <p:nvPr/>
          </p:nvSpPr>
          <p:spPr>
            <a:xfrm>
              <a:off x="2386583" y="1840992"/>
              <a:ext cx="6833870" cy="731520"/>
            </a:xfrm>
            <a:custGeom>
              <a:rect b="b" l="l" r="r" t="t"/>
              <a:pathLst>
                <a:path extrusionOk="0" h="731519" w="6833870">
                  <a:moveTo>
                    <a:pt x="6833616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6833616" y="731520"/>
                  </a:lnTo>
                  <a:lnTo>
                    <a:pt x="6833616" y="0"/>
                  </a:lnTo>
                  <a:close/>
                </a:path>
              </a:pathLst>
            </a:custGeom>
            <a:solidFill>
              <a:srgbClr val="6F2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01" name="Google Shape;101;p20"/>
            <p:cNvSpPr/>
            <p:nvPr/>
          </p:nvSpPr>
          <p:spPr>
            <a:xfrm>
              <a:off x="2386583" y="1840992"/>
              <a:ext cx="6833870" cy="731520"/>
            </a:xfrm>
            <a:custGeom>
              <a:rect b="b" l="l" r="r" t="t"/>
              <a:pathLst>
                <a:path extrusionOk="0" h="731519" w="6833870">
                  <a:moveTo>
                    <a:pt x="0" y="731520"/>
                  </a:moveTo>
                  <a:lnTo>
                    <a:pt x="6833616" y="731520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02" name="Google Shape;102;p20"/>
          <p:cNvSpPr txBox="1"/>
          <p:nvPr/>
        </p:nvSpPr>
        <p:spPr>
          <a:xfrm>
            <a:off x="2049494" y="1495139"/>
            <a:ext cx="4604861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90% of software companies use the cloud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1973293" y="2207282"/>
            <a:ext cx="4760119" cy="184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94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Global cloud market expected to reach 1.2$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trillion by 2027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01600" marR="1016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infrastructure spending surpassed 87$ bn in 2022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About a third of companies’ IT budget goes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20"/>
          <p:cNvGrpSpPr/>
          <p:nvPr/>
        </p:nvGrpSpPr>
        <p:grpSpPr>
          <a:xfrm>
            <a:off x="1789937" y="2180844"/>
            <a:ext cx="5125402" cy="2148840"/>
            <a:chOff x="2386583" y="2907792"/>
            <a:chExt cx="6833870" cy="2865120"/>
          </a:xfrm>
        </p:grpSpPr>
        <p:sp>
          <p:nvSpPr>
            <p:cNvPr id="105" name="Google Shape;105;p20"/>
            <p:cNvSpPr/>
            <p:nvPr/>
          </p:nvSpPr>
          <p:spPr>
            <a:xfrm>
              <a:off x="2386583" y="29077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6833616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6833616" y="731520"/>
                  </a:lnTo>
                  <a:lnTo>
                    <a:pt x="6833616" y="0"/>
                  </a:lnTo>
                  <a:close/>
                </a:path>
              </a:pathLst>
            </a:custGeom>
            <a:solidFill>
              <a:srgbClr val="6F2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06" name="Google Shape;106;p20"/>
            <p:cNvSpPr/>
            <p:nvPr/>
          </p:nvSpPr>
          <p:spPr>
            <a:xfrm>
              <a:off x="2386583" y="29077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0" y="731520"/>
                  </a:moveTo>
                  <a:lnTo>
                    <a:pt x="6833616" y="731520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07" name="Google Shape;107;p20"/>
            <p:cNvSpPr/>
            <p:nvPr/>
          </p:nvSpPr>
          <p:spPr>
            <a:xfrm>
              <a:off x="2386583" y="39745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6833616" y="0"/>
                  </a:moveTo>
                  <a:lnTo>
                    <a:pt x="0" y="0"/>
                  </a:lnTo>
                  <a:lnTo>
                    <a:pt x="0" y="731519"/>
                  </a:lnTo>
                  <a:lnTo>
                    <a:pt x="6833616" y="731519"/>
                  </a:lnTo>
                  <a:lnTo>
                    <a:pt x="6833616" y="0"/>
                  </a:lnTo>
                  <a:close/>
                </a:path>
              </a:pathLst>
            </a:custGeom>
            <a:solidFill>
              <a:srgbClr val="6F2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08" name="Google Shape;108;p20"/>
            <p:cNvSpPr/>
            <p:nvPr/>
          </p:nvSpPr>
          <p:spPr>
            <a:xfrm>
              <a:off x="2386583" y="39745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0" y="731519"/>
                  </a:moveTo>
                  <a:lnTo>
                    <a:pt x="6833616" y="731519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731519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09" name="Google Shape;109;p20"/>
            <p:cNvSpPr/>
            <p:nvPr/>
          </p:nvSpPr>
          <p:spPr>
            <a:xfrm>
              <a:off x="2386583" y="50413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6833616" y="0"/>
                  </a:moveTo>
                  <a:lnTo>
                    <a:pt x="0" y="0"/>
                  </a:lnTo>
                  <a:lnTo>
                    <a:pt x="0" y="731519"/>
                  </a:lnTo>
                  <a:lnTo>
                    <a:pt x="6833616" y="731519"/>
                  </a:lnTo>
                  <a:lnTo>
                    <a:pt x="6833616" y="0"/>
                  </a:lnTo>
                  <a:close/>
                </a:path>
              </a:pathLst>
            </a:custGeom>
            <a:solidFill>
              <a:srgbClr val="6F2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10" name="Google Shape;110;p20"/>
            <p:cNvSpPr/>
            <p:nvPr/>
          </p:nvSpPr>
          <p:spPr>
            <a:xfrm>
              <a:off x="2386583" y="50413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0" y="731519"/>
                  </a:moveTo>
                  <a:lnTo>
                    <a:pt x="6833616" y="731519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731519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11" name="Google Shape;111;p20"/>
          <p:cNvSpPr txBox="1"/>
          <p:nvPr/>
        </p:nvSpPr>
        <p:spPr>
          <a:xfrm>
            <a:off x="3346990" y="4044467"/>
            <a:ext cx="2011680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cloud services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20"/>
          <p:cNvGrpSpPr/>
          <p:nvPr/>
        </p:nvGrpSpPr>
        <p:grpSpPr>
          <a:xfrm>
            <a:off x="650366" y="1725929"/>
            <a:ext cx="7736205" cy="2363915"/>
            <a:chOff x="867155" y="2301239"/>
            <a:chExt cx="10314940" cy="3151886"/>
          </a:xfrm>
        </p:grpSpPr>
        <p:pic>
          <p:nvPicPr>
            <p:cNvPr id="113" name="Google Shape;11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7155" y="2301239"/>
              <a:ext cx="10314432" cy="3145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0"/>
            <p:cNvSpPr/>
            <p:nvPr/>
          </p:nvSpPr>
          <p:spPr>
            <a:xfrm>
              <a:off x="867155" y="2301239"/>
              <a:ext cx="10314940" cy="3145790"/>
            </a:xfrm>
            <a:custGeom>
              <a:rect b="b" l="l" r="r" t="t"/>
              <a:pathLst>
                <a:path extrusionOk="0" h="3145790" w="10314940">
                  <a:moveTo>
                    <a:pt x="0" y="3145536"/>
                  </a:moveTo>
                  <a:lnTo>
                    <a:pt x="10314432" y="3145536"/>
                  </a:lnTo>
                  <a:lnTo>
                    <a:pt x="10314432" y="0"/>
                  </a:lnTo>
                  <a:lnTo>
                    <a:pt x="0" y="0"/>
                  </a:lnTo>
                  <a:lnTo>
                    <a:pt x="0" y="3145536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867155" y="2307335"/>
              <a:ext cx="10314940" cy="3145790"/>
            </a:xfrm>
            <a:custGeom>
              <a:rect b="b" l="l" r="r" t="t"/>
              <a:pathLst>
                <a:path extrusionOk="0" h="3145790" w="10314940">
                  <a:moveTo>
                    <a:pt x="10314432" y="0"/>
                  </a:moveTo>
                  <a:lnTo>
                    <a:pt x="0" y="0"/>
                  </a:lnTo>
                  <a:lnTo>
                    <a:pt x="0" y="3145536"/>
                  </a:lnTo>
                  <a:lnTo>
                    <a:pt x="10314432" y="3145536"/>
                  </a:lnTo>
                  <a:lnTo>
                    <a:pt x="10314432" y="0"/>
                  </a:lnTo>
                  <a:close/>
                </a:path>
              </a:pathLst>
            </a:custGeom>
            <a:solidFill>
              <a:srgbClr val="FFFFFF">
                <a:alpha val="7764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16" name="Google Shape;116;p20"/>
            <p:cNvSpPr/>
            <p:nvPr/>
          </p:nvSpPr>
          <p:spPr>
            <a:xfrm>
              <a:off x="867155" y="2307335"/>
              <a:ext cx="10314940" cy="3145790"/>
            </a:xfrm>
            <a:custGeom>
              <a:rect b="b" l="l" r="r" t="t"/>
              <a:pathLst>
                <a:path extrusionOk="0" h="3145790" w="10314940">
                  <a:moveTo>
                    <a:pt x="0" y="3145536"/>
                  </a:moveTo>
                  <a:lnTo>
                    <a:pt x="10314432" y="3145536"/>
                  </a:lnTo>
                  <a:lnTo>
                    <a:pt x="10314432" y="0"/>
                  </a:lnTo>
                  <a:lnTo>
                    <a:pt x="0" y="0"/>
                  </a:lnTo>
                  <a:lnTo>
                    <a:pt x="0" y="3145536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17" name="Google Shape;117;p20"/>
          <p:cNvSpPr txBox="1"/>
          <p:nvPr/>
        </p:nvSpPr>
        <p:spPr>
          <a:xfrm>
            <a:off x="1253014" y="2325815"/>
            <a:ext cx="6529864" cy="1163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Lucida Sans"/>
                <a:ea typeface="Lucida Sans"/>
                <a:cs typeface="Lucida Sans"/>
                <a:sym typeface="Lucida Sans"/>
              </a:rPr>
              <a:t>The world is going to the cloud</a:t>
            </a:r>
            <a:endParaRPr sz="38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Don’t get left behind!</a:t>
            </a:r>
            <a:endParaRPr sz="38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Microsoft Azure?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1789937" y="1380744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2</a:t>
            </a:r>
            <a:r>
              <a:rPr b="1" baseline="30000" lang="en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nd </a:t>
            </a: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largest public cloud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3031712" y="2355690"/>
            <a:ext cx="2642711" cy="104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96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highest growth rate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most regions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21"/>
          <p:cNvGrpSpPr/>
          <p:nvPr/>
        </p:nvGrpSpPr>
        <p:grpSpPr>
          <a:xfrm>
            <a:off x="1789937" y="2180844"/>
            <a:ext cx="5125402" cy="1349121"/>
            <a:chOff x="2386583" y="2907792"/>
            <a:chExt cx="6833870" cy="1798828"/>
          </a:xfrm>
        </p:grpSpPr>
        <p:sp>
          <p:nvSpPr>
            <p:cNvPr id="126" name="Google Shape;126;p21"/>
            <p:cNvSpPr/>
            <p:nvPr/>
          </p:nvSpPr>
          <p:spPr>
            <a:xfrm>
              <a:off x="2386583" y="2907792"/>
              <a:ext cx="6833870" cy="125095"/>
            </a:xfrm>
            <a:custGeom>
              <a:rect b="b" l="l" r="r" t="t"/>
              <a:pathLst>
                <a:path extrusionOk="0" h="125094" w="6833870">
                  <a:moveTo>
                    <a:pt x="0" y="124967"/>
                  </a:moveTo>
                  <a:lnTo>
                    <a:pt x="6833616" y="124967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124967"/>
                  </a:lnTo>
                  <a:close/>
                </a:path>
              </a:pathLst>
            </a:custGeom>
            <a:solidFill>
              <a:srgbClr val="6F2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27" name="Google Shape;127;p21"/>
            <p:cNvSpPr/>
            <p:nvPr/>
          </p:nvSpPr>
          <p:spPr>
            <a:xfrm>
              <a:off x="2386583" y="29077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0" y="731520"/>
                  </a:moveTo>
                  <a:lnTo>
                    <a:pt x="6833616" y="731520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2386583" y="4549140"/>
              <a:ext cx="6833870" cy="157480"/>
            </a:xfrm>
            <a:custGeom>
              <a:rect b="b" l="l" r="r" t="t"/>
              <a:pathLst>
                <a:path extrusionOk="0" h="157479" w="6833870">
                  <a:moveTo>
                    <a:pt x="0" y="156972"/>
                  </a:moveTo>
                  <a:lnTo>
                    <a:pt x="6833616" y="156972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156972"/>
                  </a:lnTo>
                  <a:close/>
                </a:path>
              </a:pathLst>
            </a:custGeom>
            <a:solidFill>
              <a:srgbClr val="6F2F9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2386583" y="3974592"/>
              <a:ext cx="6833870" cy="731520"/>
            </a:xfrm>
            <a:custGeom>
              <a:rect b="b" l="l" r="r" t="t"/>
              <a:pathLst>
                <a:path extrusionOk="0" h="731520" w="6833870">
                  <a:moveTo>
                    <a:pt x="0" y="731519"/>
                  </a:moveTo>
                  <a:lnTo>
                    <a:pt x="6833616" y="731519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731519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30" name="Google Shape;130;p21"/>
          <p:cNvSpPr txBox="1"/>
          <p:nvPr/>
        </p:nvSpPr>
        <p:spPr>
          <a:xfrm>
            <a:off x="1789937" y="378104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most popular in enterprises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650366" y="2274570"/>
            <a:ext cx="7736205" cy="1137285"/>
          </a:xfrm>
          <a:custGeom>
            <a:rect b="b" l="l" r="r" t="t"/>
            <a:pathLst>
              <a:path extrusionOk="0" h="1516379" w="10314940">
                <a:moveTo>
                  <a:pt x="10314432" y="0"/>
                </a:moveTo>
                <a:lnTo>
                  <a:pt x="0" y="0"/>
                </a:lnTo>
                <a:lnTo>
                  <a:pt x="0" y="1516380"/>
                </a:lnTo>
                <a:lnTo>
                  <a:pt x="10314432" y="1516380"/>
                </a:lnTo>
                <a:lnTo>
                  <a:pt x="103144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grpSp>
        <p:nvGrpSpPr>
          <p:cNvPr id="132" name="Google Shape;132;p21"/>
          <p:cNvGrpSpPr/>
          <p:nvPr/>
        </p:nvGrpSpPr>
        <p:grpSpPr>
          <a:xfrm>
            <a:off x="650366" y="2274570"/>
            <a:ext cx="7736205" cy="1137285"/>
            <a:chOff x="867155" y="3032760"/>
            <a:chExt cx="10314940" cy="1516380"/>
          </a:xfrm>
        </p:grpSpPr>
        <p:sp>
          <p:nvSpPr>
            <p:cNvPr id="133" name="Google Shape;133;p21"/>
            <p:cNvSpPr/>
            <p:nvPr/>
          </p:nvSpPr>
          <p:spPr>
            <a:xfrm>
              <a:off x="867155" y="3032760"/>
              <a:ext cx="10314940" cy="1516380"/>
            </a:xfrm>
            <a:custGeom>
              <a:rect b="b" l="l" r="r" t="t"/>
              <a:pathLst>
                <a:path extrusionOk="0" h="1516379" w="10314940">
                  <a:moveTo>
                    <a:pt x="0" y="1516380"/>
                  </a:moveTo>
                  <a:lnTo>
                    <a:pt x="10314432" y="1516380"/>
                  </a:lnTo>
                  <a:lnTo>
                    <a:pt x="10314432" y="0"/>
                  </a:lnTo>
                  <a:lnTo>
                    <a:pt x="0" y="0"/>
                  </a:lnTo>
                  <a:lnTo>
                    <a:pt x="0" y="1516380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134" name="Google Shape;13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15584" y="3435096"/>
              <a:ext cx="3934967" cy="8656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76144" y="3441192"/>
              <a:ext cx="2875787" cy="7238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</a:t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1789925" y="1380753"/>
            <a:ext cx="5419200" cy="741300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don’t have to know ANYTHING about cloud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1789925" y="2180852"/>
            <a:ext cx="5419200" cy="741300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don’t have to know ANYTHING about Azure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1789925" y="2980952"/>
            <a:ext cx="5419200" cy="741300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We’re going to learn everything from the start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789925" y="3779900"/>
            <a:ext cx="5419200" cy="741300"/>
          </a:xfrm>
          <a:prstGeom prst="rect">
            <a:avLst/>
          </a:prstGeom>
          <a:solidFill>
            <a:srgbClr val="532708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27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We’re going to have a lot of Azure hands-on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2995422" y="506921"/>
            <a:ext cx="3062288" cy="45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C55A11"/>
                </a:solidFill>
                <a:latin typeface="Lucida Sans"/>
                <a:ea typeface="Lucida Sans"/>
                <a:cs typeface="Lucida Sans"/>
                <a:sym typeface="Lucida Sans"/>
              </a:rPr>
              <a:t>Cloud Architecture</a:t>
            </a:r>
            <a:endParaRPr sz="29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9132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2432332"/>
            <a:ext cx="414908" cy="38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6669690" y="2867406"/>
            <a:ext cx="634841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cida Sans"/>
                <a:ea typeface="Lucida Sans"/>
                <a:cs typeface="Lucida Sans"/>
                <a:sym typeface="Lucida Sans"/>
              </a:rPr>
              <a:t>VM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Lucida Sans"/>
                <a:ea typeface="Lucida Sans"/>
                <a:cs typeface="Lucida Sans"/>
                <a:sym typeface="Lucida Sans"/>
              </a:rPr>
              <a:t>Catalog App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5737669" y="2867406"/>
            <a:ext cx="655320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ucida Sans"/>
                <a:ea typeface="Lucida Sans"/>
                <a:cs typeface="Lucida Sans"/>
                <a:sym typeface="Lucida Sans"/>
              </a:rPr>
              <a:t>VM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5622"/>
                </a:solidFill>
                <a:latin typeface="Lucida Sans"/>
                <a:ea typeface="Lucida Sans"/>
                <a:cs typeface="Lucida Sans"/>
                <a:sym typeface="Lucida Sans"/>
              </a:rPr>
              <a:t>Weather API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4" name="Google Shape;154;p23"/>
          <p:cNvSpPr txBox="1"/>
          <p:nvPr>
            <p:ph type="title"/>
          </p:nvPr>
        </p:nvSpPr>
        <p:spPr>
          <a:xfrm>
            <a:off x="158039" y="78961"/>
            <a:ext cx="1682591" cy="1734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go from here…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647" y="201266"/>
            <a:ext cx="1071941" cy="32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/>
        </p:nvSpPr>
        <p:spPr>
          <a:xfrm>
            <a:off x="2995422" y="506921"/>
            <a:ext cx="3062288" cy="45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C55A11"/>
                </a:solidFill>
                <a:latin typeface="Lucida Sans"/>
                <a:ea typeface="Lucida Sans"/>
                <a:cs typeface="Lucida Sans"/>
                <a:sym typeface="Lucida Sans"/>
              </a:rPr>
              <a:t>Cloud Architecture</a:t>
            </a:r>
            <a:endParaRPr sz="29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61" name="Google Shape;161;p24"/>
          <p:cNvGrpSpPr/>
          <p:nvPr/>
        </p:nvGrpSpPr>
        <p:grpSpPr>
          <a:xfrm>
            <a:off x="342900" y="1826513"/>
            <a:ext cx="6260306" cy="3177540"/>
            <a:chOff x="457200" y="2435351"/>
            <a:chExt cx="8347075" cy="4236720"/>
          </a:xfrm>
        </p:grpSpPr>
        <p:pic>
          <p:nvPicPr>
            <p:cNvPr id="162" name="Google Shape;162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2294" y="2576949"/>
              <a:ext cx="7960789" cy="3964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4"/>
            <p:cNvSpPr/>
            <p:nvPr/>
          </p:nvSpPr>
          <p:spPr>
            <a:xfrm>
              <a:off x="457200" y="2435351"/>
              <a:ext cx="8347075" cy="4236720"/>
            </a:xfrm>
            <a:custGeom>
              <a:rect b="b" l="l" r="r" t="t"/>
              <a:pathLst>
                <a:path extrusionOk="0" h="4236720" w="8347075">
                  <a:moveTo>
                    <a:pt x="0" y="4236720"/>
                  </a:moveTo>
                  <a:lnTo>
                    <a:pt x="8346948" y="4236720"/>
                  </a:lnTo>
                  <a:lnTo>
                    <a:pt x="8346948" y="0"/>
                  </a:lnTo>
                  <a:lnTo>
                    <a:pt x="0" y="0"/>
                  </a:lnTo>
                  <a:lnTo>
                    <a:pt x="0" y="4236720"/>
                  </a:lnTo>
                  <a:close/>
                </a:path>
              </a:pathLst>
            </a:custGeom>
            <a:noFill/>
            <a:ln cap="flat" cmpd="sng" w="12700">
              <a:solidFill>
                <a:srgbClr val="001F5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64" name="Google Shape;164;p24"/>
          <p:cNvSpPr txBox="1"/>
          <p:nvPr/>
        </p:nvSpPr>
        <p:spPr>
          <a:xfrm>
            <a:off x="8034433" y="1614868"/>
            <a:ext cx="651510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Secondary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65" name="Google Shape;165;p24"/>
          <p:cNvGrpSpPr/>
          <p:nvPr/>
        </p:nvGrpSpPr>
        <p:grpSpPr>
          <a:xfrm>
            <a:off x="5510469" y="1098489"/>
            <a:ext cx="3290821" cy="3900992"/>
            <a:chOff x="7347292" y="1464652"/>
            <a:chExt cx="4387761" cy="5201323"/>
          </a:xfrm>
        </p:grpSpPr>
        <p:sp>
          <p:nvSpPr>
            <p:cNvPr id="166" name="Google Shape;166;p24"/>
            <p:cNvSpPr/>
            <p:nvPr/>
          </p:nvSpPr>
          <p:spPr>
            <a:xfrm>
              <a:off x="9435083" y="2429255"/>
              <a:ext cx="2299970" cy="4236720"/>
            </a:xfrm>
            <a:custGeom>
              <a:rect b="b" l="l" r="r" t="t"/>
              <a:pathLst>
                <a:path extrusionOk="0" h="4236720" w="2299970">
                  <a:moveTo>
                    <a:pt x="0" y="4236720"/>
                  </a:moveTo>
                  <a:lnTo>
                    <a:pt x="2299716" y="4236720"/>
                  </a:lnTo>
                  <a:lnTo>
                    <a:pt x="2299716" y="0"/>
                  </a:lnTo>
                  <a:lnTo>
                    <a:pt x="0" y="0"/>
                  </a:lnTo>
                  <a:lnTo>
                    <a:pt x="0" y="4236720"/>
                  </a:lnTo>
                  <a:close/>
                </a:path>
              </a:pathLst>
            </a:custGeom>
            <a:noFill/>
            <a:ln cap="flat" cmpd="sng" w="12700">
              <a:solidFill>
                <a:srgbClr val="001F5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167" name="Google Shape;167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47292" y="1464652"/>
              <a:ext cx="450956" cy="450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23731" y="1482939"/>
              <a:ext cx="559307" cy="499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495920" y="4046267"/>
              <a:ext cx="452406" cy="4220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24"/>
          <p:cNvSpPr txBox="1"/>
          <p:nvPr/>
        </p:nvSpPr>
        <p:spPr>
          <a:xfrm>
            <a:off x="361950" y="1614868"/>
            <a:ext cx="500063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Primary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7594377" y="3368516"/>
            <a:ext cx="76104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ucida Sans"/>
                <a:ea typeface="Lucida Sans"/>
                <a:cs typeface="Lucida Sans"/>
                <a:sym typeface="Lucida Sans"/>
              </a:rPr>
              <a:t>App Service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5622"/>
                </a:solidFill>
                <a:latin typeface="Lucida Sans"/>
                <a:ea typeface="Lucida Sans"/>
                <a:cs typeface="Lucida Sans"/>
                <a:sym typeface="Lucida Sans"/>
              </a:rPr>
              <a:t>Inventory DR App</a:t>
            </a:r>
            <a:endParaRPr sz="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5249609" y="1465136"/>
            <a:ext cx="817721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ucida Sans"/>
                <a:ea typeface="Lucida Sans"/>
                <a:cs typeface="Lucida Sans"/>
                <a:sym typeface="Lucida Sans"/>
              </a:rPr>
              <a:t>Traffic Manager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6360223" y="1465136"/>
            <a:ext cx="573881" cy="156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ucida Sans"/>
                <a:ea typeface="Lucida Sans"/>
                <a:cs typeface="Lucida Sans"/>
                <a:sym typeface="Lucida Sans"/>
              </a:rPr>
              <a:t>Front Door</a:t>
            </a:r>
            <a:endParaRPr sz="9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3161538" y="1260538"/>
            <a:ext cx="5233035" cy="2355056"/>
          </a:xfrm>
          <a:custGeom>
            <a:rect b="b" l="l" r="r" t="t"/>
            <a:pathLst>
              <a:path extrusionOk="0" h="3140075" w="6977380">
                <a:moveTo>
                  <a:pt x="6265926" y="2574036"/>
                </a:moveTo>
                <a:lnTo>
                  <a:pt x="6253226" y="2567686"/>
                </a:lnTo>
                <a:lnTo>
                  <a:pt x="6189726" y="2535936"/>
                </a:lnTo>
                <a:lnTo>
                  <a:pt x="6189726" y="2567686"/>
                </a:lnTo>
                <a:lnTo>
                  <a:pt x="4075811" y="2567686"/>
                </a:lnTo>
                <a:lnTo>
                  <a:pt x="4075811" y="55384"/>
                </a:lnTo>
                <a:lnTo>
                  <a:pt x="4308602" y="55384"/>
                </a:lnTo>
                <a:lnTo>
                  <a:pt x="4308602" y="49022"/>
                </a:lnTo>
                <a:lnTo>
                  <a:pt x="4308602" y="42672"/>
                </a:lnTo>
                <a:lnTo>
                  <a:pt x="4075811" y="42672"/>
                </a:lnTo>
                <a:lnTo>
                  <a:pt x="4075811" y="12700"/>
                </a:lnTo>
                <a:lnTo>
                  <a:pt x="4075811" y="6350"/>
                </a:lnTo>
                <a:lnTo>
                  <a:pt x="4075811" y="0"/>
                </a:lnTo>
                <a:lnTo>
                  <a:pt x="3592068" y="0"/>
                </a:lnTo>
                <a:lnTo>
                  <a:pt x="3592068" y="12700"/>
                </a:lnTo>
                <a:lnTo>
                  <a:pt x="4063111" y="12700"/>
                </a:lnTo>
                <a:lnTo>
                  <a:pt x="4063111" y="42672"/>
                </a:lnTo>
                <a:lnTo>
                  <a:pt x="3335528" y="42672"/>
                </a:lnTo>
                <a:lnTo>
                  <a:pt x="3335528" y="18796"/>
                </a:lnTo>
                <a:lnTo>
                  <a:pt x="3335528" y="12446"/>
                </a:lnTo>
                <a:lnTo>
                  <a:pt x="3335528" y="6096"/>
                </a:lnTo>
                <a:lnTo>
                  <a:pt x="3322828" y="6096"/>
                </a:lnTo>
                <a:lnTo>
                  <a:pt x="3322828" y="18796"/>
                </a:lnTo>
                <a:lnTo>
                  <a:pt x="3322828" y="42672"/>
                </a:lnTo>
                <a:lnTo>
                  <a:pt x="2147951" y="42672"/>
                </a:lnTo>
                <a:lnTo>
                  <a:pt x="2147951" y="2972054"/>
                </a:lnTo>
                <a:lnTo>
                  <a:pt x="1283716" y="2972054"/>
                </a:lnTo>
                <a:lnTo>
                  <a:pt x="1283716" y="18796"/>
                </a:lnTo>
                <a:lnTo>
                  <a:pt x="3322828" y="18796"/>
                </a:lnTo>
                <a:lnTo>
                  <a:pt x="3322828" y="6096"/>
                </a:lnTo>
                <a:lnTo>
                  <a:pt x="1271016" y="6096"/>
                </a:lnTo>
                <a:lnTo>
                  <a:pt x="1271016" y="2972054"/>
                </a:lnTo>
                <a:lnTo>
                  <a:pt x="76200" y="2972054"/>
                </a:lnTo>
                <a:lnTo>
                  <a:pt x="76200" y="2940304"/>
                </a:lnTo>
                <a:lnTo>
                  <a:pt x="0" y="2978404"/>
                </a:lnTo>
                <a:lnTo>
                  <a:pt x="76200" y="3016504"/>
                </a:lnTo>
                <a:lnTo>
                  <a:pt x="76200" y="2984754"/>
                </a:lnTo>
                <a:lnTo>
                  <a:pt x="1271016" y="2984754"/>
                </a:lnTo>
                <a:lnTo>
                  <a:pt x="1271016" y="3095498"/>
                </a:lnTo>
                <a:lnTo>
                  <a:pt x="76200" y="3095498"/>
                </a:lnTo>
                <a:lnTo>
                  <a:pt x="76200" y="3063748"/>
                </a:lnTo>
                <a:lnTo>
                  <a:pt x="0" y="3101848"/>
                </a:lnTo>
                <a:lnTo>
                  <a:pt x="76200" y="3139948"/>
                </a:lnTo>
                <a:lnTo>
                  <a:pt x="76200" y="3108198"/>
                </a:lnTo>
                <a:lnTo>
                  <a:pt x="1283716" y="3108198"/>
                </a:lnTo>
                <a:lnTo>
                  <a:pt x="1283716" y="3101848"/>
                </a:lnTo>
                <a:lnTo>
                  <a:pt x="1283716" y="3095498"/>
                </a:lnTo>
                <a:lnTo>
                  <a:pt x="1283716" y="2984754"/>
                </a:lnTo>
                <a:lnTo>
                  <a:pt x="2160651" y="2984754"/>
                </a:lnTo>
                <a:lnTo>
                  <a:pt x="2160651" y="2978404"/>
                </a:lnTo>
                <a:lnTo>
                  <a:pt x="2160651" y="2972054"/>
                </a:lnTo>
                <a:lnTo>
                  <a:pt x="2160651" y="55384"/>
                </a:lnTo>
                <a:lnTo>
                  <a:pt x="3322828" y="55384"/>
                </a:lnTo>
                <a:lnTo>
                  <a:pt x="3322828" y="241046"/>
                </a:lnTo>
                <a:lnTo>
                  <a:pt x="3335528" y="241046"/>
                </a:lnTo>
                <a:lnTo>
                  <a:pt x="3335528" y="55384"/>
                </a:lnTo>
                <a:lnTo>
                  <a:pt x="4063111" y="55384"/>
                </a:lnTo>
                <a:lnTo>
                  <a:pt x="4063111" y="2580386"/>
                </a:lnTo>
                <a:lnTo>
                  <a:pt x="6189726" y="2580386"/>
                </a:lnTo>
                <a:lnTo>
                  <a:pt x="6189726" y="2612136"/>
                </a:lnTo>
                <a:lnTo>
                  <a:pt x="6253226" y="2580386"/>
                </a:lnTo>
                <a:lnTo>
                  <a:pt x="6265926" y="2574036"/>
                </a:lnTo>
                <a:close/>
              </a:path>
              <a:path extrusionOk="0" h="3140075" w="6977380">
                <a:moveTo>
                  <a:pt x="6977380" y="42672"/>
                </a:moveTo>
                <a:lnTo>
                  <a:pt x="4867656" y="42672"/>
                </a:lnTo>
                <a:lnTo>
                  <a:pt x="4867656" y="55372"/>
                </a:lnTo>
                <a:lnTo>
                  <a:pt x="6964680" y="55372"/>
                </a:lnTo>
                <a:lnTo>
                  <a:pt x="6964680" y="2567559"/>
                </a:lnTo>
                <a:lnTo>
                  <a:pt x="6818630" y="2567559"/>
                </a:lnTo>
                <a:lnTo>
                  <a:pt x="6818630" y="2535809"/>
                </a:lnTo>
                <a:lnTo>
                  <a:pt x="6742430" y="2573909"/>
                </a:lnTo>
                <a:lnTo>
                  <a:pt x="6818630" y="2612009"/>
                </a:lnTo>
                <a:lnTo>
                  <a:pt x="6818630" y="2580259"/>
                </a:lnTo>
                <a:lnTo>
                  <a:pt x="6977380" y="2580259"/>
                </a:lnTo>
                <a:lnTo>
                  <a:pt x="6977380" y="2573921"/>
                </a:lnTo>
                <a:lnTo>
                  <a:pt x="6977380" y="2567571"/>
                </a:lnTo>
                <a:lnTo>
                  <a:pt x="6977380" y="55372"/>
                </a:lnTo>
                <a:lnTo>
                  <a:pt x="6977380" y="49022"/>
                </a:lnTo>
                <a:lnTo>
                  <a:pt x="6977380" y="4267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5" name="Google Shape;175;p24"/>
          <p:cNvSpPr txBox="1"/>
          <p:nvPr>
            <p:ph type="title"/>
          </p:nvPr>
        </p:nvSpPr>
        <p:spPr>
          <a:xfrm>
            <a:off x="158039" y="78961"/>
            <a:ext cx="189642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here…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 End of This Course…</a:t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497966" y="1310639"/>
            <a:ext cx="7050881" cy="361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You’ll know what is the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You’ll know what is Azure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You’ll know what you can do with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You’ll learn how to use its 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You’ll learn how to design modern, secure, reliable apps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You’ll become a Cloud Architect!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Course Is Different</a:t>
            </a:r>
            <a:endParaRPr/>
          </a:p>
        </p:txBody>
      </p:sp>
      <p:sp>
        <p:nvSpPr>
          <p:cNvPr id="187" name="Google Shape;187;p26"/>
          <p:cNvSpPr txBox="1"/>
          <p:nvPr/>
        </p:nvSpPr>
        <p:spPr>
          <a:xfrm>
            <a:off x="497966" y="1310639"/>
            <a:ext cx="4753928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Very practical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Extremely hands-on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Emphasis on what you’ll actually use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Am I?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333375" y="3421951"/>
            <a:ext cx="2517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rPr>
              <a:t>Saurav kunal</a:t>
            </a:r>
            <a:endParaRPr sz="23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278282" y="1224915"/>
            <a:ext cx="67185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2850">
            <a:spAutoFit/>
          </a:bodyPr>
          <a:lstStyle/>
          <a:p>
            <a: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rPr>
              <a:t>Senior Software &amp; Cloud </a:t>
            </a:r>
            <a:r>
              <a:rPr b="1" lang="en" sz="3800">
                <a:solidFill>
                  <a:srgbClr val="001F5F"/>
                </a:solidFill>
              </a:rPr>
              <a:t>/platform/devops Engg</a:t>
            </a:r>
            <a:endParaRPr sz="38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95" name="Google Shape;195;p27" title="DSC_0352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6850" y="1754425"/>
            <a:ext cx="2360399" cy="321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158038" y="78961"/>
            <a:ext cx="4469606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Technology Stack</a:t>
            </a:r>
            <a:endParaRPr/>
          </a:p>
        </p:txBody>
      </p:sp>
      <p:pic>
        <p:nvPicPr>
          <p:cNvPr id="201" name="Google Shape;2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715" y="1333595"/>
            <a:ext cx="2171204" cy="58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1718" y="2045685"/>
            <a:ext cx="2613681" cy="785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184" y="2124526"/>
            <a:ext cx="2399769" cy="1042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8"/>
          <p:cNvGrpSpPr/>
          <p:nvPr/>
        </p:nvGrpSpPr>
        <p:grpSpPr>
          <a:xfrm>
            <a:off x="2971228" y="1388063"/>
            <a:ext cx="4081082" cy="2700448"/>
            <a:chOff x="3961638" y="1850750"/>
            <a:chExt cx="5441442" cy="3600598"/>
          </a:xfrm>
        </p:grpSpPr>
        <p:pic>
          <p:nvPicPr>
            <p:cNvPr id="205" name="Google Shape;205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61638" y="1850750"/>
              <a:ext cx="3648440" cy="145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722364" y="4433316"/>
              <a:ext cx="2680716" cy="10180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" name="Google Shape;207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86612" y="3448431"/>
            <a:ext cx="2154519" cy="585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830" y="4295853"/>
            <a:ext cx="3248384" cy="510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8163" y="4344542"/>
            <a:ext cx="3239012" cy="510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Certified</a:t>
            </a:r>
            <a:endParaRPr/>
          </a:p>
        </p:txBody>
      </p:sp>
      <p:pic>
        <p:nvPicPr>
          <p:cNvPr id="215" name="Google Shape;215;p29" title="az-4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6013" y="2328413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 title="AZ-90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1738"/>
            <a:ext cx="27622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 title="AZ-1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492813"/>
            <a:ext cx="212407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 title="AI-9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0213" y="943700"/>
            <a:ext cx="2276475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This Course For?</a:t>
            </a:r>
            <a:endParaRPr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278282" y="1224915"/>
            <a:ext cx="6718459" cy="2580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Architects and Architects to be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-2159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Developers who want to learn about the cloud</a:t>
            </a:r>
            <a:endParaRPr/>
          </a:p>
          <a:p>
            <a:pPr indent="-215900" lvl="0" marL="228600" marR="0" rtl="0" algn="l">
              <a:lnSpc>
                <a:spcPct val="2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"/>
              <a:t>Anyone who is interested in the most important 	computing platform in the world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This Course Is Organized</a:t>
            </a:r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1354450" y="1380748"/>
            <a:ext cx="5560800" cy="43350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 of the cloud and Azure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1354450" y="2138549"/>
            <a:ext cx="5560800" cy="74160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 of main services (demos + hands on)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1354450" y="3046174"/>
            <a:ext cx="5560800" cy="43350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Architecting modern apps on Azure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38" name="Google Shape;238;p32"/>
          <p:cNvSpPr txBox="1"/>
          <p:nvPr/>
        </p:nvSpPr>
        <p:spPr>
          <a:xfrm>
            <a:off x="220598" y="1025270"/>
            <a:ext cx="4134326" cy="338613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9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Welcome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220598" y="1554479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Introduction to the Cloud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220598" y="2084832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Introduction to Azure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220598" y="2615183"/>
            <a:ext cx="4134326" cy="338613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First Look at Azure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220598" y="3144392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Basic Concepts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220598" y="3674744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Introducing Our App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220598" y="4205097"/>
            <a:ext cx="4134326" cy="338613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Compute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45" name="Google Shape;245;p32"/>
          <p:cNvGrpSpPr/>
          <p:nvPr/>
        </p:nvGrpSpPr>
        <p:grpSpPr>
          <a:xfrm>
            <a:off x="4804028" y="1559051"/>
            <a:ext cx="4134326" cy="338613"/>
            <a:chOff x="6405371" y="2078735"/>
            <a:chExt cx="5512435" cy="451484"/>
          </a:xfrm>
        </p:grpSpPr>
        <p:sp>
          <p:nvSpPr>
            <p:cNvPr id="246" name="Google Shape;246;p32"/>
            <p:cNvSpPr/>
            <p:nvPr/>
          </p:nvSpPr>
          <p:spPr>
            <a:xfrm>
              <a:off x="6405371" y="2078735"/>
              <a:ext cx="5512435" cy="451484"/>
            </a:xfrm>
            <a:custGeom>
              <a:rect b="b" l="l" r="r" t="t"/>
              <a:pathLst>
                <a:path extrusionOk="0" h="451485" w="5512434">
                  <a:moveTo>
                    <a:pt x="5512308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5512308" y="451103"/>
                  </a:lnTo>
                  <a:lnTo>
                    <a:pt x="5512308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6405371" y="2078735"/>
              <a:ext cx="5512435" cy="451484"/>
            </a:xfrm>
            <a:custGeom>
              <a:rect b="b" l="l" r="r" t="t"/>
              <a:pathLst>
                <a:path extrusionOk="0" h="451485" w="5512434">
                  <a:moveTo>
                    <a:pt x="0" y="451103"/>
                  </a:moveTo>
                  <a:lnTo>
                    <a:pt x="5512308" y="451103"/>
                  </a:lnTo>
                  <a:lnTo>
                    <a:pt x="5512308" y="0"/>
                  </a:lnTo>
                  <a:lnTo>
                    <a:pt x="0" y="0"/>
                  </a:lnTo>
                  <a:lnTo>
                    <a:pt x="0" y="451103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48" name="Google Shape;248;p32"/>
          <p:cNvSpPr txBox="1"/>
          <p:nvPr/>
        </p:nvSpPr>
        <p:spPr>
          <a:xfrm>
            <a:off x="6629686" y="1580578"/>
            <a:ext cx="486251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Data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4804028" y="2084832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Messaging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4804028" y="2615183"/>
            <a:ext cx="4134326" cy="338613"/>
          </a:xfrm>
          <a:custGeom>
            <a:rect b="b" l="l" r="r" t="t"/>
            <a:pathLst>
              <a:path extrusionOk="0" h="451485" w="5512434">
                <a:moveTo>
                  <a:pt x="5512308" y="0"/>
                </a:moveTo>
                <a:lnTo>
                  <a:pt x="0" y="0"/>
                </a:lnTo>
                <a:lnTo>
                  <a:pt x="0" y="451104"/>
                </a:lnTo>
                <a:lnTo>
                  <a:pt x="5512308" y="451104"/>
                </a:lnTo>
                <a:lnTo>
                  <a:pt x="5512308" y="0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1" name="Google Shape;251;p32"/>
          <p:cNvSpPr txBox="1"/>
          <p:nvPr/>
        </p:nvSpPr>
        <p:spPr>
          <a:xfrm>
            <a:off x="4804028" y="2615183"/>
            <a:ext cx="4134326" cy="338613"/>
          </a:xfrm>
          <a:prstGeom prst="rect">
            <a:avLst/>
          </a:pr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Azure Active Directory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4804028" y="3144392"/>
            <a:ext cx="4134326" cy="339566"/>
          </a:xfrm>
          <a:custGeom>
            <a:rect b="b" l="l" r="r" t="t"/>
            <a:pathLst>
              <a:path extrusionOk="0" h="452754" w="5512434">
                <a:moveTo>
                  <a:pt x="5512308" y="0"/>
                </a:moveTo>
                <a:lnTo>
                  <a:pt x="0" y="0"/>
                </a:lnTo>
                <a:lnTo>
                  <a:pt x="0" y="452627"/>
                </a:lnTo>
                <a:lnTo>
                  <a:pt x="5512308" y="452627"/>
                </a:lnTo>
                <a:lnTo>
                  <a:pt x="5512308" y="0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3" name="Google Shape;253;p32"/>
          <p:cNvSpPr txBox="1"/>
          <p:nvPr/>
        </p:nvSpPr>
        <p:spPr>
          <a:xfrm>
            <a:off x="4804028" y="3144392"/>
            <a:ext cx="4134326" cy="339566"/>
          </a:xfrm>
          <a:prstGeom prst="rect">
            <a:avLst/>
          </a:pr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Monitoring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4804028" y="3674744"/>
            <a:ext cx="4134326" cy="339566"/>
          </a:xfrm>
          <a:custGeom>
            <a:rect b="b" l="l" r="r" t="t"/>
            <a:pathLst>
              <a:path extrusionOk="0" h="452754" w="5512434">
                <a:moveTo>
                  <a:pt x="5512308" y="0"/>
                </a:moveTo>
                <a:lnTo>
                  <a:pt x="0" y="0"/>
                </a:lnTo>
                <a:lnTo>
                  <a:pt x="0" y="452627"/>
                </a:lnTo>
                <a:lnTo>
                  <a:pt x="5512308" y="452627"/>
                </a:lnTo>
                <a:lnTo>
                  <a:pt x="5512308" y="0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5" name="Google Shape;255;p32"/>
          <p:cNvSpPr txBox="1"/>
          <p:nvPr/>
        </p:nvSpPr>
        <p:spPr>
          <a:xfrm>
            <a:off x="4804028" y="3674744"/>
            <a:ext cx="4134326" cy="339566"/>
          </a:xfrm>
          <a:prstGeom prst="rect">
            <a:avLst/>
          </a:prstGeom>
          <a:noFill/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Security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56" name="Google Shape;256;p32"/>
          <p:cNvGrpSpPr/>
          <p:nvPr/>
        </p:nvGrpSpPr>
        <p:grpSpPr>
          <a:xfrm>
            <a:off x="4804026" y="4204802"/>
            <a:ext cx="4134326" cy="661469"/>
            <a:chOff x="6405371" y="5606796"/>
            <a:chExt cx="5512435" cy="451484"/>
          </a:xfrm>
        </p:grpSpPr>
        <p:sp>
          <p:nvSpPr>
            <p:cNvPr id="257" name="Google Shape;257;p32"/>
            <p:cNvSpPr/>
            <p:nvPr/>
          </p:nvSpPr>
          <p:spPr>
            <a:xfrm>
              <a:off x="6405371" y="5606796"/>
              <a:ext cx="5512435" cy="451484"/>
            </a:xfrm>
            <a:custGeom>
              <a:rect b="b" l="l" r="r" t="t"/>
              <a:pathLst>
                <a:path extrusionOk="0" h="451485" w="5512434">
                  <a:moveTo>
                    <a:pt x="5512308" y="0"/>
                  </a:moveTo>
                  <a:lnTo>
                    <a:pt x="0" y="0"/>
                  </a:lnTo>
                  <a:lnTo>
                    <a:pt x="0" y="451103"/>
                  </a:lnTo>
                  <a:lnTo>
                    <a:pt x="5512308" y="451103"/>
                  </a:lnTo>
                  <a:lnTo>
                    <a:pt x="5512308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6405371" y="5606796"/>
              <a:ext cx="5512435" cy="451484"/>
            </a:xfrm>
            <a:custGeom>
              <a:rect b="b" l="l" r="r" t="t"/>
              <a:pathLst>
                <a:path extrusionOk="0" h="451485" w="5512434">
                  <a:moveTo>
                    <a:pt x="0" y="451103"/>
                  </a:moveTo>
                  <a:lnTo>
                    <a:pt x="5512308" y="451103"/>
                  </a:lnTo>
                  <a:lnTo>
                    <a:pt x="5512308" y="0"/>
                  </a:lnTo>
                  <a:lnTo>
                    <a:pt x="0" y="0"/>
                  </a:lnTo>
                  <a:lnTo>
                    <a:pt x="0" y="451103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59" name="Google Shape;259;p32"/>
          <p:cNvSpPr txBox="1"/>
          <p:nvPr/>
        </p:nvSpPr>
        <p:spPr>
          <a:xfrm>
            <a:off x="6713124" y="4227575"/>
            <a:ext cx="318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DR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2260282" y="1364170"/>
            <a:ext cx="57150" cy="191452"/>
          </a:xfrm>
          <a:custGeom>
            <a:rect b="b" l="l" r="r" t="t"/>
            <a:pathLst>
              <a:path extrusionOk="0" h="255269" w="76200">
                <a:moveTo>
                  <a:pt x="28575" y="178561"/>
                </a:moveTo>
                <a:lnTo>
                  <a:pt x="0" y="178561"/>
                </a:lnTo>
                <a:lnTo>
                  <a:pt x="38100" y="254761"/>
                </a:lnTo>
                <a:lnTo>
                  <a:pt x="69850" y="191261"/>
                </a:lnTo>
                <a:lnTo>
                  <a:pt x="28575" y="191261"/>
                </a:lnTo>
                <a:lnTo>
                  <a:pt x="28575" y="178561"/>
                </a:lnTo>
                <a:close/>
              </a:path>
              <a:path extrusionOk="0" h="255269" w="76200">
                <a:moveTo>
                  <a:pt x="47625" y="0"/>
                </a:moveTo>
                <a:lnTo>
                  <a:pt x="28575" y="0"/>
                </a:lnTo>
                <a:lnTo>
                  <a:pt x="28575" y="191261"/>
                </a:lnTo>
                <a:lnTo>
                  <a:pt x="47625" y="191261"/>
                </a:lnTo>
                <a:lnTo>
                  <a:pt x="47625" y="0"/>
                </a:lnTo>
                <a:close/>
              </a:path>
              <a:path extrusionOk="0" h="255269" w="76200">
                <a:moveTo>
                  <a:pt x="76200" y="178561"/>
                </a:moveTo>
                <a:lnTo>
                  <a:pt x="47625" y="178561"/>
                </a:lnTo>
                <a:lnTo>
                  <a:pt x="47625" y="191261"/>
                </a:lnTo>
                <a:lnTo>
                  <a:pt x="69850" y="191261"/>
                </a:lnTo>
                <a:lnTo>
                  <a:pt x="76200" y="178561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1" name="Google Shape;261;p32"/>
          <p:cNvSpPr/>
          <p:nvPr/>
        </p:nvSpPr>
        <p:spPr>
          <a:xfrm>
            <a:off x="2260282" y="1889950"/>
            <a:ext cx="57150" cy="191453"/>
          </a:xfrm>
          <a:custGeom>
            <a:rect b="b" l="l" r="r" t="t"/>
            <a:pathLst>
              <a:path extrusionOk="0" h="255269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69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69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2" name="Google Shape;262;p32"/>
          <p:cNvSpPr/>
          <p:nvPr/>
        </p:nvSpPr>
        <p:spPr>
          <a:xfrm>
            <a:off x="2260282" y="2416874"/>
            <a:ext cx="57150" cy="191453"/>
          </a:xfrm>
          <a:custGeom>
            <a:rect b="b" l="l" r="r" t="t"/>
            <a:pathLst>
              <a:path extrusionOk="0" h="255270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3" name="Google Shape;263;p32"/>
          <p:cNvSpPr/>
          <p:nvPr/>
        </p:nvSpPr>
        <p:spPr>
          <a:xfrm>
            <a:off x="2260282" y="2942653"/>
            <a:ext cx="57150" cy="191453"/>
          </a:xfrm>
          <a:custGeom>
            <a:rect b="b" l="l" r="r" t="t"/>
            <a:pathLst>
              <a:path extrusionOk="0" h="255270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4" name="Google Shape;264;p32"/>
          <p:cNvSpPr/>
          <p:nvPr/>
        </p:nvSpPr>
        <p:spPr>
          <a:xfrm>
            <a:off x="2260282" y="3468433"/>
            <a:ext cx="57150" cy="191453"/>
          </a:xfrm>
          <a:custGeom>
            <a:rect b="b" l="l" r="r" t="t"/>
            <a:pathLst>
              <a:path extrusionOk="0" h="255270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5" name="Google Shape;265;p32"/>
          <p:cNvSpPr/>
          <p:nvPr/>
        </p:nvSpPr>
        <p:spPr>
          <a:xfrm>
            <a:off x="2260282" y="4002214"/>
            <a:ext cx="57150" cy="191453"/>
          </a:xfrm>
          <a:custGeom>
            <a:rect b="b" l="l" r="r" t="t"/>
            <a:pathLst>
              <a:path extrusionOk="0" h="255270" w="76200">
                <a:moveTo>
                  <a:pt x="28575" y="178561"/>
                </a:moveTo>
                <a:lnTo>
                  <a:pt x="0" y="178561"/>
                </a:lnTo>
                <a:lnTo>
                  <a:pt x="38100" y="254774"/>
                </a:lnTo>
                <a:lnTo>
                  <a:pt x="69851" y="191261"/>
                </a:lnTo>
                <a:lnTo>
                  <a:pt x="28575" y="191261"/>
                </a:lnTo>
                <a:lnTo>
                  <a:pt x="28575" y="178561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61"/>
                </a:lnTo>
                <a:lnTo>
                  <a:pt x="47625" y="191261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61"/>
                </a:moveTo>
                <a:lnTo>
                  <a:pt x="47625" y="178561"/>
                </a:lnTo>
                <a:lnTo>
                  <a:pt x="47625" y="191261"/>
                </a:lnTo>
                <a:lnTo>
                  <a:pt x="69851" y="191261"/>
                </a:lnTo>
                <a:lnTo>
                  <a:pt x="76200" y="178561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6" name="Google Shape;266;p32"/>
          <p:cNvSpPr/>
          <p:nvPr/>
        </p:nvSpPr>
        <p:spPr>
          <a:xfrm>
            <a:off x="4355402" y="1173289"/>
            <a:ext cx="2569845" cy="3209449"/>
          </a:xfrm>
          <a:custGeom>
            <a:rect b="b" l="l" r="r" t="t"/>
            <a:pathLst>
              <a:path extrusionOk="0" h="4279265" w="3426459">
                <a:moveTo>
                  <a:pt x="579374" y="38100"/>
                </a:moveTo>
                <a:lnTo>
                  <a:pt x="560324" y="28575"/>
                </a:lnTo>
                <a:lnTo>
                  <a:pt x="503174" y="0"/>
                </a:lnTo>
                <a:lnTo>
                  <a:pt x="503174" y="28575"/>
                </a:lnTo>
                <a:lnTo>
                  <a:pt x="280162" y="28575"/>
                </a:lnTo>
                <a:lnTo>
                  <a:pt x="280162" y="4259910"/>
                </a:lnTo>
                <a:lnTo>
                  <a:pt x="0" y="4259910"/>
                </a:lnTo>
                <a:lnTo>
                  <a:pt x="0" y="4278960"/>
                </a:lnTo>
                <a:lnTo>
                  <a:pt x="299212" y="4278960"/>
                </a:lnTo>
                <a:lnTo>
                  <a:pt x="299212" y="4269435"/>
                </a:lnTo>
                <a:lnTo>
                  <a:pt x="299212" y="4259910"/>
                </a:lnTo>
                <a:lnTo>
                  <a:pt x="299212" y="47625"/>
                </a:lnTo>
                <a:lnTo>
                  <a:pt x="503174" y="47625"/>
                </a:lnTo>
                <a:lnTo>
                  <a:pt x="503174" y="76200"/>
                </a:lnTo>
                <a:lnTo>
                  <a:pt x="560324" y="47625"/>
                </a:lnTo>
                <a:lnTo>
                  <a:pt x="579374" y="38100"/>
                </a:lnTo>
                <a:close/>
              </a:path>
              <a:path extrusionOk="0" h="4279265" w="3426459">
                <a:moveTo>
                  <a:pt x="3425952" y="4005326"/>
                </a:moveTo>
                <a:lnTo>
                  <a:pt x="3397377" y="4005326"/>
                </a:lnTo>
                <a:lnTo>
                  <a:pt x="3397377" y="3826764"/>
                </a:lnTo>
                <a:lnTo>
                  <a:pt x="3378327" y="3826764"/>
                </a:lnTo>
                <a:lnTo>
                  <a:pt x="3378327" y="4005326"/>
                </a:lnTo>
                <a:lnTo>
                  <a:pt x="3349752" y="4005326"/>
                </a:lnTo>
                <a:lnTo>
                  <a:pt x="3387852" y="4081538"/>
                </a:lnTo>
                <a:lnTo>
                  <a:pt x="3419602" y="4018026"/>
                </a:lnTo>
                <a:lnTo>
                  <a:pt x="3425952" y="4005326"/>
                </a:lnTo>
                <a:close/>
              </a:path>
              <a:path extrusionOk="0" h="4279265" w="3426459">
                <a:moveTo>
                  <a:pt x="3425952" y="3304286"/>
                </a:moveTo>
                <a:lnTo>
                  <a:pt x="3397377" y="3304286"/>
                </a:lnTo>
                <a:lnTo>
                  <a:pt x="3397377" y="3125724"/>
                </a:lnTo>
                <a:lnTo>
                  <a:pt x="3378327" y="3125724"/>
                </a:lnTo>
                <a:lnTo>
                  <a:pt x="3378327" y="3304286"/>
                </a:lnTo>
                <a:lnTo>
                  <a:pt x="3349752" y="3304286"/>
                </a:lnTo>
                <a:lnTo>
                  <a:pt x="3387852" y="3380486"/>
                </a:lnTo>
                <a:lnTo>
                  <a:pt x="3419602" y="3316986"/>
                </a:lnTo>
                <a:lnTo>
                  <a:pt x="3425952" y="3304286"/>
                </a:lnTo>
                <a:close/>
              </a:path>
              <a:path extrusionOk="0" h="4279265" w="3426459">
                <a:moveTo>
                  <a:pt x="3425952" y="2603246"/>
                </a:moveTo>
                <a:lnTo>
                  <a:pt x="3397377" y="2603246"/>
                </a:lnTo>
                <a:lnTo>
                  <a:pt x="3397377" y="2424684"/>
                </a:lnTo>
                <a:lnTo>
                  <a:pt x="3378327" y="2424684"/>
                </a:lnTo>
                <a:lnTo>
                  <a:pt x="3378327" y="2603246"/>
                </a:lnTo>
                <a:lnTo>
                  <a:pt x="3349752" y="2603246"/>
                </a:lnTo>
                <a:lnTo>
                  <a:pt x="3387852" y="2679446"/>
                </a:lnTo>
                <a:lnTo>
                  <a:pt x="3419602" y="2615946"/>
                </a:lnTo>
                <a:lnTo>
                  <a:pt x="3425952" y="2603246"/>
                </a:lnTo>
                <a:close/>
              </a:path>
              <a:path extrusionOk="0" h="4279265" w="3426459">
                <a:moveTo>
                  <a:pt x="3425952" y="1900682"/>
                </a:moveTo>
                <a:lnTo>
                  <a:pt x="3397377" y="1900682"/>
                </a:lnTo>
                <a:lnTo>
                  <a:pt x="3397377" y="1722120"/>
                </a:lnTo>
                <a:lnTo>
                  <a:pt x="3378327" y="1722120"/>
                </a:lnTo>
                <a:lnTo>
                  <a:pt x="3378327" y="1900682"/>
                </a:lnTo>
                <a:lnTo>
                  <a:pt x="3349752" y="1900682"/>
                </a:lnTo>
                <a:lnTo>
                  <a:pt x="3387852" y="1976882"/>
                </a:lnTo>
                <a:lnTo>
                  <a:pt x="3419602" y="1913382"/>
                </a:lnTo>
                <a:lnTo>
                  <a:pt x="3425952" y="1900682"/>
                </a:lnTo>
                <a:close/>
              </a:path>
              <a:path extrusionOk="0" h="4279265" w="3426459">
                <a:moveTo>
                  <a:pt x="3425952" y="1145159"/>
                </a:moveTo>
                <a:lnTo>
                  <a:pt x="3397377" y="1145159"/>
                </a:lnTo>
                <a:lnTo>
                  <a:pt x="3397377" y="928116"/>
                </a:lnTo>
                <a:lnTo>
                  <a:pt x="3378327" y="928116"/>
                </a:lnTo>
                <a:lnTo>
                  <a:pt x="3378327" y="1145159"/>
                </a:lnTo>
                <a:lnTo>
                  <a:pt x="3349752" y="1145159"/>
                </a:lnTo>
                <a:lnTo>
                  <a:pt x="3387852" y="1221359"/>
                </a:lnTo>
                <a:lnTo>
                  <a:pt x="3419602" y="1157859"/>
                </a:lnTo>
                <a:lnTo>
                  <a:pt x="3425952" y="1145159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7" name="Google Shape;267;p32"/>
          <p:cNvSpPr txBox="1"/>
          <p:nvPr/>
        </p:nvSpPr>
        <p:spPr>
          <a:xfrm>
            <a:off x="4789169" y="1030985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Networking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6843713" y="1349312"/>
            <a:ext cx="57150" cy="220027"/>
          </a:xfrm>
          <a:custGeom>
            <a:rect b="b" l="l" r="r" t="t"/>
            <a:pathLst>
              <a:path extrusionOk="0" h="293369" w="76200">
                <a:moveTo>
                  <a:pt x="28575" y="217042"/>
                </a:moveTo>
                <a:lnTo>
                  <a:pt x="0" y="217042"/>
                </a:lnTo>
                <a:lnTo>
                  <a:pt x="38100" y="293242"/>
                </a:lnTo>
                <a:lnTo>
                  <a:pt x="69850" y="229742"/>
                </a:lnTo>
                <a:lnTo>
                  <a:pt x="28575" y="229742"/>
                </a:lnTo>
                <a:lnTo>
                  <a:pt x="28575" y="217042"/>
                </a:lnTo>
                <a:close/>
              </a:path>
              <a:path extrusionOk="0" h="293369" w="76200">
                <a:moveTo>
                  <a:pt x="47625" y="0"/>
                </a:moveTo>
                <a:lnTo>
                  <a:pt x="28575" y="0"/>
                </a:lnTo>
                <a:lnTo>
                  <a:pt x="28575" y="229742"/>
                </a:lnTo>
                <a:lnTo>
                  <a:pt x="47625" y="229742"/>
                </a:lnTo>
                <a:lnTo>
                  <a:pt x="47625" y="0"/>
                </a:lnTo>
                <a:close/>
              </a:path>
              <a:path extrusionOk="0" h="293369" w="76200">
                <a:moveTo>
                  <a:pt x="76200" y="217042"/>
                </a:moveTo>
                <a:lnTo>
                  <a:pt x="47625" y="217042"/>
                </a:lnTo>
                <a:lnTo>
                  <a:pt x="47625" y="229742"/>
                </a:lnTo>
                <a:lnTo>
                  <a:pt x="69850" y="229742"/>
                </a:lnTo>
                <a:lnTo>
                  <a:pt x="76200" y="21704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type="title"/>
          </p:nvPr>
        </p:nvSpPr>
        <p:spPr>
          <a:xfrm>
            <a:off x="158039" y="78961"/>
            <a:ext cx="6400800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74" name="Google Shape;274;p33"/>
          <p:cNvSpPr txBox="1"/>
          <p:nvPr/>
        </p:nvSpPr>
        <p:spPr>
          <a:xfrm>
            <a:off x="2252853" y="1554479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Cost Management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2252853" y="2084832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Azure Policy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2252853" y="3217544"/>
            <a:ext cx="4134326" cy="338613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Migrating to the Cloud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2252853" y="3746753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Advanced Services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4292537" y="1364170"/>
            <a:ext cx="57150" cy="191452"/>
          </a:xfrm>
          <a:custGeom>
            <a:rect b="b" l="l" r="r" t="t"/>
            <a:pathLst>
              <a:path extrusionOk="0" h="255269" w="76200">
                <a:moveTo>
                  <a:pt x="28575" y="178561"/>
                </a:moveTo>
                <a:lnTo>
                  <a:pt x="0" y="178561"/>
                </a:lnTo>
                <a:lnTo>
                  <a:pt x="38100" y="254761"/>
                </a:lnTo>
                <a:lnTo>
                  <a:pt x="69850" y="191261"/>
                </a:lnTo>
                <a:lnTo>
                  <a:pt x="28575" y="191261"/>
                </a:lnTo>
                <a:lnTo>
                  <a:pt x="28575" y="178561"/>
                </a:lnTo>
                <a:close/>
              </a:path>
              <a:path extrusionOk="0" h="255269" w="76200">
                <a:moveTo>
                  <a:pt x="47625" y="0"/>
                </a:moveTo>
                <a:lnTo>
                  <a:pt x="28575" y="0"/>
                </a:lnTo>
                <a:lnTo>
                  <a:pt x="28575" y="191261"/>
                </a:lnTo>
                <a:lnTo>
                  <a:pt x="47625" y="191261"/>
                </a:lnTo>
                <a:lnTo>
                  <a:pt x="47625" y="0"/>
                </a:lnTo>
                <a:close/>
              </a:path>
              <a:path extrusionOk="0" h="255269" w="76200">
                <a:moveTo>
                  <a:pt x="76200" y="178561"/>
                </a:moveTo>
                <a:lnTo>
                  <a:pt x="47625" y="178561"/>
                </a:lnTo>
                <a:lnTo>
                  <a:pt x="47625" y="191261"/>
                </a:lnTo>
                <a:lnTo>
                  <a:pt x="69850" y="191261"/>
                </a:lnTo>
                <a:lnTo>
                  <a:pt x="76200" y="178561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9" name="Google Shape;279;p33"/>
          <p:cNvSpPr/>
          <p:nvPr/>
        </p:nvSpPr>
        <p:spPr>
          <a:xfrm>
            <a:off x="4292537" y="1889950"/>
            <a:ext cx="57150" cy="191453"/>
          </a:xfrm>
          <a:custGeom>
            <a:rect b="b" l="l" r="r" t="t"/>
            <a:pathLst>
              <a:path extrusionOk="0" h="255269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69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69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0" name="Google Shape;280;p33"/>
          <p:cNvSpPr/>
          <p:nvPr/>
        </p:nvSpPr>
        <p:spPr>
          <a:xfrm>
            <a:off x="4292537" y="3000946"/>
            <a:ext cx="57150" cy="191452"/>
          </a:xfrm>
          <a:custGeom>
            <a:rect b="b" l="l" r="r" t="t"/>
            <a:pathLst>
              <a:path extrusionOk="0" h="255270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1" name="Google Shape;281;p33"/>
          <p:cNvSpPr/>
          <p:nvPr/>
        </p:nvSpPr>
        <p:spPr>
          <a:xfrm>
            <a:off x="4292537" y="3545014"/>
            <a:ext cx="57150" cy="191453"/>
          </a:xfrm>
          <a:custGeom>
            <a:rect b="b" l="l" r="r" t="t"/>
            <a:pathLst>
              <a:path extrusionOk="0" h="255270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2" name="Google Shape;282;p33"/>
          <p:cNvSpPr/>
          <p:nvPr/>
        </p:nvSpPr>
        <p:spPr>
          <a:xfrm>
            <a:off x="4292537" y="4070794"/>
            <a:ext cx="57150" cy="191453"/>
          </a:xfrm>
          <a:custGeom>
            <a:rect b="b" l="l" r="r" t="t"/>
            <a:pathLst>
              <a:path extrusionOk="0" h="255270" w="76200">
                <a:moveTo>
                  <a:pt x="28575" y="178574"/>
                </a:moveTo>
                <a:lnTo>
                  <a:pt x="0" y="178574"/>
                </a:lnTo>
                <a:lnTo>
                  <a:pt x="38100" y="254774"/>
                </a:lnTo>
                <a:lnTo>
                  <a:pt x="69850" y="191274"/>
                </a:lnTo>
                <a:lnTo>
                  <a:pt x="28575" y="191274"/>
                </a:lnTo>
                <a:lnTo>
                  <a:pt x="28575" y="178574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74"/>
                </a:lnTo>
                <a:lnTo>
                  <a:pt x="47625" y="191274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74"/>
                </a:moveTo>
                <a:lnTo>
                  <a:pt x="47625" y="178574"/>
                </a:lnTo>
                <a:lnTo>
                  <a:pt x="47625" y="191274"/>
                </a:lnTo>
                <a:lnTo>
                  <a:pt x="69850" y="191274"/>
                </a:lnTo>
                <a:lnTo>
                  <a:pt x="76200" y="178574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3" name="Google Shape;283;p33"/>
          <p:cNvSpPr txBox="1"/>
          <p:nvPr/>
        </p:nvSpPr>
        <p:spPr>
          <a:xfrm>
            <a:off x="2252853" y="2641473"/>
            <a:ext cx="4134326" cy="339566"/>
          </a:xfrm>
          <a:prstGeom prst="rect">
            <a:avLst/>
          </a:prstGeom>
          <a:solidFill>
            <a:srgbClr val="4471C4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rPr>
              <a:t>Architecting Apps for Azure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4292537" y="2451163"/>
            <a:ext cx="57150" cy="191452"/>
          </a:xfrm>
          <a:custGeom>
            <a:rect b="b" l="l" r="r" t="t"/>
            <a:pathLst>
              <a:path extrusionOk="0" h="255270" w="76200">
                <a:moveTo>
                  <a:pt x="28575" y="178562"/>
                </a:moveTo>
                <a:lnTo>
                  <a:pt x="0" y="178562"/>
                </a:lnTo>
                <a:lnTo>
                  <a:pt x="38100" y="254762"/>
                </a:lnTo>
                <a:lnTo>
                  <a:pt x="69850" y="191262"/>
                </a:lnTo>
                <a:lnTo>
                  <a:pt x="28575" y="191262"/>
                </a:lnTo>
                <a:lnTo>
                  <a:pt x="28575" y="178562"/>
                </a:lnTo>
                <a:close/>
              </a:path>
              <a:path extrusionOk="0" h="255270" w="76200">
                <a:moveTo>
                  <a:pt x="47625" y="0"/>
                </a:moveTo>
                <a:lnTo>
                  <a:pt x="28575" y="0"/>
                </a:lnTo>
                <a:lnTo>
                  <a:pt x="28575" y="191262"/>
                </a:lnTo>
                <a:lnTo>
                  <a:pt x="47625" y="191262"/>
                </a:lnTo>
                <a:lnTo>
                  <a:pt x="47625" y="0"/>
                </a:lnTo>
                <a:close/>
              </a:path>
              <a:path extrusionOk="0" h="255270" w="76200">
                <a:moveTo>
                  <a:pt x="76200" y="178562"/>
                </a:moveTo>
                <a:lnTo>
                  <a:pt x="47625" y="178562"/>
                </a:lnTo>
                <a:lnTo>
                  <a:pt x="47625" y="191262"/>
                </a:lnTo>
                <a:lnTo>
                  <a:pt x="69850" y="191262"/>
                </a:lnTo>
                <a:lnTo>
                  <a:pt x="76200" y="178562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