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Noto Sans Symbol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835075-FF4B-41ED-A0E0-C0585D5E71A2}">
  <a:tblStyle styleId="{1F835075-FF4B-41ED-A0E0-C0585D5E71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NotoSansSymbols-bold.fntdata"/><Relationship Id="rId10" Type="http://schemas.openxmlformats.org/officeDocument/2006/relationships/slide" Target="slides/slide3.xml"/><Relationship Id="rId32" Type="http://schemas.openxmlformats.org/officeDocument/2006/relationships/font" Target="fonts/NotoSansSymbols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f34bb64c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af34bb64c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f34bb64c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baf34bb64c_2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f34bb64c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af34bb64c_2_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af34bb64c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af34bb64c_2_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f34bb64c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baf34bb64c_2_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af34bb64c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af34bb64c_2_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af34bb64c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baf34bb64c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af34bb64c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af34bb64c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af34bb64c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baf34bb64c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af34bb64c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af34bb64c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f34bb64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af34bb64c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af34bb64c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af34bb64c_2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f34bb64c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af34bb64c_2_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af34bb64c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af34bb64c_2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af34bb64c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af34bb64c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af34bb64c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af34bb64c_2_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af34bb64c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af34bb64c_2_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af34bb64c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baf34bb64c_2_1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af34bb64c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af34bb64c_2_1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af34bb64c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baf34bb64c_2_1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af34bb64c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af34bb64c_2_1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af34bb64c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baf34bb64c_2_1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af34bb64c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baf34bb64c_2_1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af34bb64c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af34bb64c_2_1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97966" y="1310639"/>
            <a:ext cx="532352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3524" y="556061"/>
            <a:ext cx="7386638" cy="35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158038" y="78961"/>
            <a:ext cx="361521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 u="none" cap="none" strike="noStrike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97966" y="1310639"/>
            <a:ext cx="532352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zure.microsoft.com/en-us/global-infrastructure/geographie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azure.microsoft.com/en-us/global-infrastructure/service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hyperlink" Target="https://docs.microsoft.com/en-us/azure/cloud-adoption-framework/ready/azure-setup-guide/organize-resources?tabs=AzureManagementGroupsAndHierarchy" TargetMode="External"/><Relationship Id="rId5" Type="http://schemas.openxmlformats.org/officeDocument/2006/relationships/hyperlink" Target="https://docs.microsoft.com/en-us/azure/cloud-adoption-framework/ready/azure-setup-guide/organize-resources?tabs=AzureManagementGroupsAndHierarch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zure.microsoft.com/en-us/pricing/calculator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0900">
            <a:spAutoFit/>
          </a:bodyPr>
          <a:lstStyle/>
          <a:p>
            <a:pPr indent="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1F5F"/>
                </a:solidFill>
              </a:rPr>
              <a:t>Azure Basic Concepts</a:t>
            </a:r>
            <a:endParaRPr sz="6000"/>
          </a:p>
        </p:txBody>
      </p:sp>
      <p:sp>
        <p:nvSpPr>
          <p:cNvPr id="91" name="Google Shape;91;p19"/>
          <p:cNvSpPr txBox="1"/>
          <p:nvPr/>
        </p:nvSpPr>
        <p:spPr>
          <a:xfrm>
            <a:off x="333375" y="4262325"/>
            <a:ext cx="4483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92" name="Google Shape;92;p19"/>
          <p:cNvGrpSpPr/>
          <p:nvPr/>
        </p:nvGrpSpPr>
        <p:grpSpPr>
          <a:xfrm>
            <a:off x="328040" y="452628"/>
            <a:ext cx="114300" cy="3535680"/>
            <a:chOff x="437387" y="603504"/>
            <a:chExt cx="152400" cy="4714240"/>
          </a:xfrm>
        </p:grpSpPr>
        <p:sp>
          <p:nvSpPr>
            <p:cNvPr id="93" name="Google Shape;93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152400" y="0"/>
                  </a:moveTo>
                  <a:lnTo>
                    <a:pt x="0" y="0"/>
                  </a:lnTo>
                  <a:lnTo>
                    <a:pt x="0" y="4713732"/>
                  </a:lnTo>
                  <a:lnTo>
                    <a:pt x="152400" y="471373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0" y="4713732"/>
                  </a:moveTo>
                  <a:lnTo>
                    <a:pt x="152400" y="471373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13732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95" name="Google Shape;95;p19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225" y="1446175"/>
            <a:ext cx="3687350" cy="35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8096" y="4767758"/>
            <a:ext cx="4251960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https://azure.microsoft.com/en-us/global-infrastructure/geographies/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Regions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497966" y="1310639"/>
            <a:ext cx="764476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Almost every resource in Azure should be placed in a Region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1"/>
          <p:cNvGrpSpPr/>
          <p:nvPr/>
        </p:nvGrpSpPr>
        <p:grpSpPr>
          <a:xfrm>
            <a:off x="1481215" y="1741721"/>
            <a:ext cx="6037551" cy="3401778"/>
            <a:chOff x="1974953" y="2322295"/>
            <a:chExt cx="8050068" cy="4535704"/>
          </a:xfrm>
        </p:grpSpPr>
        <p:pic>
          <p:nvPicPr>
            <p:cNvPr id="108" name="Google Shape;10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74953" y="2322295"/>
              <a:ext cx="8050068" cy="4535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3600" y="2481072"/>
              <a:ext cx="7552944" cy="4090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1"/>
            <p:cNvSpPr/>
            <p:nvPr/>
          </p:nvSpPr>
          <p:spPr>
            <a:xfrm>
              <a:off x="2295906" y="5278374"/>
              <a:ext cx="7059295" cy="342900"/>
            </a:xfrm>
            <a:custGeom>
              <a:rect b="b" l="l" r="r" t="t"/>
              <a:pathLst>
                <a:path extrusionOk="0" h="342900" w="7059295">
                  <a:moveTo>
                    <a:pt x="0" y="342900"/>
                  </a:moveTo>
                  <a:lnTo>
                    <a:pt x="7059168" y="342900"/>
                  </a:lnTo>
                  <a:lnTo>
                    <a:pt x="7059168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Select Region?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497966" y="1310639"/>
            <a:ext cx="5691188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Geographical proximity to system’s audience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2"/>
          <p:cNvGrpSpPr/>
          <p:nvPr/>
        </p:nvGrpSpPr>
        <p:grpSpPr>
          <a:xfrm>
            <a:off x="1384782" y="1991413"/>
            <a:ext cx="5994998" cy="2805032"/>
            <a:chOff x="1846376" y="2655217"/>
            <a:chExt cx="7993330" cy="3740043"/>
          </a:xfrm>
        </p:grpSpPr>
        <p:pic>
          <p:nvPicPr>
            <p:cNvPr id="118" name="Google Shape;11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46376" y="2655217"/>
              <a:ext cx="7796523" cy="3740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22"/>
            <p:cNvSpPr/>
            <p:nvPr/>
          </p:nvSpPr>
          <p:spPr>
            <a:xfrm>
              <a:off x="1953006" y="3362705"/>
              <a:ext cx="7886700" cy="2748280"/>
            </a:xfrm>
            <a:custGeom>
              <a:rect b="b" l="l" r="r" t="t"/>
              <a:pathLst>
                <a:path extrusionOk="0" h="2748279" w="7886700">
                  <a:moveTo>
                    <a:pt x="0" y="1104900"/>
                  </a:moveTo>
                  <a:lnTo>
                    <a:pt x="2296668" y="1104900"/>
                  </a:lnTo>
                  <a:lnTo>
                    <a:pt x="2296668" y="0"/>
                  </a:lnTo>
                  <a:lnTo>
                    <a:pt x="0" y="0"/>
                  </a:lnTo>
                  <a:lnTo>
                    <a:pt x="0" y="1104900"/>
                  </a:lnTo>
                  <a:close/>
                </a:path>
                <a:path extrusionOk="0" h="2748279" w="7886700">
                  <a:moveTo>
                    <a:pt x="6182868" y="2747772"/>
                  </a:moveTo>
                  <a:lnTo>
                    <a:pt x="7886700" y="2747772"/>
                  </a:lnTo>
                  <a:lnTo>
                    <a:pt x="7886700" y="2069592"/>
                  </a:lnTo>
                  <a:lnTo>
                    <a:pt x="6182868" y="2069592"/>
                  </a:lnTo>
                  <a:lnTo>
                    <a:pt x="6182868" y="2747772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Select Region?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497966" y="1310639"/>
            <a:ext cx="2789872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Services’ availability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804" y="1702786"/>
            <a:ext cx="8044148" cy="29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2288096" y="4767758"/>
            <a:ext cx="4025265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https://azure.microsoft.com/en-us/global-infrastructure/services/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Select Region?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497966" y="1310639"/>
            <a:ext cx="2458878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Availability Zones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4"/>
          <p:cNvGrpSpPr/>
          <p:nvPr/>
        </p:nvGrpSpPr>
        <p:grpSpPr>
          <a:xfrm>
            <a:off x="1379029" y="1991413"/>
            <a:ext cx="5853145" cy="2805032"/>
            <a:chOff x="1838705" y="2655217"/>
            <a:chExt cx="7804194" cy="3740043"/>
          </a:xfrm>
        </p:grpSpPr>
        <p:pic>
          <p:nvPicPr>
            <p:cNvPr id="135" name="Google Shape;13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46376" y="2655217"/>
              <a:ext cx="7796523" cy="3740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4"/>
            <p:cNvSpPr/>
            <p:nvPr/>
          </p:nvSpPr>
          <p:spPr>
            <a:xfrm>
              <a:off x="1838705" y="5779769"/>
              <a:ext cx="943610" cy="131445"/>
            </a:xfrm>
            <a:custGeom>
              <a:rect b="b" l="l" r="r" t="t"/>
              <a:pathLst>
                <a:path extrusionOk="0" h="131445" w="943610">
                  <a:moveTo>
                    <a:pt x="0" y="131063"/>
                  </a:moveTo>
                  <a:lnTo>
                    <a:pt x="943356" y="131063"/>
                  </a:lnTo>
                  <a:lnTo>
                    <a:pt x="943356" y="0"/>
                  </a:lnTo>
                  <a:lnTo>
                    <a:pt x="0" y="0"/>
                  </a:lnTo>
                  <a:lnTo>
                    <a:pt x="0" y="131063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Select Region?</a:t>
            </a:r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497966" y="1310639"/>
            <a:ext cx="1198721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Pricing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5"/>
          <p:cNvGrpSpPr/>
          <p:nvPr/>
        </p:nvGrpSpPr>
        <p:grpSpPr>
          <a:xfrm>
            <a:off x="352615" y="1793938"/>
            <a:ext cx="8016240" cy="2982956"/>
            <a:chOff x="470154" y="2391917"/>
            <a:chExt cx="10688320" cy="3977275"/>
          </a:xfrm>
        </p:grpSpPr>
        <p:pic>
          <p:nvPicPr>
            <p:cNvPr id="144" name="Google Shape;14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6069" y="2550024"/>
              <a:ext cx="10573123" cy="3819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5"/>
            <p:cNvSpPr/>
            <p:nvPr/>
          </p:nvSpPr>
          <p:spPr>
            <a:xfrm>
              <a:off x="470154" y="2391917"/>
              <a:ext cx="10688320" cy="3619500"/>
            </a:xfrm>
            <a:custGeom>
              <a:rect b="b" l="l" r="r" t="t"/>
              <a:pathLst>
                <a:path extrusionOk="0" h="3619500" w="10688320">
                  <a:moveTo>
                    <a:pt x="9633204" y="3619500"/>
                  </a:moveTo>
                  <a:lnTo>
                    <a:pt x="10687812" y="3619500"/>
                  </a:lnTo>
                  <a:lnTo>
                    <a:pt x="10687812" y="3279648"/>
                  </a:lnTo>
                  <a:lnTo>
                    <a:pt x="9633204" y="3279648"/>
                  </a:lnTo>
                  <a:lnTo>
                    <a:pt x="9633204" y="3619500"/>
                  </a:lnTo>
                  <a:close/>
                </a:path>
                <a:path extrusionOk="0" h="3619500" w="10688320">
                  <a:moveTo>
                    <a:pt x="0" y="711708"/>
                  </a:moveTo>
                  <a:lnTo>
                    <a:pt x="2610612" y="711708"/>
                  </a:lnTo>
                  <a:lnTo>
                    <a:pt x="2610612" y="0"/>
                  </a:lnTo>
                  <a:lnTo>
                    <a:pt x="0" y="0"/>
                  </a:lnTo>
                  <a:lnTo>
                    <a:pt x="0" y="711708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475" y="1817370"/>
            <a:ext cx="8136448" cy="3022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Select Region?</a:t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497966" y="1310639"/>
            <a:ext cx="1198721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Pricing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7577518" y="4253674"/>
            <a:ext cx="791051" cy="255270"/>
          </a:xfrm>
          <a:custGeom>
            <a:rect b="b" l="l" r="r" t="t"/>
            <a:pathLst>
              <a:path extrusionOk="0" h="340360" w="1054734">
                <a:moveTo>
                  <a:pt x="0" y="339852"/>
                </a:moveTo>
                <a:lnTo>
                  <a:pt x="1054607" y="339852"/>
                </a:lnTo>
                <a:lnTo>
                  <a:pt x="1054607" y="0"/>
                </a:lnTo>
                <a:lnTo>
                  <a:pt x="0" y="0"/>
                </a:lnTo>
                <a:lnTo>
                  <a:pt x="0" y="339852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5" name="Google Shape;155;p26"/>
          <p:cNvSpPr/>
          <p:nvPr/>
        </p:nvSpPr>
        <p:spPr>
          <a:xfrm>
            <a:off x="352616" y="1793938"/>
            <a:ext cx="1958340" cy="533876"/>
          </a:xfrm>
          <a:custGeom>
            <a:rect b="b" l="l" r="r" t="t"/>
            <a:pathLst>
              <a:path extrusionOk="0" h="711835" w="2611120">
                <a:moveTo>
                  <a:pt x="0" y="711708"/>
                </a:moveTo>
                <a:lnTo>
                  <a:pt x="2610612" y="711708"/>
                </a:lnTo>
                <a:lnTo>
                  <a:pt x="2610612" y="0"/>
                </a:lnTo>
                <a:lnTo>
                  <a:pt x="0" y="0"/>
                </a:lnTo>
                <a:lnTo>
                  <a:pt x="0" y="711708"/>
                </a:lnTo>
                <a:close/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Groups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497966" y="1310639"/>
            <a:ext cx="6180296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 logic container for resources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Used for grouping resources by a logic boundary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Free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Examples: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Development / Test / Production resources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Team A resources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Groups vs Subscriptions</a:t>
            </a:r>
            <a:endParaRPr/>
          </a:p>
        </p:txBody>
      </p:sp>
      <p:grpSp>
        <p:nvGrpSpPr>
          <p:cNvPr id="167" name="Google Shape;167;p28"/>
          <p:cNvGrpSpPr/>
          <p:nvPr/>
        </p:nvGrpSpPr>
        <p:grpSpPr>
          <a:xfrm>
            <a:off x="3031064" y="1054899"/>
            <a:ext cx="3216745" cy="3773222"/>
            <a:chOff x="4041419" y="1406532"/>
            <a:chExt cx="4288993" cy="5030963"/>
          </a:xfrm>
        </p:grpSpPr>
        <p:pic>
          <p:nvPicPr>
            <p:cNvPr id="168" name="Google Shape;16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1419" y="1406532"/>
              <a:ext cx="4288993" cy="5030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00143" y="1565148"/>
              <a:ext cx="3791711" cy="4533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Groups vs Subscriptions</a:t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289" y="1313307"/>
            <a:ext cx="4650866" cy="3015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158050" y="4678475"/>
            <a:ext cx="8910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marR="0" rtl="0" algn="l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https://docs.microsoft.com/en-us/azure/cloud-adoption-framework/ready/azure-setup-</a:t>
            </a:r>
            <a:r>
              <a:rPr lang="en" sz="1100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guide/organize-resources?tabs=AzureManagementGroupsAndHierarchy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6354508" y="2244947"/>
            <a:ext cx="1812131" cy="1176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1400"/>
              <a:buFont typeface="Arial"/>
              <a:buChar char="-"/>
            </a:pPr>
            <a:r>
              <a:rPr lang="en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Associates accounts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1400"/>
              <a:buFont typeface="Arial"/>
              <a:buChar char="-"/>
            </a:pPr>
            <a:r>
              <a:rPr lang="en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Cost center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6F2F9F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F9F"/>
              </a:buClr>
              <a:buSzPts val="1400"/>
              <a:buFont typeface="Arial"/>
              <a:buChar char="-"/>
            </a:pPr>
            <a:r>
              <a:rPr lang="en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Logical Resources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5936170" y="2420874"/>
            <a:ext cx="237172" cy="85725"/>
          </a:xfrm>
          <a:custGeom>
            <a:rect b="b" l="l" r="r" t="t"/>
            <a:pathLst>
              <a:path extrusionOk="0" h="114300" w="3162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3162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316229">
                <a:moveTo>
                  <a:pt x="31572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15722" y="76200"/>
                </a:lnTo>
                <a:lnTo>
                  <a:pt x="315722" y="3810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29"/>
          <p:cNvSpPr/>
          <p:nvPr/>
        </p:nvSpPr>
        <p:spPr>
          <a:xfrm>
            <a:off x="5936170" y="3166109"/>
            <a:ext cx="237172" cy="85725"/>
          </a:xfrm>
          <a:custGeom>
            <a:rect b="b" l="l" r="r" t="t"/>
            <a:pathLst>
              <a:path extrusionOk="0" h="114300" w="3162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3162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316229">
                <a:moveTo>
                  <a:pt x="31572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15722" y="76200"/>
                </a:lnTo>
                <a:lnTo>
                  <a:pt x="315722" y="3810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0" name="Google Shape;180;p29"/>
          <p:cNvSpPr txBox="1"/>
          <p:nvPr/>
        </p:nvSpPr>
        <p:spPr>
          <a:xfrm>
            <a:off x="6354508" y="1367313"/>
            <a:ext cx="2022158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F2F9F"/>
                </a:solidFill>
                <a:latin typeface="Arial"/>
                <a:ea typeface="Arial"/>
                <a:cs typeface="Arial"/>
                <a:sym typeface="Arial"/>
              </a:rPr>
              <a:t>-	Manages Subscriptions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5936170" y="1543050"/>
            <a:ext cx="237172" cy="85725"/>
          </a:xfrm>
          <a:custGeom>
            <a:rect b="b" l="l" r="r" t="t"/>
            <a:pathLst>
              <a:path extrusionOk="0" h="114300" w="316229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extrusionOk="0" h="114300" w="316229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extrusionOk="0" h="114300" w="316229">
                <a:moveTo>
                  <a:pt x="31572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15722" y="76200"/>
                </a:lnTo>
                <a:lnTo>
                  <a:pt x="315722" y="3810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Groups Naming Conventions</a:t>
            </a:r>
            <a:endParaRPr/>
          </a:p>
        </p:txBody>
      </p:sp>
      <p:sp>
        <p:nvSpPr>
          <p:cNvPr id="187" name="Google Shape;187;p30"/>
          <p:cNvSpPr txBox="1"/>
          <p:nvPr/>
        </p:nvSpPr>
        <p:spPr>
          <a:xfrm>
            <a:off x="497966" y="1310639"/>
            <a:ext cx="7865269" cy="26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It’s best practice to have an “rg” or “RG” as part of the resource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group name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Could be prefix or suffix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863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RG-Project-Dev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63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Finance-Resources-rg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Groups</a:t>
            </a:r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497966" y="1310639"/>
            <a:ext cx="780097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Almost every resource in Azure is placed in a Resource Group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31"/>
          <p:cNvGrpSpPr/>
          <p:nvPr/>
        </p:nvGrpSpPr>
        <p:grpSpPr>
          <a:xfrm>
            <a:off x="1481215" y="1741721"/>
            <a:ext cx="6037551" cy="3401778"/>
            <a:chOff x="1974953" y="2322295"/>
            <a:chExt cx="8050068" cy="4535704"/>
          </a:xfrm>
        </p:grpSpPr>
        <p:pic>
          <p:nvPicPr>
            <p:cNvPr id="195" name="Google Shape;19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74953" y="2322295"/>
              <a:ext cx="8050068" cy="4535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3600" y="2481072"/>
              <a:ext cx="7552944" cy="4090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31"/>
            <p:cNvSpPr/>
            <p:nvPr/>
          </p:nvSpPr>
          <p:spPr>
            <a:xfrm>
              <a:off x="2295906" y="4014977"/>
              <a:ext cx="7059295" cy="492759"/>
            </a:xfrm>
            <a:custGeom>
              <a:rect b="b" l="l" r="r" t="t"/>
              <a:pathLst>
                <a:path extrusionOk="0" h="492760" w="7059295">
                  <a:moveTo>
                    <a:pt x="0" y="492252"/>
                  </a:moveTo>
                  <a:lnTo>
                    <a:pt x="7059168" y="492252"/>
                  </a:lnTo>
                  <a:lnTo>
                    <a:pt x="7059168" y="0"/>
                  </a:lnTo>
                  <a:lnTo>
                    <a:pt x="0" y="0"/>
                  </a:lnTo>
                  <a:lnTo>
                    <a:pt x="0" y="492252"/>
                  </a:lnTo>
                  <a:close/>
                </a:path>
              </a:pathLst>
            </a:custGeom>
            <a:noFill/>
            <a:ln cap="flat" cmpd="sng" w="285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Account</a:t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497966" y="1310639"/>
            <a:ext cx="5035867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Used to store almost anything in Azure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Used transparently by various services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For example: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Database backups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VM Disks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Diagnostics data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Account</a:t>
            </a:r>
            <a:endParaRPr/>
          </a:p>
        </p:txBody>
      </p:sp>
      <p:sp>
        <p:nvSpPr>
          <p:cNvPr id="209" name="Google Shape;209;p33"/>
          <p:cNvSpPr txBox="1"/>
          <p:nvPr/>
        </p:nvSpPr>
        <p:spPr>
          <a:xfrm>
            <a:off x="497966" y="1310639"/>
            <a:ext cx="4448175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Used also for explicit data storage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We’ll discuss it later…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Quite cheap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158080" y="78950"/>
            <a:ext cx="32028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</a:t>
            </a:r>
            <a:endParaRPr/>
          </a:p>
        </p:txBody>
      </p:sp>
      <p:sp>
        <p:nvSpPr>
          <p:cNvPr id="215" name="Google Shape;215;p34"/>
          <p:cNvSpPr txBox="1"/>
          <p:nvPr/>
        </p:nvSpPr>
        <p:spPr>
          <a:xfrm>
            <a:off x="497966" y="1310639"/>
            <a:ext cx="4104323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Service Level Agreement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The uptime % of a cloud service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34"/>
          <p:cNvGraphicFramePr/>
          <p:nvPr/>
        </p:nvGraphicFramePr>
        <p:xfrm>
          <a:off x="825275" y="26763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{1F835075-FF4B-41ED-A0E0-C0585D5E71A2}</a:tableStyleId>
              </a:tblPr>
              <a:tblGrid>
                <a:gridCol w="2288850"/>
                <a:gridCol w="4735350"/>
              </a:tblGrid>
              <a:tr h="388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SLA (%)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Yearly Downtime Allowed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95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18d 6h 17m 27s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99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3d 15h 39m 29s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388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99.9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8h 45m 56s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3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99.99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52m 35s</a:t>
                      </a:r>
                      <a:endParaRPr sz="2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8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58079" y="78950"/>
            <a:ext cx="31560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</a:t>
            </a:r>
            <a:endParaRPr/>
          </a:p>
        </p:txBody>
      </p:sp>
      <p:sp>
        <p:nvSpPr>
          <p:cNvPr id="222" name="Google Shape;222;p35"/>
          <p:cNvSpPr txBox="1"/>
          <p:nvPr/>
        </p:nvSpPr>
        <p:spPr>
          <a:xfrm>
            <a:off x="497966" y="1310639"/>
            <a:ext cx="5503069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ALWAYS check the SLA of the service used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35"/>
          <p:cNvGrpSpPr/>
          <p:nvPr/>
        </p:nvGrpSpPr>
        <p:grpSpPr>
          <a:xfrm>
            <a:off x="787524" y="1989243"/>
            <a:ext cx="8173592" cy="2019583"/>
            <a:chOff x="1050036" y="2174748"/>
            <a:chExt cx="10898123" cy="2543556"/>
          </a:xfrm>
        </p:grpSpPr>
        <p:pic>
          <p:nvPicPr>
            <p:cNvPr id="224" name="Google Shape;224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0036" y="2174748"/>
              <a:ext cx="10898123" cy="2543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45107" y="2369820"/>
              <a:ext cx="10328148" cy="19735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35"/>
            <p:cNvSpPr/>
            <p:nvPr/>
          </p:nvSpPr>
          <p:spPr>
            <a:xfrm>
              <a:off x="7632954" y="3637026"/>
              <a:ext cx="2299970" cy="315595"/>
            </a:xfrm>
            <a:custGeom>
              <a:rect b="b" l="l" r="r" t="t"/>
              <a:pathLst>
                <a:path extrusionOk="0" h="315595" w="2299970">
                  <a:moveTo>
                    <a:pt x="0" y="315468"/>
                  </a:moveTo>
                  <a:lnTo>
                    <a:pt x="641603" y="315468"/>
                  </a:lnTo>
                  <a:lnTo>
                    <a:pt x="641603" y="0"/>
                  </a:lnTo>
                  <a:lnTo>
                    <a:pt x="0" y="0"/>
                  </a:lnTo>
                  <a:lnTo>
                    <a:pt x="0" y="315468"/>
                  </a:lnTo>
                  <a:close/>
                </a:path>
                <a:path extrusionOk="0" h="315595" w="2299970">
                  <a:moveTo>
                    <a:pt x="1588007" y="315468"/>
                  </a:moveTo>
                  <a:lnTo>
                    <a:pt x="2299715" y="315468"/>
                  </a:lnTo>
                  <a:lnTo>
                    <a:pt x="2299715" y="10668"/>
                  </a:lnTo>
                  <a:lnTo>
                    <a:pt x="1588007" y="10668"/>
                  </a:lnTo>
                  <a:lnTo>
                    <a:pt x="1588007" y="315468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158072" y="78950"/>
            <a:ext cx="26391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</a:t>
            </a:r>
            <a:endParaRPr/>
          </a:p>
        </p:txBody>
      </p:sp>
      <p:sp>
        <p:nvSpPr>
          <p:cNvPr id="232" name="Google Shape;232;p36"/>
          <p:cNvSpPr txBox="1"/>
          <p:nvPr/>
        </p:nvSpPr>
        <p:spPr>
          <a:xfrm>
            <a:off x="497979" y="1155523"/>
            <a:ext cx="7865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ALWAYS check the SLA of the service used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36"/>
          <p:cNvGrpSpPr/>
          <p:nvPr/>
        </p:nvGrpSpPr>
        <p:grpSpPr>
          <a:xfrm>
            <a:off x="572651" y="1628733"/>
            <a:ext cx="5913882" cy="3331300"/>
            <a:chOff x="763523" y="2171750"/>
            <a:chExt cx="7885176" cy="4066032"/>
          </a:xfrm>
        </p:grpSpPr>
        <p:pic>
          <p:nvPicPr>
            <p:cNvPr id="234" name="Google Shape;23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3523" y="2171750"/>
              <a:ext cx="7885176" cy="4066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595" y="2366771"/>
              <a:ext cx="7315200" cy="34960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36"/>
            <p:cNvSpPr/>
            <p:nvPr/>
          </p:nvSpPr>
          <p:spPr>
            <a:xfrm>
              <a:off x="1547622" y="4394454"/>
              <a:ext cx="6410325" cy="1239520"/>
            </a:xfrm>
            <a:custGeom>
              <a:rect b="b" l="l" r="r" t="t"/>
              <a:pathLst>
                <a:path extrusionOk="0" h="1239520" w="6410325">
                  <a:moveTo>
                    <a:pt x="1638300" y="246888"/>
                  </a:moveTo>
                  <a:lnTo>
                    <a:pt x="2221991" y="246888"/>
                  </a:lnTo>
                  <a:lnTo>
                    <a:pt x="2221991" y="0"/>
                  </a:lnTo>
                  <a:lnTo>
                    <a:pt x="1638300" y="0"/>
                  </a:lnTo>
                  <a:lnTo>
                    <a:pt x="1638300" y="246888"/>
                  </a:lnTo>
                  <a:close/>
                </a:path>
                <a:path extrusionOk="0" h="1239520" w="6410325">
                  <a:moveTo>
                    <a:pt x="0" y="944880"/>
                  </a:moveTo>
                  <a:lnTo>
                    <a:pt x="522731" y="944880"/>
                  </a:lnTo>
                  <a:lnTo>
                    <a:pt x="522731" y="690372"/>
                  </a:lnTo>
                  <a:lnTo>
                    <a:pt x="0" y="690372"/>
                  </a:lnTo>
                  <a:lnTo>
                    <a:pt x="0" y="944880"/>
                  </a:lnTo>
                  <a:close/>
                </a:path>
                <a:path extrusionOk="0" h="1239520" w="6410325">
                  <a:moveTo>
                    <a:pt x="5259324" y="1239012"/>
                  </a:moveTo>
                  <a:lnTo>
                    <a:pt x="6409944" y="1239012"/>
                  </a:lnTo>
                  <a:lnTo>
                    <a:pt x="6409944" y="984504"/>
                  </a:lnTo>
                  <a:lnTo>
                    <a:pt x="5259324" y="984504"/>
                  </a:lnTo>
                  <a:lnTo>
                    <a:pt x="5259324" y="1239012"/>
                  </a:lnTo>
                  <a:close/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 Calculation</a:t>
            </a:r>
            <a:endParaRPr/>
          </a:p>
        </p:txBody>
      </p:sp>
      <p:sp>
        <p:nvSpPr>
          <p:cNvPr id="242" name="Google Shape;242;p37"/>
          <p:cNvSpPr txBox="1"/>
          <p:nvPr/>
        </p:nvSpPr>
        <p:spPr>
          <a:xfrm>
            <a:off x="497966" y="1310639"/>
            <a:ext cx="859631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To get the actual system SLA, multiply the SLAs of the participating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services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698500" marR="4838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App Service SLA = 99.95% Azure SQL SLA = 99.99%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Actual SLA = 99.95 X 99.99 = 99.94% = 5h 15m 34s annual downtime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248" name="Google Shape;248;p38"/>
          <p:cNvSpPr txBox="1"/>
          <p:nvPr/>
        </p:nvSpPr>
        <p:spPr>
          <a:xfrm>
            <a:off x="497966" y="1310639"/>
            <a:ext cx="557450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Almost everything in the cloud costs money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Few pricing models: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Per resource (ie. VM)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Per consumption (ie. Function Apps)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Reservations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254" name="Google Shape;254;p39"/>
          <p:cNvSpPr txBox="1"/>
          <p:nvPr/>
        </p:nvSpPr>
        <p:spPr>
          <a:xfrm>
            <a:off x="497966" y="1310639"/>
            <a:ext cx="6446044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ALWAYS check resource’s cost before provisioning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Check for more cost-effective alternatives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Look for reservations when available and relevant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ctrTitle"/>
          </p:nvPr>
        </p:nvSpPr>
        <p:spPr>
          <a:xfrm>
            <a:off x="158038" y="78961"/>
            <a:ext cx="3615214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Calculator</a:t>
            </a:r>
            <a:endParaRPr/>
          </a:p>
        </p:txBody>
      </p:sp>
      <p:sp>
        <p:nvSpPr>
          <p:cNvPr id="260" name="Google Shape;260;p40"/>
          <p:cNvSpPr/>
          <p:nvPr/>
        </p:nvSpPr>
        <p:spPr>
          <a:xfrm>
            <a:off x="444141" y="2434304"/>
            <a:ext cx="8282464" cy="8096"/>
          </a:xfrm>
          <a:custGeom>
            <a:rect b="b" l="l" r="r" t="t"/>
            <a:pathLst>
              <a:path extrusionOk="0" h="10795" w="11043285">
                <a:moveTo>
                  <a:pt x="11042916" y="0"/>
                </a:moveTo>
                <a:lnTo>
                  <a:pt x="0" y="0"/>
                </a:lnTo>
                <a:lnTo>
                  <a:pt x="0" y="10668"/>
                </a:lnTo>
                <a:lnTo>
                  <a:pt x="11042916" y="10668"/>
                </a:lnTo>
                <a:lnTo>
                  <a:pt x="11042916" y="0"/>
                </a:lnTo>
                <a:close/>
              </a:path>
            </a:pathLst>
          </a:custGeom>
          <a:solidFill>
            <a:srgbClr val="0462C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1" name="Google Shape;261;p40"/>
          <p:cNvSpPr txBox="1"/>
          <p:nvPr/>
        </p:nvSpPr>
        <p:spPr>
          <a:xfrm>
            <a:off x="434644" y="2064982"/>
            <a:ext cx="8301514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https://azure.microsoft.com/en-us/pricing/calculator/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Architects and the Cloud</a:t>
            </a:r>
            <a:endParaRPr/>
          </a:p>
        </p:txBody>
      </p:sp>
      <p:sp>
        <p:nvSpPr>
          <p:cNvPr id="267" name="Google Shape;267;p41"/>
          <p:cNvSpPr txBox="1"/>
          <p:nvPr/>
        </p:nvSpPr>
        <p:spPr>
          <a:xfrm>
            <a:off x="497966" y="1310639"/>
            <a:ext cx="7574280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Software Architects designing regular system need to know: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Component’s Architecture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Communication Patterns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158039" y="78961"/>
            <a:ext cx="8244840" cy="121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Architects and the Cloud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497966" y="1310639"/>
            <a:ext cx="532352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Cloud-based systems require, in addition: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Infrastructure knowledge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Security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Hands-on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1" marL="3429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"/>
              <a:t>We’ll learn all that in this course </a:t>
            </a:r>
            <a:r>
              <a:rPr lang="en">
                <a:latin typeface="Noto Sans Symbols"/>
                <a:ea typeface="Noto Sans Symbols"/>
                <a:cs typeface="Noto Sans Symbols"/>
                <a:sym typeface="Noto Sans Symbols"/>
              </a:rPr>
              <a:t>☺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