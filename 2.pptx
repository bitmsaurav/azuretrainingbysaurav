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2810E9-BDA9-4A76-BB51-84EB6BCC0DB4}">
  <a:tblStyle styleId="{182810E9-BDA9-4A76-BB51-84EB6BCC0D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af2c59b0e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baf2c59b0e_2_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af2c59b0e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baf2c59b0e_2_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af2c59b0e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baf2c59b0e_2_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af2c59b0e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baf2c59b0e_2_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af2c59b0e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baf2c59b0e_2_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af2c59b0e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baf2c59b0e_2_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af2c59b0e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baf2c59b0e_2_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af2c59b0e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baf2c59b0e_2_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af2c59b0e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baf2c59b0e_2_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af2c59b0e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baf2c59b0e_2_1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af2c59b0e_2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baf2c59b0e_2_1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af2c59b0e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baf2c59b0e_2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af2c59b0e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baf2c59b0e_2_1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af2c59b0e_2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baf2c59b0e_2_1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af2c59b0e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baf2c59b0e_2_1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baf2c59b0e_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baf2c59b0e_2_2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af2c59b0e_2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baf2c59b0e_2_2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af2c59b0e_2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baf2c59b0e_2_2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af2c59b0e_2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baf2c59b0e_2_2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af2c59b0e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baf2c59b0e_2_2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af2c59b0e_2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baf2c59b0e_2_2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af2c59b0e_2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baf2c59b0e_2_2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baf2c59b0e_2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baf2c59b0e_2_2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af2c59b0e_2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baf2c59b0e_2_2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af2c59b0e_2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baf2c59b0e_2_2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af2c59b0e_2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baf2c59b0e_2_2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baf2c59b0e_2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baf2c59b0e_2_2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af2c59b0e_2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baf2c59b0e_2_2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af2c59b0e_2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baf2c59b0e_2_2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af2c59b0e_2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baf2c59b0e_2_2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baf2c59b0e_2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baf2c59b0e_2_3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af2c59b0e_2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baf2c59b0e_2_3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af2c59b0e_2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baf2c59b0e_2_3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af2c59b0e_2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baf2c59b0e_2_3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baf2c59b0e_2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baf2c59b0e_2_3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baf2c59b0e_2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baf2c59b0e_2_3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af2c59b0e_2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baf2c59b0e_2_3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af2c59b0e_2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baf2c59b0e_2_3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baf2c59b0e_2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baf2c59b0e_2_3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af2c59b0e_2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baf2c59b0e_2_3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baf2c59b0e_2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baf2c59b0e_2_3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af2c59b0e_2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baf2c59b0e_2_3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af2c59b0e_2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baf2c59b0e_2_4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baf2c59b0e_2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baf2c59b0e_2_4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baf2c59b0e_2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baf2c59b0e_2_4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baf2c59b0e_2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baf2c59b0e_2_4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baf2c59b0e_2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baf2c59b0e_2_4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baf2c59b0e_2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baf2c59b0e_2_4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baf2c59b0e_2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baf2c59b0e_2_4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baf2c59b0e_2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baf2c59b0e_2_4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baf2c59b0e_2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baf2c59b0e_2_4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baf2c59b0e_2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baf2c59b0e_2_4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904875" y="1992513"/>
            <a:ext cx="766191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1" sz="29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810" y="734949"/>
            <a:ext cx="8015288" cy="400107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>
            <p:ph type="ctrTitle"/>
          </p:nvPr>
        </p:nvSpPr>
        <p:spPr>
          <a:xfrm>
            <a:off x="158039" y="78961"/>
            <a:ext cx="2555557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1" sz="29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>
                <a:solidFill>
                  <a:srgbClr val="53270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800" u="none" cap="none" strike="noStrike">
                <a:solidFill>
                  <a:srgbClr val="53270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904875" y="1992513"/>
            <a:ext cx="766191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1" sz="2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jpg"/><Relationship Id="rId5" Type="http://schemas.openxmlformats.org/officeDocument/2006/relationships/image" Target="../media/image9.png"/><Relationship Id="rId6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0.jpg"/><Relationship Id="rId5" Type="http://schemas.openxmlformats.org/officeDocument/2006/relationships/image" Target="../media/image9.png"/><Relationship Id="rId6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jpg"/><Relationship Id="rId4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jpg"/><Relationship Id="rId4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jpg"/><Relationship Id="rId4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10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Relationship Id="rId4" Type="http://schemas.openxmlformats.org/officeDocument/2006/relationships/image" Target="../media/image1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jpg"/><Relationship Id="rId4" Type="http://schemas.openxmlformats.org/officeDocument/2006/relationships/image" Target="../media/image2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Relationship Id="rId4" Type="http://schemas.openxmlformats.org/officeDocument/2006/relationships/hyperlink" Target="https://docs.microsoft.com/en-us/azure/cloud-adoption-framework/strategy/monitoring-strategy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39.png"/><Relationship Id="rId6" Type="http://schemas.openxmlformats.org/officeDocument/2006/relationships/image" Target="../media/image32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png"/><Relationship Id="rId4" Type="http://schemas.openxmlformats.org/officeDocument/2006/relationships/image" Target="../media/image30.jpg"/><Relationship Id="rId5" Type="http://schemas.openxmlformats.org/officeDocument/2006/relationships/image" Target="../media/image3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4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0725" y="359854"/>
            <a:ext cx="6301740" cy="1848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001F5F"/>
                </a:solidFill>
              </a:rPr>
              <a:t>Introduction to the Cloud</a:t>
            </a:r>
            <a:endParaRPr sz="6000"/>
          </a:p>
        </p:txBody>
      </p:sp>
      <p:sp>
        <p:nvSpPr>
          <p:cNvPr id="92" name="Google Shape;92;p19"/>
          <p:cNvSpPr txBox="1"/>
          <p:nvPr/>
        </p:nvSpPr>
        <p:spPr>
          <a:xfrm>
            <a:off x="333375" y="3868200"/>
            <a:ext cx="4238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1F5F"/>
                </a:solidFill>
              </a:rPr>
              <a:t>    Saurav Kunal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19"/>
          <p:cNvGrpSpPr/>
          <p:nvPr/>
        </p:nvGrpSpPr>
        <p:grpSpPr>
          <a:xfrm>
            <a:off x="328040" y="452628"/>
            <a:ext cx="114300" cy="3535680"/>
            <a:chOff x="437387" y="603504"/>
            <a:chExt cx="152400" cy="4714240"/>
          </a:xfrm>
        </p:grpSpPr>
        <p:sp>
          <p:nvSpPr>
            <p:cNvPr id="94" name="Google Shape;94;p19"/>
            <p:cNvSpPr/>
            <p:nvPr/>
          </p:nvSpPr>
          <p:spPr>
            <a:xfrm>
              <a:off x="437387" y="603504"/>
              <a:ext cx="152400" cy="4714240"/>
            </a:xfrm>
            <a:custGeom>
              <a:rect b="b" l="l" r="r" t="t"/>
              <a:pathLst>
                <a:path extrusionOk="0" h="4714240" w="152400">
                  <a:moveTo>
                    <a:pt x="152400" y="0"/>
                  </a:moveTo>
                  <a:lnTo>
                    <a:pt x="0" y="0"/>
                  </a:lnTo>
                  <a:lnTo>
                    <a:pt x="0" y="4713732"/>
                  </a:lnTo>
                  <a:lnTo>
                    <a:pt x="152400" y="4713732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1F5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95" name="Google Shape;95;p19"/>
            <p:cNvSpPr/>
            <p:nvPr/>
          </p:nvSpPr>
          <p:spPr>
            <a:xfrm>
              <a:off x="437387" y="603504"/>
              <a:ext cx="152400" cy="4714240"/>
            </a:xfrm>
            <a:custGeom>
              <a:rect b="b" l="l" r="r" t="t"/>
              <a:pathLst>
                <a:path extrusionOk="0" h="4714240" w="152400">
                  <a:moveTo>
                    <a:pt x="0" y="4713732"/>
                  </a:moveTo>
                  <a:lnTo>
                    <a:pt x="152400" y="4713732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713732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pic>
        <p:nvPicPr>
          <p:cNvPr id="96" name="Google Shape;96;p19" title="DSC_0352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715" y="1676150"/>
            <a:ext cx="1916735" cy="255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the cloud…</a:t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497966" y="1310639"/>
            <a:ext cx="4446270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If you needed a server, you had to: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Buy it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Install it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Maintain it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Replace it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Have an IT team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the cloud…</a:t>
            </a:r>
            <a:endParaRPr/>
          </a:p>
        </p:txBody>
      </p:sp>
      <p:sp>
        <p:nvSpPr>
          <p:cNvPr id="110" name="Google Shape;110;p21"/>
          <p:cNvSpPr txBox="1"/>
          <p:nvPr/>
        </p:nvSpPr>
        <p:spPr>
          <a:xfrm>
            <a:off x="497966" y="1310639"/>
            <a:ext cx="3782378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You often ended up with this: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4258" y="1793366"/>
            <a:ext cx="4714875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the cloud…</a:t>
            </a:r>
            <a:endParaRPr/>
          </a:p>
        </p:txBody>
      </p:sp>
      <p:sp>
        <p:nvSpPr>
          <p:cNvPr id="118" name="Google Shape;118;p22"/>
          <p:cNvSpPr txBox="1"/>
          <p:nvPr/>
        </p:nvSpPr>
        <p:spPr>
          <a:xfrm>
            <a:off x="497966" y="1310639"/>
            <a:ext cx="2880359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same goes with: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Networking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Databases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User Management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And more…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the cloud…</a:t>
            </a:r>
            <a:endParaRPr/>
          </a:p>
        </p:txBody>
      </p:sp>
      <p:sp>
        <p:nvSpPr>
          <p:cNvPr id="125" name="Google Shape;125;p23"/>
          <p:cNvSpPr txBox="1"/>
          <p:nvPr/>
        </p:nvSpPr>
        <p:spPr>
          <a:xfrm>
            <a:off x="497966" y="1310639"/>
            <a:ext cx="2520315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But there’s more…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24"/>
          <p:cNvGrpSpPr/>
          <p:nvPr/>
        </p:nvGrpSpPr>
        <p:grpSpPr>
          <a:xfrm>
            <a:off x="1044131" y="3117532"/>
            <a:ext cx="4179378" cy="1375601"/>
            <a:chOff x="1392174" y="4156709"/>
            <a:chExt cx="5572504" cy="1834134"/>
          </a:xfrm>
        </p:grpSpPr>
        <p:pic>
          <p:nvPicPr>
            <p:cNvPr id="131" name="Google Shape;13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23559" y="4541520"/>
              <a:ext cx="807720" cy="1217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59" y="4773167"/>
              <a:ext cx="807719" cy="1217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24"/>
            <p:cNvSpPr/>
            <p:nvPr/>
          </p:nvSpPr>
          <p:spPr>
            <a:xfrm>
              <a:off x="1392174" y="4156709"/>
              <a:ext cx="567690" cy="0"/>
            </a:xfrm>
            <a:custGeom>
              <a:rect b="b" l="l" r="r" t="t"/>
              <a:pathLst>
                <a:path extrusionOk="0" h="120000" w="567689">
                  <a:moveTo>
                    <a:pt x="0" y="0"/>
                  </a:moveTo>
                  <a:lnTo>
                    <a:pt x="567563" y="0"/>
                  </a:ln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34" name="Google Shape;134;p24"/>
          <p:cNvSpPr txBox="1"/>
          <p:nvPr/>
        </p:nvSpPr>
        <p:spPr>
          <a:xfrm>
            <a:off x="5344954" y="3912070"/>
            <a:ext cx="644843" cy="225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60% CPU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4"/>
          <p:cNvSpPr/>
          <p:nvPr/>
        </p:nvSpPr>
        <p:spPr>
          <a:xfrm>
            <a:off x="1563053" y="3117532"/>
            <a:ext cx="3020377" cy="0"/>
          </a:xfrm>
          <a:custGeom>
            <a:rect b="b" l="l" r="r" t="t"/>
            <a:pathLst>
              <a:path extrusionOk="0" h="120000" w="4027170">
                <a:moveTo>
                  <a:pt x="0" y="0"/>
                </a:moveTo>
                <a:lnTo>
                  <a:pt x="567563" y="0"/>
                </a:lnTo>
              </a:path>
              <a:path extrusionOk="0" h="120000" w="4027170">
                <a:moveTo>
                  <a:pt x="691896" y="0"/>
                </a:moveTo>
                <a:lnTo>
                  <a:pt x="1259458" y="0"/>
                </a:lnTo>
              </a:path>
              <a:path extrusionOk="0" h="120000" w="4027170">
                <a:moveTo>
                  <a:pt x="1383792" y="0"/>
                </a:moveTo>
                <a:lnTo>
                  <a:pt x="1951355" y="0"/>
                </a:lnTo>
              </a:path>
              <a:path extrusionOk="0" h="120000" w="4027170">
                <a:moveTo>
                  <a:pt x="2075688" y="0"/>
                </a:moveTo>
                <a:lnTo>
                  <a:pt x="2643251" y="0"/>
                </a:lnTo>
              </a:path>
              <a:path extrusionOk="0" h="120000" w="4027170">
                <a:moveTo>
                  <a:pt x="2767584" y="0"/>
                </a:moveTo>
                <a:lnTo>
                  <a:pt x="3335147" y="0"/>
                </a:lnTo>
              </a:path>
              <a:path extrusionOk="0" h="120000" w="4027170">
                <a:moveTo>
                  <a:pt x="3459479" y="0"/>
                </a:moveTo>
                <a:lnTo>
                  <a:pt x="4027043" y="0"/>
                </a:lnTo>
              </a:path>
            </a:pathLst>
          </a:custGeom>
          <a:noFill/>
          <a:ln cap="flat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6" name="Google Shape;136;p24"/>
          <p:cNvSpPr txBox="1"/>
          <p:nvPr/>
        </p:nvSpPr>
        <p:spPr>
          <a:xfrm>
            <a:off x="1127569" y="3127534"/>
            <a:ext cx="3317557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Jan	Feb	Mar	Apr	May	Jun	Jul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4"/>
          <p:cNvSpPr/>
          <p:nvPr/>
        </p:nvSpPr>
        <p:spPr>
          <a:xfrm>
            <a:off x="4676585" y="3117532"/>
            <a:ext cx="1463516" cy="0"/>
          </a:xfrm>
          <a:custGeom>
            <a:rect b="b" l="l" r="r" t="t"/>
            <a:pathLst>
              <a:path extrusionOk="0" h="120000" w="1951354">
                <a:moveTo>
                  <a:pt x="0" y="0"/>
                </a:moveTo>
                <a:lnTo>
                  <a:pt x="567562" y="0"/>
                </a:lnTo>
              </a:path>
              <a:path extrusionOk="0" h="120000" w="1951354">
                <a:moveTo>
                  <a:pt x="691896" y="0"/>
                </a:moveTo>
                <a:lnTo>
                  <a:pt x="1259458" y="0"/>
                </a:lnTo>
              </a:path>
              <a:path extrusionOk="0" h="120000" w="1951354">
                <a:moveTo>
                  <a:pt x="1383792" y="0"/>
                </a:moveTo>
                <a:lnTo>
                  <a:pt x="1951354" y="0"/>
                </a:lnTo>
              </a:path>
            </a:pathLst>
          </a:custGeom>
          <a:noFill/>
          <a:ln cap="flat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8" name="Google Shape;138;p24"/>
          <p:cNvSpPr txBox="1"/>
          <p:nvPr/>
        </p:nvSpPr>
        <p:spPr>
          <a:xfrm>
            <a:off x="4760404" y="3127534"/>
            <a:ext cx="1299686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Aug	Sep	Oct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4"/>
          <p:cNvSpPr/>
          <p:nvPr/>
        </p:nvSpPr>
        <p:spPr>
          <a:xfrm>
            <a:off x="6233350" y="3060382"/>
            <a:ext cx="784383" cy="0"/>
          </a:xfrm>
          <a:custGeom>
            <a:rect b="b" l="l" r="r" t="t"/>
            <a:pathLst>
              <a:path extrusionOk="0" h="120000" w="1045845">
                <a:moveTo>
                  <a:pt x="0" y="0"/>
                </a:moveTo>
                <a:lnTo>
                  <a:pt x="1045464" y="0"/>
                </a:lnTo>
              </a:path>
            </a:pathLst>
          </a:cu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0" name="Google Shape;140;p24"/>
          <p:cNvSpPr txBox="1"/>
          <p:nvPr/>
        </p:nvSpPr>
        <p:spPr>
          <a:xfrm>
            <a:off x="6455282" y="3066954"/>
            <a:ext cx="388619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24"/>
          <p:cNvGrpSpPr/>
          <p:nvPr/>
        </p:nvGrpSpPr>
        <p:grpSpPr>
          <a:xfrm>
            <a:off x="70866" y="0"/>
            <a:ext cx="7842123" cy="3040380"/>
            <a:chOff x="94488" y="0"/>
            <a:chExt cx="10456164" cy="4053840"/>
          </a:xfrm>
        </p:grpSpPr>
        <p:pic>
          <p:nvPicPr>
            <p:cNvPr id="142" name="Google Shape;142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02652" y="1318260"/>
              <a:ext cx="3048000" cy="1714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4488" y="0"/>
              <a:ext cx="6742176" cy="4053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89559" y="97535"/>
              <a:ext cx="6172200" cy="35813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5"/>
          <p:cNvGrpSpPr/>
          <p:nvPr/>
        </p:nvGrpSpPr>
        <p:grpSpPr>
          <a:xfrm>
            <a:off x="1044131" y="3117532"/>
            <a:ext cx="4179378" cy="1375601"/>
            <a:chOff x="1392174" y="4156709"/>
            <a:chExt cx="5572504" cy="1834134"/>
          </a:xfrm>
        </p:grpSpPr>
        <p:pic>
          <p:nvPicPr>
            <p:cNvPr id="150" name="Google Shape;150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23559" y="4541520"/>
              <a:ext cx="807720" cy="1217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59" y="4773167"/>
              <a:ext cx="807719" cy="12176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5"/>
            <p:cNvSpPr/>
            <p:nvPr/>
          </p:nvSpPr>
          <p:spPr>
            <a:xfrm>
              <a:off x="1392174" y="4156709"/>
              <a:ext cx="567690" cy="0"/>
            </a:xfrm>
            <a:custGeom>
              <a:rect b="b" l="l" r="r" t="t"/>
              <a:pathLst>
                <a:path extrusionOk="0" h="120000" w="567689">
                  <a:moveTo>
                    <a:pt x="0" y="0"/>
                  </a:moveTo>
                  <a:lnTo>
                    <a:pt x="567563" y="0"/>
                  </a:ln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53" name="Google Shape;153;p25"/>
          <p:cNvSpPr txBox="1"/>
          <p:nvPr/>
        </p:nvSpPr>
        <p:spPr>
          <a:xfrm>
            <a:off x="5422677" y="3907535"/>
            <a:ext cx="1297781" cy="36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120% </a:t>
            </a:r>
            <a:r>
              <a:rPr lang="en" sz="23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CPU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1563053" y="3117532"/>
            <a:ext cx="3020377" cy="0"/>
          </a:xfrm>
          <a:custGeom>
            <a:rect b="b" l="l" r="r" t="t"/>
            <a:pathLst>
              <a:path extrusionOk="0" h="120000" w="4027170">
                <a:moveTo>
                  <a:pt x="0" y="0"/>
                </a:moveTo>
                <a:lnTo>
                  <a:pt x="567563" y="0"/>
                </a:lnTo>
              </a:path>
              <a:path extrusionOk="0" h="120000" w="4027170">
                <a:moveTo>
                  <a:pt x="691896" y="0"/>
                </a:moveTo>
                <a:lnTo>
                  <a:pt x="1259458" y="0"/>
                </a:lnTo>
              </a:path>
              <a:path extrusionOk="0" h="120000" w="4027170">
                <a:moveTo>
                  <a:pt x="1383792" y="0"/>
                </a:moveTo>
                <a:lnTo>
                  <a:pt x="1951355" y="0"/>
                </a:lnTo>
              </a:path>
              <a:path extrusionOk="0" h="120000" w="4027170">
                <a:moveTo>
                  <a:pt x="2075688" y="0"/>
                </a:moveTo>
                <a:lnTo>
                  <a:pt x="2643251" y="0"/>
                </a:lnTo>
              </a:path>
              <a:path extrusionOk="0" h="120000" w="4027170">
                <a:moveTo>
                  <a:pt x="2767584" y="0"/>
                </a:moveTo>
                <a:lnTo>
                  <a:pt x="3335147" y="0"/>
                </a:lnTo>
              </a:path>
              <a:path extrusionOk="0" h="120000" w="4027170">
                <a:moveTo>
                  <a:pt x="3459479" y="0"/>
                </a:moveTo>
                <a:lnTo>
                  <a:pt x="4027043" y="0"/>
                </a:lnTo>
              </a:path>
            </a:pathLst>
          </a:custGeom>
          <a:noFill/>
          <a:ln cap="flat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5" name="Google Shape;155;p25"/>
          <p:cNvSpPr txBox="1"/>
          <p:nvPr/>
        </p:nvSpPr>
        <p:spPr>
          <a:xfrm>
            <a:off x="1127569" y="3127534"/>
            <a:ext cx="3317557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Jan	Feb	Mar	Apr	May	Jun	Jul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4676585" y="3117532"/>
            <a:ext cx="1463516" cy="0"/>
          </a:xfrm>
          <a:custGeom>
            <a:rect b="b" l="l" r="r" t="t"/>
            <a:pathLst>
              <a:path extrusionOk="0" h="120000" w="1951354">
                <a:moveTo>
                  <a:pt x="0" y="0"/>
                </a:moveTo>
                <a:lnTo>
                  <a:pt x="567562" y="0"/>
                </a:lnTo>
              </a:path>
              <a:path extrusionOk="0" h="120000" w="1951354">
                <a:moveTo>
                  <a:pt x="691896" y="0"/>
                </a:moveTo>
                <a:lnTo>
                  <a:pt x="1259458" y="0"/>
                </a:lnTo>
              </a:path>
              <a:path extrusionOk="0" h="120000" w="1951354">
                <a:moveTo>
                  <a:pt x="1383792" y="0"/>
                </a:moveTo>
                <a:lnTo>
                  <a:pt x="1951354" y="0"/>
                </a:lnTo>
              </a:path>
            </a:pathLst>
          </a:custGeom>
          <a:noFill/>
          <a:ln cap="flat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7" name="Google Shape;157;p25"/>
          <p:cNvSpPr txBox="1"/>
          <p:nvPr/>
        </p:nvSpPr>
        <p:spPr>
          <a:xfrm>
            <a:off x="4760404" y="3127534"/>
            <a:ext cx="1299686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Aug	Sep	Oct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6233350" y="3060382"/>
            <a:ext cx="784383" cy="0"/>
          </a:xfrm>
          <a:custGeom>
            <a:rect b="b" l="l" r="r" t="t"/>
            <a:pathLst>
              <a:path extrusionOk="0" h="120000" w="1045845">
                <a:moveTo>
                  <a:pt x="0" y="0"/>
                </a:moveTo>
                <a:lnTo>
                  <a:pt x="1045464" y="0"/>
                </a:lnTo>
              </a:path>
            </a:pathLst>
          </a:cu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9" name="Google Shape;159;p25"/>
          <p:cNvSpPr txBox="1"/>
          <p:nvPr/>
        </p:nvSpPr>
        <p:spPr>
          <a:xfrm>
            <a:off x="6455282" y="3066954"/>
            <a:ext cx="388619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p25"/>
          <p:cNvGrpSpPr/>
          <p:nvPr/>
        </p:nvGrpSpPr>
        <p:grpSpPr>
          <a:xfrm>
            <a:off x="70866" y="0"/>
            <a:ext cx="7842123" cy="4423124"/>
            <a:chOff x="94488" y="0"/>
            <a:chExt cx="10456164" cy="5897498"/>
          </a:xfrm>
        </p:grpSpPr>
        <p:pic>
          <p:nvPicPr>
            <p:cNvPr id="161" name="Google Shape;161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02652" y="1318260"/>
              <a:ext cx="3048000" cy="1714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4488" y="0"/>
              <a:ext cx="6742176" cy="4053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89559" y="97535"/>
              <a:ext cx="6172200" cy="35813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" name="Google Shape;164;p25"/>
            <p:cNvSpPr/>
            <p:nvPr/>
          </p:nvSpPr>
          <p:spPr>
            <a:xfrm>
              <a:off x="5569458" y="4775453"/>
              <a:ext cx="1410335" cy="1122045"/>
            </a:xfrm>
            <a:custGeom>
              <a:rect b="b" l="l" r="r" t="t"/>
              <a:pathLst>
                <a:path extrusionOk="0" h="1122045" w="1410334">
                  <a:moveTo>
                    <a:pt x="82295" y="0"/>
                  </a:moveTo>
                  <a:lnTo>
                    <a:pt x="1326895" y="1101471"/>
                  </a:lnTo>
                </a:path>
                <a:path extrusionOk="0" h="1122045" w="1410334">
                  <a:moveTo>
                    <a:pt x="1410335" y="48768"/>
                  </a:moveTo>
                  <a:lnTo>
                    <a:pt x="0" y="1121422"/>
                  </a:lnTo>
                </a:path>
              </a:pathLst>
            </a:custGeom>
            <a:noFill/>
            <a:ln cap="flat" cmpd="sng" w="476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41"/>
            <a:ext cx="9143999" cy="5142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7"/>
          <p:cNvGrpSpPr/>
          <p:nvPr/>
        </p:nvGrpSpPr>
        <p:grpSpPr>
          <a:xfrm>
            <a:off x="1044131" y="3117532"/>
            <a:ext cx="3567873" cy="884111"/>
            <a:chOff x="1392174" y="4156709"/>
            <a:chExt cx="4757164" cy="1178815"/>
          </a:xfrm>
        </p:grpSpPr>
        <p:pic>
          <p:nvPicPr>
            <p:cNvPr id="175" name="Google Shape;1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23559" y="4541520"/>
              <a:ext cx="525779" cy="7940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27"/>
            <p:cNvSpPr/>
            <p:nvPr/>
          </p:nvSpPr>
          <p:spPr>
            <a:xfrm>
              <a:off x="1392174" y="4156709"/>
              <a:ext cx="567690" cy="0"/>
            </a:xfrm>
            <a:custGeom>
              <a:rect b="b" l="l" r="r" t="t"/>
              <a:pathLst>
                <a:path extrusionOk="0" h="120000" w="567689">
                  <a:moveTo>
                    <a:pt x="0" y="0"/>
                  </a:moveTo>
                  <a:lnTo>
                    <a:pt x="567563" y="0"/>
                  </a:ln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77" name="Google Shape;177;p27"/>
          <p:cNvSpPr txBox="1"/>
          <p:nvPr/>
        </p:nvSpPr>
        <p:spPr>
          <a:xfrm>
            <a:off x="5440489" y="3807904"/>
            <a:ext cx="644843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20% CPU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1563053" y="3117532"/>
            <a:ext cx="3020377" cy="0"/>
          </a:xfrm>
          <a:custGeom>
            <a:rect b="b" l="l" r="r" t="t"/>
            <a:pathLst>
              <a:path extrusionOk="0" h="120000" w="4027170">
                <a:moveTo>
                  <a:pt x="0" y="0"/>
                </a:moveTo>
                <a:lnTo>
                  <a:pt x="567563" y="0"/>
                </a:lnTo>
              </a:path>
              <a:path extrusionOk="0" h="120000" w="4027170">
                <a:moveTo>
                  <a:pt x="691896" y="0"/>
                </a:moveTo>
                <a:lnTo>
                  <a:pt x="1259458" y="0"/>
                </a:lnTo>
              </a:path>
              <a:path extrusionOk="0" h="120000" w="4027170">
                <a:moveTo>
                  <a:pt x="1383792" y="0"/>
                </a:moveTo>
                <a:lnTo>
                  <a:pt x="1951355" y="0"/>
                </a:lnTo>
              </a:path>
              <a:path extrusionOk="0" h="120000" w="4027170">
                <a:moveTo>
                  <a:pt x="2075688" y="0"/>
                </a:moveTo>
                <a:lnTo>
                  <a:pt x="2643251" y="0"/>
                </a:lnTo>
              </a:path>
              <a:path extrusionOk="0" h="120000" w="4027170">
                <a:moveTo>
                  <a:pt x="2767584" y="0"/>
                </a:moveTo>
                <a:lnTo>
                  <a:pt x="3335147" y="0"/>
                </a:lnTo>
              </a:path>
              <a:path extrusionOk="0" h="120000" w="4027170">
                <a:moveTo>
                  <a:pt x="3459479" y="0"/>
                </a:moveTo>
                <a:lnTo>
                  <a:pt x="4027043" y="0"/>
                </a:lnTo>
              </a:path>
            </a:pathLst>
          </a:custGeom>
          <a:noFill/>
          <a:ln cap="flat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9" name="Google Shape;179;p27"/>
          <p:cNvSpPr txBox="1"/>
          <p:nvPr/>
        </p:nvSpPr>
        <p:spPr>
          <a:xfrm>
            <a:off x="1127569" y="3127534"/>
            <a:ext cx="3317557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Jan	Feb	Mar	Apr	May	Jun	Jul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4676585" y="3117532"/>
            <a:ext cx="1463516" cy="0"/>
          </a:xfrm>
          <a:custGeom>
            <a:rect b="b" l="l" r="r" t="t"/>
            <a:pathLst>
              <a:path extrusionOk="0" h="120000" w="1951354">
                <a:moveTo>
                  <a:pt x="0" y="0"/>
                </a:moveTo>
                <a:lnTo>
                  <a:pt x="567562" y="0"/>
                </a:lnTo>
              </a:path>
              <a:path extrusionOk="0" h="120000" w="1951354">
                <a:moveTo>
                  <a:pt x="691896" y="0"/>
                </a:moveTo>
                <a:lnTo>
                  <a:pt x="1259458" y="0"/>
                </a:lnTo>
              </a:path>
              <a:path extrusionOk="0" h="120000" w="1951354">
                <a:moveTo>
                  <a:pt x="1383792" y="0"/>
                </a:moveTo>
                <a:lnTo>
                  <a:pt x="1951354" y="0"/>
                </a:lnTo>
              </a:path>
            </a:pathLst>
          </a:custGeom>
          <a:noFill/>
          <a:ln cap="flat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1" name="Google Shape;181;p27"/>
          <p:cNvSpPr txBox="1"/>
          <p:nvPr/>
        </p:nvSpPr>
        <p:spPr>
          <a:xfrm>
            <a:off x="4760404" y="3127534"/>
            <a:ext cx="1299686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Aug	Sep	Oct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6233350" y="3060382"/>
            <a:ext cx="784383" cy="0"/>
          </a:xfrm>
          <a:custGeom>
            <a:rect b="b" l="l" r="r" t="t"/>
            <a:pathLst>
              <a:path extrusionOk="0" h="120000" w="1045845">
                <a:moveTo>
                  <a:pt x="0" y="0"/>
                </a:moveTo>
                <a:lnTo>
                  <a:pt x="1045464" y="0"/>
                </a:lnTo>
              </a:path>
            </a:pathLst>
          </a:cu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3" name="Google Shape;183;p27"/>
          <p:cNvSpPr txBox="1"/>
          <p:nvPr/>
        </p:nvSpPr>
        <p:spPr>
          <a:xfrm>
            <a:off x="6455282" y="3066954"/>
            <a:ext cx="388619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" name="Google Shape;184;p27"/>
          <p:cNvGrpSpPr/>
          <p:nvPr/>
        </p:nvGrpSpPr>
        <p:grpSpPr>
          <a:xfrm>
            <a:off x="4408550" y="988695"/>
            <a:ext cx="3504438" cy="3348989"/>
            <a:chOff x="5878067" y="1318260"/>
            <a:chExt cx="4672584" cy="4465319"/>
          </a:xfrm>
        </p:grpSpPr>
        <p:pic>
          <p:nvPicPr>
            <p:cNvPr id="185" name="Google Shape;185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02651" y="1318260"/>
              <a:ext cx="3048000" cy="1714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78067" y="4693919"/>
              <a:ext cx="525779" cy="7940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84391" y="4840224"/>
              <a:ext cx="525780" cy="7940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12051" y="4989575"/>
              <a:ext cx="525779" cy="7940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28"/>
          <p:cNvGrpSpPr/>
          <p:nvPr/>
        </p:nvGrpSpPr>
        <p:grpSpPr>
          <a:xfrm>
            <a:off x="1044131" y="3117532"/>
            <a:ext cx="3567873" cy="884111"/>
            <a:chOff x="1392174" y="4156709"/>
            <a:chExt cx="4757164" cy="1178815"/>
          </a:xfrm>
        </p:grpSpPr>
        <p:pic>
          <p:nvPicPr>
            <p:cNvPr id="194" name="Google Shape;194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23559" y="4541520"/>
              <a:ext cx="525779" cy="7940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28"/>
            <p:cNvSpPr/>
            <p:nvPr/>
          </p:nvSpPr>
          <p:spPr>
            <a:xfrm>
              <a:off x="1392174" y="4156709"/>
              <a:ext cx="567690" cy="0"/>
            </a:xfrm>
            <a:custGeom>
              <a:rect b="b" l="l" r="r" t="t"/>
              <a:pathLst>
                <a:path extrusionOk="0" h="120000" w="567689">
                  <a:moveTo>
                    <a:pt x="0" y="0"/>
                  </a:moveTo>
                  <a:lnTo>
                    <a:pt x="567563" y="0"/>
                  </a:ln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96" name="Google Shape;196;p28"/>
          <p:cNvSpPr txBox="1"/>
          <p:nvPr/>
        </p:nvSpPr>
        <p:spPr>
          <a:xfrm>
            <a:off x="5440489" y="3804475"/>
            <a:ext cx="860584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90% CPU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1563053" y="3117532"/>
            <a:ext cx="3020377" cy="0"/>
          </a:xfrm>
          <a:custGeom>
            <a:rect b="b" l="l" r="r" t="t"/>
            <a:pathLst>
              <a:path extrusionOk="0" h="120000" w="4027170">
                <a:moveTo>
                  <a:pt x="0" y="0"/>
                </a:moveTo>
                <a:lnTo>
                  <a:pt x="567563" y="0"/>
                </a:lnTo>
              </a:path>
              <a:path extrusionOk="0" h="120000" w="4027170">
                <a:moveTo>
                  <a:pt x="691896" y="0"/>
                </a:moveTo>
                <a:lnTo>
                  <a:pt x="1259458" y="0"/>
                </a:lnTo>
              </a:path>
              <a:path extrusionOk="0" h="120000" w="4027170">
                <a:moveTo>
                  <a:pt x="1383792" y="0"/>
                </a:moveTo>
                <a:lnTo>
                  <a:pt x="1951355" y="0"/>
                </a:lnTo>
              </a:path>
              <a:path extrusionOk="0" h="120000" w="4027170">
                <a:moveTo>
                  <a:pt x="2075688" y="0"/>
                </a:moveTo>
                <a:lnTo>
                  <a:pt x="2643251" y="0"/>
                </a:lnTo>
              </a:path>
              <a:path extrusionOk="0" h="120000" w="4027170">
                <a:moveTo>
                  <a:pt x="2767584" y="0"/>
                </a:moveTo>
                <a:lnTo>
                  <a:pt x="3335147" y="0"/>
                </a:lnTo>
              </a:path>
              <a:path extrusionOk="0" h="120000" w="4027170">
                <a:moveTo>
                  <a:pt x="3459479" y="0"/>
                </a:moveTo>
                <a:lnTo>
                  <a:pt x="4027043" y="0"/>
                </a:lnTo>
              </a:path>
            </a:pathLst>
          </a:custGeom>
          <a:noFill/>
          <a:ln cap="flat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8" name="Google Shape;198;p28"/>
          <p:cNvSpPr txBox="1"/>
          <p:nvPr/>
        </p:nvSpPr>
        <p:spPr>
          <a:xfrm>
            <a:off x="1127569" y="3127534"/>
            <a:ext cx="3317557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Jan	Feb	Mar	Apr	May	Jun	Jul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4676585" y="3117532"/>
            <a:ext cx="1463516" cy="0"/>
          </a:xfrm>
          <a:custGeom>
            <a:rect b="b" l="l" r="r" t="t"/>
            <a:pathLst>
              <a:path extrusionOk="0" h="120000" w="1951354">
                <a:moveTo>
                  <a:pt x="0" y="0"/>
                </a:moveTo>
                <a:lnTo>
                  <a:pt x="567562" y="0"/>
                </a:lnTo>
              </a:path>
              <a:path extrusionOk="0" h="120000" w="1951354">
                <a:moveTo>
                  <a:pt x="691896" y="0"/>
                </a:moveTo>
                <a:lnTo>
                  <a:pt x="1259458" y="0"/>
                </a:lnTo>
              </a:path>
              <a:path extrusionOk="0" h="120000" w="1951354">
                <a:moveTo>
                  <a:pt x="1383792" y="0"/>
                </a:moveTo>
                <a:lnTo>
                  <a:pt x="1951354" y="0"/>
                </a:lnTo>
              </a:path>
            </a:pathLst>
          </a:custGeom>
          <a:noFill/>
          <a:ln cap="flat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00" name="Google Shape;200;p28"/>
          <p:cNvSpPr txBox="1"/>
          <p:nvPr/>
        </p:nvSpPr>
        <p:spPr>
          <a:xfrm>
            <a:off x="4760404" y="3127534"/>
            <a:ext cx="1299686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Aug	Sep	Oct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6233350" y="3060382"/>
            <a:ext cx="784383" cy="0"/>
          </a:xfrm>
          <a:custGeom>
            <a:rect b="b" l="l" r="r" t="t"/>
            <a:pathLst>
              <a:path extrusionOk="0" h="120000" w="1045845">
                <a:moveTo>
                  <a:pt x="0" y="0"/>
                </a:moveTo>
                <a:lnTo>
                  <a:pt x="1045464" y="0"/>
                </a:lnTo>
              </a:path>
            </a:pathLst>
          </a:cu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02" name="Google Shape;202;p28"/>
          <p:cNvSpPr txBox="1"/>
          <p:nvPr/>
        </p:nvSpPr>
        <p:spPr>
          <a:xfrm>
            <a:off x="6455282" y="3066954"/>
            <a:ext cx="388619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p28"/>
          <p:cNvGrpSpPr/>
          <p:nvPr/>
        </p:nvGrpSpPr>
        <p:grpSpPr>
          <a:xfrm>
            <a:off x="4408550" y="988695"/>
            <a:ext cx="3504438" cy="3348989"/>
            <a:chOff x="5878067" y="1318260"/>
            <a:chExt cx="4672584" cy="4465319"/>
          </a:xfrm>
        </p:grpSpPr>
        <p:pic>
          <p:nvPicPr>
            <p:cNvPr id="204" name="Google Shape;204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02651" y="1318260"/>
              <a:ext cx="3048000" cy="1714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78067" y="4693919"/>
              <a:ext cx="525779" cy="7940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84391" y="4840224"/>
              <a:ext cx="525780" cy="7940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12051" y="4989575"/>
              <a:ext cx="525779" cy="7940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/>
          <p:nvPr/>
        </p:nvSpPr>
        <p:spPr>
          <a:xfrm>
            <a:off x="1143571" y="1143571"/>
            <a:ext cx="6991350" cy="3076575"/>
          </a:xfrm>
          <a:custGeom>
            <a:rect b="b" l="l" r="r" t="t"/>
            <a:pathLst>
              <a:path extrusionOk="0" h="4102100" w="9321800">
                <a:moveTo>
                  <a:pt x="9321800" y="3886200"/>
                </a:moveTo>
                <a:lnTo>
                  <a:pt x="9296400" y="3873500"/>
                </a:lnTo>
                <a:lnTo>
                  <a:pt x="9245600" y="3848100"/>
                </a:lnTo>
                <a:lnTo>
                  <a:pt x="9245600" y="3873500"/>
                </a:lnTo>
                <a:lnTo>
                  <a:pt x="393700" y="3873500"/>
                </a:lnTo>
                <a:lnTo>
                  <a:pt x="393700" y="76200"/>
                </a:lnTo>
                <a:lnTo>
                  <a:pt x="419100" y="76200"/>
                </a:lnTo>
                <a:lnTo>
                  <a:pt x="412750" y="63500"/>
                </a:lnTo>
                <a:lnTo>
                  <a:pt x="381000" y="0"/>
                </a:lnTo>
                <a:lnTo>
                  <a:pt x="342900" y="76200"/>
                </a:lnTo>
                <a:lnTo>
                  <a:pt x="368300" y="76200"/>
                </a:lnTo>
                <a:lnTo>
                  <a:pt x="368300" y="3873500"/>
                </a:lnTo>
                <a:lnTo>
                  <a:pt x="0" y="3873500"/>
                </a:lnTo>
                <a:lnTo>
                  <a:pt x="0" y="3898900"/>
                </a:lnTo>
                <a:lnTo>
                  <a:pt x="368300" y="3898900"/>
                </a:lnTo>
                <a:lnTo>
                  <a:pt x="368300" y="4102100"/>
                </a:lnTo>
                <a:lnTo>
                  <a:pt x="393700" y="4102100"/>
                </a:lnTo>
                <a:lnTo>
                  <a:pt x="393700" y="3898900"/>
                </a:lnTo>
                <a:lnTo>
                  <a:pt x="9245600" y="3898900"/>
                </a:lnTo>
                <a:lnTo>
                  <a:pt x="9245600" y="3924300"/>
                </a:lnTo>
                <a:lnTo>
                  <a:pt x="9296400" y="3898900"/>
                </a:lnTo>
                <a:lnTo>
                  <a:pt x="9321800" y="3886200"/>
                </a:lnTo>
                <a:close/>
              </a:path>
            </a:pathLst>
          </a:custGeom>
          <a:solidFill>
            <a:srgbClr val="53270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13" name="Google Shape;213;p29"/>
          <p:cNvSpPr txBox="1"/>
          <p:nvPr/>
        </p:nvSpPr>
        <p:spPr>
          <a:xfrm>
            <a:off x="882014" y="2099120"/>
            <a:ext cx="508635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rPr>
              <a:t>% CPU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1429321" y="1648778"/>
            <a:ext cx="6696075" cy="2218849"/>
          </a:xfrm>
          <a:custGeom>
            <a:rect b="b" l="l" r="r" t="t"/>
            <a:pathLst>
              <a:path extrusionOk="0" h="2958465" w="8928100">
                <a:moveTo>
                  <a:pt x="0" y="2919984"/>
                </a:moveTo>
                <a:lnTo>
                  <a:pt x="6260719" y="2958084"/>
                </a:lnTo>
                <a:lnTo>
                  <a:pt x="6286119" y="0"/>
                </a:lnTo>
                <a:lnTo>
                  <a:pt x="8267192" y="12700"/>
                </a:lnTo>
                <a:lnTo>
                  <a:pt x="8266975" y="63484"/>
                </a:lnTo>
                <a:lnTo>
                  <a:pt x="8266758" y="114268"/>
                </a:lnTo>
                <a:lnTo>
                  <a:pt x="8266541" y="165053"/>
                </a:lnTo>
                <a:lnTo>
                  <a:pt x="8266324" y="215836"/>
                </a:lnTo>
                <a:lnTo>
                  <a:pt x="8266108" y="266620"/>
                </a:lnTo>
                <a:lnTo>
                  <a:pt x="8265891" y="317404"/>
                </a:lnTo>
                <a:lnTo>
                  <a:pt x="8265674" y="368187"/>
                </a:lnTo>
                <a:lnTo>
                  <a:pt x="8265457" y="418970"/>
                </a:lnTo>
                <a:lnTo>
                  <a:pt x="8265240" y="469753"/>
                </a:lnTo>
                <a:lnTo>
                  <a:pt x="8265023" y="520536"/>
                </a:lnTo>
                <a:lnTo>
                  <a:pt x="8264806" y="571319"/>
                </a:lnTo>
                <a:lnTo>
                  <a:pt x="8264589" y="622102"/>
                </a:lnTo>
                <a:lnTo>
                  <a:pt x="8264372" y="672884"/>
                </a:lnTo>
                <a:lnTo>
                  <a:pt x="8264155" y="723666"/>
                </a:lnTo>
                <a:lnTo>
                  <a:pt x="8263938" y="774448"/>
                </a:lnTo>
                <a:lnTo>
                  <a:pt x="8263720" y="825231"/>
                </a:lnTo>
                <a:lnTo>
                  <a:pt x="8263503" y="876013"/>
                </a:lnTo>
                <a:lnTo>
                  <a:pt x="8263286" y="926795"/>
                </a:lnTo>
                <a:lnTo>
                  <a:pt x="8263068" y="977576"/>
                </a:lnTo>
                <a:lnTo>
                  <a:pt x="8262851" y="1028358"/>
                </a:lnTo>
                <a:lnTo>
                  <a:pt x="8262633" y="1079140"/>
                </a:lnTo>
                <a:lnTo>
                  <a:pt x="8262416" y="1129921"/>
                </a:lnTo>
                <a:lnTo>
                  <a:pt x="8262198" y="1180703"/>
                </a:lnTo>
                <a:lnTo>
                  <a:pt x="8261980" y="1231484"/>
                </a:lnTo>
                <a:lnTo>
                  <a:pt x="8261762" y="1282266"/>
                </a:lnTo>
                <a:lnTo>
                  <a:pt x="8261544" y="1333047"/>
                </a:lnTo>
                <a:lnTo>
                  <a:pt x="8261326" y="1383829"/>
                </a:lnTo>
                <a:lnTo>
                  <a:pt x="8261107" y="1434610"/>
                </a:lnTo>
                <a:lnTo>
                  <a:pt x="8260889" y="1485391"/>
                </a:lnTo>
                <a:lnTo>
                  <a:pt x="8260671" y="1536173"/>
                </a:lnTo>
                <a:lnTo>
                  <a:pt x="8260452" y="1586954"/>
                </a:lnTo>
                <a:lnTo>
                  <a:pt x="8260233" y="1637736"/>
                </a:lnTo>
                <a:lnTo>
                  <a:pt x="8260015" y="1688517"/>
                </a:lnTo>
                <a:lnTo>
                  <a:pt x="8259796" y="1739299"/>
                </a:lnTo>
                <a:lnTo>
                  <a:pt x="8259576" y="1790080"/>
                </a:lnTo>
                <a:lnTo>
                  <a:pt x="8259357" y="1840862"/>
                </a:lnTo>
                <a:lnTo>
                  <a:pt x="8259138" y="1891643"/>
                </a:lnTo>
                <a:lnTo>
                  <a:pt x="8258918" y="1942425"/>
                </a:lnTo>
                <a:lnTo>
                  <a:pt x="8258699" y="1993207"/>
                </a:lnTo>
                <a:lnTo>
                  <a:pt x="8258479" y="2043988"/>
                </a:lnTo>
                <a:lnTo>
                  <a:pt x="8258259" y="2094770"/>
                </a:lnTo>
                <a:lnTo>
                  <a:pt x="8258039" y="2145552"/>
                </a:lnTo>
                <a:lnTo>
                  <a:pt x="8257818" y="2196335"/>
                </a:lnTo>
                <a:lnTo>
                  <a:pt x="8257598" y="2247117"/>
                </a:lnTo>
                <a:lnTo>
                  <a:pt x="8257377" y="2297899"/>
                </a:lnTo>
                <a:lnTo>
                  <a:pt x="8257156" y="2348681"/>
                </a:lnTo>
                <a:lnTo>
                  <a:pt x="8256935" y="2399464"/>
                </a:lnTo>
                <a:lnTo>
                  <a:pt x="8256714" y="2450247"/>
                </a:lnTo>
                <a:lnTo>
                  <a:pt x="8256493" y="2501030"/>
                </a:lnTo>
                <a:lnTo>
                  <a:pt x="8256271" y="2551813"/>
                </a:lnTo>
                <a:lnTo>
                  <a:pt x="8256050" y="2602596"/>
                </a:lnTo>
                <a:lnTo>
                  <a:pt x="8255828" y="2653379"/>
                </a:lnTo>
                <a:lnTo>
                  <a:pt x="8255605" y="2704163"/>
                </a:lnTo>
                <a:lnTo>
                  <a:pt x="8255383" y="2754947"/>
                </a:lnTo>
                <a:lnTo>
                  <a:pt x="8255161" y="2805730"/>
                </a:lnTo>
                <a:lnTo>
                  <a:pt x="8254938" y="2856515"/>
                </a:lnTo>
                <a:lnTo>
                  <a:pt x="8254715" y="2907299"/>
                </a:lnTo>
                <a:lnTo>
                  <a:pt x="8254492" y="2958084"/>
                </a:lnTo>
                <a:lnTo>
                  <a:pt x="8927592" y="2958084"/>
                </a:lnTo>
              </a:path>
            </a:pathLst>
          </a:custGeom>
          <a:noFill/>
          <a:ln cap="flat" cmpd="sng" w="47625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15" name="Google Shape;215;p29"/>
          <p:cNvSpPr txBox="1"/>
          <p:nvPr/>
        </p:nvSpPr>
        <p:spPr>
          <a:xfrm>
            <a:off x="4288727" y="3575361"/>
            <a:ext cx="583882" cy="731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Used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rPr>
              <a:t>Time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16" name="Google Shape;216;p29"/>
          <p:cNvGrpSpPr/>
          <p:nvPr/>
        </p:nvGrpSpPr>
        <p:grpSpPr>
          <a:xfrm>
            <a:off x="1428750" y="1648206"/>
            <a:ext cx="6696647" cy="2179796"/>
            <a:chOff x="1905000" y="2197608"/>
            <a:chExt cx="8928862" cy="2906395"/>
          </a:xfrm>
        </p:grpSpPr>
        <p:sp>
          <p:nvSpPr>
            <p:cNvPr id="217" name="Google Shape;217;p29"/>
            <p:cNvSpPr/>
            <p:nvPr/>
          </p:nvSpPr>
          <p:spPr>
            <a:xfrm>
              <a:off x="1905762" y="2198370"/>
              <a:ext cx="8928100" cy="0"/>
            </a:xfrm>
            <a:custGeom>
              <a:rect b="b" l="l" r="r" t="t"/>
              <a:pathLst>
                <a:path extrusionOk="0" h="120000" w="8928100">
                  <a:moveTo>
                    <a:pt x="0" y="0"/>
                  </a:moveTo>
                  <a:lnTo>
                    <a:pt x="8928100" y="0"/>
                  </a:lnTo>
                </a:path>
              </a:pathLst>
            </a:custGeom>
            <a:noFill/>
            <a:ln cap="flat" cmpd="sng" w="31750">
              <a:solidFill>
                <a:srgbClr val="6F2F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218" name="Google Shape;218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05000" y="2197608"/>
              <a:ext cx="6274308" cy="29062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29"/>
            <p:cNvSpPr/>
            <p:nvPr/>
          </p:nvSpPr>
          <p:spPr>
            <a:xfrm>
              <a:off x="1905000" y="2197608"/>
              <a:ext cx="6274435" cy="2906395"/>
            </a:xfrm>
            <a:custGeom>
              <a:rect b="b" l="l" r="r" t="t"/>
              <a:pathLst>
                <a:path extrusionOk="0" h="2906395" w="6274434">
                  <a:moveTo>
                    <a:pt x="0" y="2906268"/>
                  </a:moveTo>
                  <a:lnTo>
                    <a:pt x="6274308" y="2906268"/>
                  </a:lnTo>
                  <a:lnTo>
                    <a:pt x="6274308" y="0"/>
                  </a:lnTo>
                  <a:lnTo>
                    <a:pt x="0" y="0"/>
                  </a:lnTo>
                  <a:lnTo>
                    <a:pt x="0" y="2906268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220" name="Google Shape;220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94035" y="2197608"/>
              <a:ext cx="638555" cy="29062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29"/>
            <p:cNvSpPr/>
            <p:nvPr/>
          </p:nvSpPr>
          <p:spPr>
            <a:xfrm>
              <a:off x="10194035" y="2197608"/>
              <a:ext cx="638810" cy="2906395"/>
            </a:xfrm>
            <a:custGeom>
              <a:rect b="b" l="l" r="r" t="t"/>
              <a:pathLst>
                <a:path extrusionOk="0" h="2906395" w="638809">
                  <a:moveTo>
                    <a:pt x="0" y="2906268"/>
                  </a:moveTo>
                  <a:lnTo>
                    <a:pt x="638555" y="2906268"/>
                  </a:lnTo>
                  <a:lnTo>
                    <a:pt x="638555" y="0"/>
                  </a:lnTo>
                  <a:lnTo>
                    <a:pt x="0" y="0"/>
                  </a:lnTo>
                  <a:lnTo>
                    <a:pt x="0" y="2906268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222" name="Google Shape;222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88436" y="3267456"/>
              <a:ext cx="3798569" cy="7078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" name="Google Shape;223;p29"/>
          <p:cNvSpPr txBox="1"/>
          <p:nvPr/>
        </p:nvSpPr>
        <p:spPr>
          <a:xfrm>
            <a:off x="4402931" y="1374838"/>
            <a:ext cx="562451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F2F9F"/>
                </a:solidFill>
                <a:latin typeface="Lucida Sans"/>
                <a:ea typeface="Lucida Sans"/>
                <a:cs typeface="Lucida Sans"/>
                <a:sym typeface="Lucida Sans"/>
              </a:rPr>
              <a:t>Bought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2686050" y="2474690"/>
            <a:ext cx="247411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Wasted Money</a:t>
            </a:r>
            <a:endParaRPr sz="30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0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the cloud…</a:t>
            </a:r>
            <a:endParaRPr/>
          </a:p>
        </p:txBody>
      </p:sp>
      <p:sp>
        <p:nvSpPr>
          <p:cNvPr id="231" name="Google Shape;231;p30"/>
          <p:cNvSpPr txBox="1"/>
          <p:nvPr/>
        </p:nvSpPr>
        <p:spPr>
          <a:xfrm>
            <a:off x="497966" y="1310639"/>
            <a:ext cx="4446270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If you needed a server, you had to: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Buy it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Install it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Maintain it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Replace it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Have an IT team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/>
          <p:nvPr/>
        </p:nvSpPr>
        <p:spPr>
          <a:xfrm>
            <a:off x="1143571" y="1143571"/>
            <a:ext cx="6991350" cy="3076575"/>
          </a:xfrm>
          <a:custGeom>
            <a:rect b="b" l="l" r="r" t="t"/>
            <a:pathLst>
              <a:path extrusionOk="0" h="4102100" w="9321800">
                <a:moveTo>
                  <a:pt x="9321800" y="3886200"/>
                </a:moveTo>
                <a:lnTo>
                  <a:pt x="9296400" y="3873500"/>
                </a:lnTo>
                <a:lnTo>
                  <a:pt x="9245600" y="3848100"/>
                </a:lnTo>
                <a:lnTo>
                  <a:pt x="9245600" y="3873500"/>
                </a:lnTo>
                <a:lnTo>
                  <a:pt x="393700" y="3873500"/>
                </a:lnTo>
                <a:lnTo>
                  <a:pt x="393700" y="76200"/>
                </a:lnTo>
                <a:lnTo>
                  <a:pt x="419100" y="76200"/>
                </a:lnTo>
                <a:lnTo>
                  <a:pt x="412750" y="63500"/>
                </a:lnTo>
                <a:lnTo>
                  <a:pt x="381000" y="0"/>
                </a:lnTo>
                <a:lnTo>
                  <a:pt x="342900" y="76200"/>
                </a:lnTo>
                <a:lnTo>
                  <a:pt x="368300" y="76200"/>
                </a:lnTo>
                <a:lnTo>
                  <a:pt x="368300" y="3873500"/>
                </a:lnTo>
                <a:lnTo>
                  <a:pt x="0" y="3873500"/>
                </a:lnTo>
                <a:lnTo>
                  <a:pt x="0" y="3898900"/>
                </a:lnTo>
                <a:lnTo>
                  <a:pt x="368300" y="3898900"/>
                </a:lnTo>
                <a:lnTo>
                  <a:pt x="368300" y="4102100"/>
                </a:lnTo>
                <a:lnTo>
                  <a:pt x="393700" y="4102100"/>
                </a:lnTo>
                <a:lnTo>
                  <a:pt x="393700" y="3898900"/>
                </a:lnTo>
                <a:lnTo>
                  <a:pt x="9245600" y="3898900"/>
                </a:lnTo>
                <a:lnTo>
                  <a:pt x="9245600" y="3924300"/>
                </a:lnTo>
                <a:lnTo>
                  <a:pt x="9296400" y="3898900"/>
                </a:lnTo>
                <a:lnTo>
                  <a:pt x="9321800" y="3886200"/>
                </a:lnTo>
                <a:close/>
              </a:path>
            </a:pathLst>
          </a:custGeom>
          <a:solidFill>
            <a:srgbClr val="53270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37" name="Google Shape;237;p31"/>
          <p:cNvSpPr txBox="1"/>
          <p:nvPr/>
        </p:nvSpPr>
        <p:spPr>
          <a:xfrm>
            <a:off x="882014" y="2099120"/>
            <a:ext cx="508635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rPr>
              <a:t>% CPU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38" name="Google Shape;238;p31"/>
          <p:cNvSpPr/>
          <p:nvPr/>
        </p:nvSpPr>
        <p:spPr>
          <a:xfrm>
            <a:off x="1429321" y="1648778"/>
            <a:ext cx="6696075" cy="2218849"/>
          </a:xfrm>
          <a:custGeom>
            <a:rect b="b" l="l" r="r" t="t"/>
            <a:pathLst>
              <a:path extrusionOk="0" h="2958465" w="8928100">
                <a:moveTo>
                  <a:pt x="0" y="2919984"/>
                </a:moveTo>
                <a:lnTo>
                  <a:pt x="6260719" y="2958084"/>
                </a:lnTo>
                <a:lnTo>
                  <a:pt x="6286119" y="0"/>
                </a:lnTo>
                <a:lnTo>
                  <a:pt x="8267192" y="12700"/>
                </a:lnTo>
                <a:lnTo>
                  <a:pt x="8266975" y="63484"/>
                </a:lnTo>
                <a:lnTo>
                  <a:pt x="8266758" y="114268"/>
                </a:lnTo>
                <a:lnTo>
                  <a:pt x="8266541" y="165053"/>
                </a:lnTo>
                <a:lnTo>
                  <a:pt x="8266324" y="215836"/>
                </a:lnTo>
                <a:lnTo>
                  <a:pt x="8266108" y="266620"/>
                </a:lnTo>
                <a:lnTo>
                  <a:pt x="8265891" y="317404"/>
                </a:lnTo>
                <a:lnTo>
                  <a:pt x="8265674" y="368187"/>
                </a:lnTo>
                <a:lnTo>
                  <a:pt x="8265457" y="418970"/>
                </a:lnTo>
                <a:lnTo>
                  <a:pt x="8265240" y="469753"/>
                </a:lnTo>
                <a:lnTo>
                  <a:pt x="8265023" y="520536"/>
                </a:lnTo>
                <a:lnTo>
                  <a:pt x="8264806" y="571319"/>
                </a:lnTo>
                <a:lnTo>
                  <a:pt x="8264589" y="622102"/>
                </a:lnTo>
                <a:lnTo>
                  <a:pt x="8264372" y="672884"/>
                </a:lnTo>
                <a:lnTo>
                  <a:pt x="8264155" y="723666"/>
                </a:lnTo>
                <a:lnTo>
                  <a:pt x="8263938" y="774448"/>
                </a:lnTo>
                <a:lnTo>
                  <a:pt x="8263720" y="825231"/>
                </a:lnTo>
                <a:lnTo>
                  <a:pt x="8263503" y="876013"/>
                </a:lnTo>
                <a:lnTo>
                  <a:pt x="8263286" y="926795"/>
                </a:lnTo>
                <a:lnTo>
                  <a:pt x="8263068" y="977576"/>
                </a:lnTo>
                <a:lnTo>
                  <a:pt x="8262851" y="1028358"/>
                </a:lnTo>
                <a:lnTo>
                  <a:pt x="8262633" y="1079140"/>
                </a:lnTo>
                <a:lnTo>
                  <a:pt x="8262416" y="1129921"/>
                </a:lnTo>
                <a:lnTo>
                  <a:pt x="8262198" y="1180703"/>
                </a:lnTo>
                <a:lnTo>
                  <a:pt x="8261980" y="1231484"/>
                </a:lnTo>
                <a:lnTo>
                  <a:pt x="8261762" y="1282266"/>
                </a:lnTo>
                <a:lnTo>
                  <a:pt x="8261544" y="1333047"/>
                </a:lnTo>
                <a:lnTo>
                  <a:pt x="8261326" y="1383829"/>
                </a:lnTo>
                <a:lnTo>
                  <a:pt x="8261107" y="1434610"/>
                </a:lnTo>
                <a:lnTo>
                  <a:pt x="8260889" y="1485391"/>
                </a:lnTo>
                <a:lnTo>
                  <a:pt x="8260671" y="1536173"/>
                </a:lnTo>
                <a:lnTo>
                  <a:pt x="8260452" y="1586954"/>
                </a:lnTo>
                <a:lnTo>
                  <a:pt x="8260233" y="1637736"/>
                </a:lnTo>
                <a:lnTo>
                  <a:pt x="8260015" y="1688517"/>
                </a:lnTo>
                <a:lnTo>
                  <a:pt x="8259796" y="1739299"/>
                </a:lnTo>
                <a:lnTo>
                  <a:pt x="8259576" y="1790080"/>
                </a:lnTo>
                <a:lnTo>
                  <a:pt x="8259357" y="1840862"/>
                </a:lnTo>
                <a:lnTo>
                  <a:pt x="8259138" y="1891643"/>
                </a:lnTo>
                <a:lnTo>
                  <a:pt x="8258918" y="1942425"/>
                </a:lnTo>
                <a:lnTo>
                  <a:pt x="8258699" y="1993207"/>
                </a:lnTo>
                <a:lnTo>
                  <a:pt x="8258479" y="2043988"/>
                </a:lnTo>
                <a:lnTo>
                  <a:pt x="8258259" y="2094770"/>
                </a:lnTo>
                <a:lnTo>
                  <a:pt x="8258039" y="2145552"/>
                </a:lnTo>
                <a:lnTo>
                  <a:pt x="8257818" y="2196335"/>
                </a:lnTo>
                <a:lnTo>
                  <a:pt x="8257598" y="2247117"/>
                </a:lnTo>
                <a:lnTo>
                  <a:pt x="8257377" y="2297899"/>
                </a:lnTo>
                <a:lnTo>
                  <a:pt x="8257156" y="2348681"/>
                </a:lnTo>
                <a:lnTo>
                  <a:pt x="8256935" y="2399464"/>
                </a:lnTo>
                <a:lnTo>
                  <a:pt x="8256714" y="2450247"/>
                </a:lnTo>
                <a:lnTo>
                  <a:pt x="8256493" y="2501030"/>
                </a:lnTo>
                <a:lnTo>
                  <a:pt x="8256271" y="2551813"/>
                </a:lnTo>
                <a:lnTo>
                  <a:pt x="8256050" y="2602596"/>
                </a:lnTo>
                <a:lnTo>
                  <a:pt x="8255828" y="2653379"/>
                </a:lnTo>
                <a:lnTo>
                  <a:pt x="8255605" y="2704163"/>
                </a:lnTo>
                <a:lnTo>
                  <a:pt x="8255383" y="2754947"/>
                </a:lnTo>
                <a:lnTo>
                  <a:pt x="8255161" y="2805730"/>
                </a:lnTo>
                <a:lnTo>
                  <a:pt x="8254938" y="2856515"/>
                </a:lnTo>
                <a:lnTo>
                  <a:pt x="8254715" y="2907299"/>
                </a:lnTo>
                <a:lnTo>
                  <a:pt x="8254492" y="2958084"/>
                </a:lnTo>
                <a:lnTo>
                  <a:pt x="8927592" y="2958084"/>
                </a:lnTo>
              </a:path>
            </a:pathLst>
          </a:custGeom>
          <a:noFill/>
          <a:ln cap="flat" cmpd="sng" w="47625">
            <a:solidFill>
              <a:srgbClr val="6FA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39" name="Google Shape;239;p31"/>
          <p:cNvSpPr txBox="1"/>
          <p:nvPr/>
        </p:nvSpPr>
        <p:spPr>
          <a:xfrm>
            <a:off x="4288727" y="3575361"/>
            <a:ext cx="583882" cy="731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Used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rPr>
              <a:t>Time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40" name="Google Shape;240;p31"/>
          <p:cNvGrpSpPr/>
          <p:nvPr/>
        </p:nvGrpSpPr>
        <p:grpSpPr>
          <a:xfrm>
            <a:off x="1428750" y="1648206"/>
            <a:ext cx="6696647" cy="2179796"/>
            <a:chOff x="1905000" y="2197608"/>
            <a:chExt cx="8928862" cy="2906395"/>
          </a:xfrm>
        </p:grpSpPr>
        <p:sp>
          <p:nvSpPr>
            <p:cNvPr id="241" name="Google Shape;241;p31"/>
            <p:cNvSpPr/>
            <p:nvPr/>
          </p:nvSpPr>
          <p:spPr>
            <a:xfrm>
              <a:off x="1905762" y="2198370"/>
              <a:ext cx="8928100" cy="0"/>
            </a:xfrm>
            <a:custGeom>
              <a:rect b="b" l="l" r="r" t="t"/>
              <a:pathLst>
                <a:path extrusionOk="0" h="120000" w="8928100">
                  <a:moveTo>
                    <a:pt x="0" y="0"/>
                  </a:moveTo>
                  <a:lnTo>
                    <a:pt x="8928100" y="0"/>
                  </a:lnTo>
                </a:path>
              </a:pathLst>
            </a:custGeom>
            <a:noFill/>
            <a:ln cap="flat" cmpd="sng" w="31750">
              <a:solidFill>
                <a:srgbClr val="6F2F9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242" name="Google Shape;242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05000" y="2197608"/>
              <a:ext cx="6274308" cy="29062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31"/>
            <p:cNvSpPr/>
            <p:nvPr/>
          </p:nvSpPr>
          <p:spPr>
            <a:xfrm>
              <a:off x="1905000" y="2197608"/>
              <a:ext cx="6274435" cy="2906395"/>
            </a:xfrm>
            <a:custGeom>
              <a:rect b="b" l="l" r="r" t="t"/>
              <a:pathLst>
                <a:path extrusionOk="0" h="2906395" w="6274434">
                  <a:moveTo>
                    <a:pt x="0" y="2906268"/>
                  </a:moveTo>
                  <a:lnTo>
                    <a:pt x="6274308" y="2906268"/>
                  </a:lnTo>
                  <a:lnTo>
                    <a:pt x="6274308" y="0"/>
                  </a:lnTo>
                  <a:lnTo>
                    <a:pt x="0" y="0"/>
                  </a:lnTo>
                  <a:lnTo>
                    <a:pt x="0" y="2906268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244" name="Google Shape;244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94035" y="2197608"/>
              <a:ext cx="638555" cy="29062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31"/>
            <p:cNvSpPr/>
            <p:nvPr/>
          </p:nvSpPr>
          <p:spPr>
            <a:xfrm>
              <a:off x="10194035" y="2197608"/>
              <a:ext cx="638810" cy="2906395"/>
            </a:xfrm>
            <a:custGeom>
              <a:rect b="b" l="l" r="r" t="t"/>
              <a:pathLst>
                <a:path extrusionOk="0" h="2906395" w="638809">
                  <a:moveTo>
                    <a:pt x="0" y="2906268"/>
                  </a:moveTo>
                  <a:lnTo>
                    <a:pt x="638555" y="2906268"/>
                  </a:lnTo>
                  <a:lnTo>
                    <a:pt x="638555" y="0"/>
                  </a:lnTo>
                  <a:lnTo>
                    <a:pt x="0" y="0"/>
                  </a:lnTo>
                  <a:lnTo>
                    <a:pt x="0" y="2906268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246" name="Google Shape;246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88436" y="3267456"/>
              <a:ext cx="3798569" cy="7078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7" name="Google Shape;247;p31"/>
          <p:cNvSpPr txBox="1"/>
          <p:nvPr/>
        </p:nvSpPr>
        <p:spPr>
          <a:xfrm>
            <a:off x="4402931" y="1374838"/>
            <a:ext cx="562451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F2F9F"/>
                </a:solidFill>
                <a:latin typeface="Lucida Sans"/>
                <a:ea typeface="Lucida Sans"/>
                <a:cs typeface="Lucida Sans"/>
                <a:sym typeface="Lucida Sans"/>
              </a:rPr>
              <a:t>Bought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2686050" y="2474690"/>
            <a:ext cx="247411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Wasted Money</a:t>
            </a:r>
            <a:endParaRPr sz="30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32"/>
          <p:cNvGrpSpPr/>
          <p:nvPr/>
        </p:nvGrpSpPr>
        <p:grpSpPr>
          <a:xfrm>
            <a:off x="0" y="0"/>
            <a:ext cx="9144000" cy="5143499"/>
            <a:chOff x="0" y="0"/>
            <a:chExt cx="12192000" cy="6857998"/>
          </a:xfrm>
        </p:grpSpPr>
        <p:pic>
          <p:nvPicPr>
            <p:cNvPr id="254" name="Google Shape;254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7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1668" y="1229867"/>
              <a:ext cx="11316462" cy="41978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6" name="Google Shape;256;p32"/>
          <p:cNvSpPr txBox="1"/>
          <p:nvPr>
            <p:ph type="title"/>
          </p:nvPr>
        </p:nvSpPr>
        <p:spPr>
          <a:xfrm>
            <a:off x="497966" y="1310639"/>
            <a:ext cx="1250156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The Cloud: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904875" y="1992513"/>
            <a:ext cx="766191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Compute, Networking, Storage and other services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100"/>
              </a:spcBef>
              <a:spcAft>
                <a:spcPts val="0"/>
              </a:spcAft>
              <a:buNone/>
            </a:pPr>
            <a:r>
              <a:rPr lang="en"/>
              <a:t>Managed by SOMEONE ELSE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3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Providers</a:t>
            </a:r>
            <a:endParaRPr/>
          </a:p>
        </p:txBody>
      </p:sp>
      <p:sp>
        <p:nvSpPr>
          <p:cNvPr id="264" name="Google Shape;264;p33"/>
          <p:cNvSpPr txBox="1"/>
          <p:nvPr/>
        </p:nvSpPr>
        <p:spPr>
          <a:xfrm>
            <a:off x="497966" y="1310639"/>
            <a:ext cx="6809423" cy="2259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Companies who build huge data centers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Fill it with servers, networking, cooling, electricity etc.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Design and install various services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Make it publicly accessible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4"/>
          <p:cNvSpPr txBox="1"/>
          <p:nvPr>
            <p:ph type="title"/>
          </p:nvPr>
        </p:nvSpPr>
        <p:spPr>
          <a:xfrm>
            <a:off x="158039" y="78961"/>
            <a:ext cx="2555557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Center</a:t>
            </a:r>
            <a:endParaRPr/>
          </a:p>
        </p:txBody>
      </p:sp>
      <p:pic>
        <p:nvPicPr>
          <p:cNvPr id="271" name="Google Shape;27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2143" y="1025270"/>
            <a:ext cx="6769989" cy="380733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4"/>
          <p:cNvSpPr txBox="1"/>
          <p:nvPr/>
        </p:nvSpPr>
        <p:spPr>
          <a:xfrm>
            <a:off x="2983516" y="4846167"/>
            <a:ext cx="2980372" cy="225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Microsoft Azure Datacenter in Washington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>
            <p:ph type="ctrTitle"/>
          </p:nvPr>
        </p:nvSpPr>
        <p:spPr>
          <a:xfrm>
            <a:off x="158039" y="78961"/>
            <a:ext cx="2555557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Center</a:t>
            </a:r>
            <a:endParaRPr/>
          </a:p>
        </p:txBody>
      </p:sp>
      <p:sp>
        <p:nvSpPr>
          <p:cNvPr id="278" name="Google Shape;278;p35"/>
          <p:cNvSpPr txBox="1"/>
          <p:nvPr/>
        </p:nvSpPr>
        <p:spPr>
          <a:xfrm>
            <a:off x="2983516" y="4846167"/>
            <a:ext cx="3305175" cy="225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Microsoft Azure Datacenter in The Netherlands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9" name="Google Shape;279;p35"/>
          <p:cNvGrpSpPr/>
          <p:nvPr/>
        </p:nvGrpSpPr>
        <p:grpSpPr>
          <a:xfrm>
            <a:off x="293751" y="1267587"/>
            <a:ext cx="8487347" cy="3565017"/>
            <a:chOff x="391668" y="1690116"/>
            <a:chExt cx="11316462" cy="4753356"/>
          </a:xfrm>
        </p:grpSpPr>
        <p:pic>
          <p:nvPicPr>
            <p:cNvPr id="280" name="Google Shape;280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9092" y="1690116"/>
              <a:ext cx="8648700" cy="47533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1668" y="2932176"/>
              <a:ext cx="11316462" cy="2495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2" name="Google Shape;282;p35"/>
          <p:cNvSpPr txBox="1"/>
          <p:nvPr/>
        </p:nvSpPr>
        <p:spPr>
          <a:xfrm>
            <a:off x="1699070" y="2779138"/>
            <a:ext cx="5679281" cy="452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900">
                <a:latin typeface="Lucida Sans"/>
                <a:ea typeface="Lucida Sans"/>
                <a:cs typeface="Lucida Sans"/>
                <a:sym typeface="Lucida Sans"/>
              </a:rPr>
              <a:t>~100Ks physical servers / datacenter</a:t>
            </a:r>
            <a:endParaRPr sz="29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6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Services</a:t>
            </a:r>
            <a:endParaRPr/>
          </a:p>
        </p:txBody>
      </p:sp>
      <p:sp>
        <p:nvSpPr>
          <p:cNvPr id="289" name="Google Shape;289;p36"/>
          <p:cNvSpPr txBox="1"/>
          <p:nvPr/>
        </p:nvSpPr>
        <p:spPr>
          <a:xfrm>
            <a:off x="497966" y="1310639"/>
            <a:ext cx="5760719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Clouds are huge and the competition is fierce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Offer a lot of additional services: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AI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IOT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Kubernetes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And lots more…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7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cloud era…</a:t>
            </a:r>
            <a:endParaRPr/>
          </a:p>
        </p:txBody>
      </p:sp>
      <p:sp>
        <p:nvSpPr>
          <p:cNvPr id="296" name="Google Shape;296;p37"/>
          <p:cNvSpPr txBox="1"/>
          <p:nvPr/>
        </p:nvSpPr>
        <p:spPr>
          <a:xfrm>
            <a:off x="497966" y="1310639"/>
            <a:ext cx="7256145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If you need a server, you can: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Create it in the cloud within minutes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Use it as you wish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Pay for what you use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Shut it down when not needed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Automatically maintained, patched, secured, monitored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38"/>
          <p:cNvGrpSpPr/>
          <p:nvPr/>
        </p:nvGrpSpPr>
        <p:grpSpPr>
          <a:xfrm>
            <a:off x="0" y="0"/>
            <a:ext cx="9144000" cy="5143499"/>
            <a:chOff x="0" y="0"/>
            <a:chExt cx="12192000" cy="6857998"/>
          </a:xfrm>
        </p:grpSpPr>
        <p:pic>
          <p:nvPicPr>
            <p:cNvPr id="302" name="Google Shape;302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7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1668" y="1229867"/>
              <a:ext cx="11316462" cy="41978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4" name="Google Shape;304;p38"/>
          <p:cNvSpPr txBox="1"/>
          <p:nvPr>
            <p:ph type="title"/>
          </p:nvPr>
        </p:nvSpPr>
        <p:spPr>
          <a:xfrm>
            <a:off x="497966" y="1310639"/>
            <a:ext cx="1250156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100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The Cloud: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904875" y="1992513"/>
            <a:ext cx="766191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Compute, Networking, Storage and other services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100"/>
              </a:spcBef>
              <a:spcAft>
                <a:spcPts val="0"/>
              </a:spcAft>
              <a:buNone/>
            </a:pPr>
            <a:r>
              <a:rPr lang="en"/>
              <a:t>Managed by SOMEONE ELSE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9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 Characteristics of Cloud Computing</a:t>
            </a:r>
            <a:endParaRPr/>
          </a:p>
        </p:txBody>
      </p:sp>
      <p:sp>
        <p:nvSpPr>
          <p:cNvPr id="312" name="Google Shape;312;p39"/>
          <p:cNvSpPr txBox="1"/>
          <p:nvPr/>
        </p:nvSpPr>
        <p:spPr>
          <a:xfrm>
            <a:off x="1789937" y="1189862"/>
            <a:ext cx="5125402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3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On-Demand Self Service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9"/>
          <p:cNvSpPr txBox="1"/>
          <p:nvPr/>
        </p:nvSpPr>
        <p:spPr>
          <a:xfrm>
            <a:off x="1789937" y="1989962"/>
            <a:ext cx="5125402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Broad Network Access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9"/>
          <p:cNvSpPr txBox="1"/>
          <p:nvPr/>
        </p:nvSpPr>
        <p:spPr>
          <a:xfrm>
            <a:off x="1789937" y="2790063"/>
            <a:ext cx="5125402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 Pooling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9"/>
          <p:cNvSpPr txBox="1"/>
          <p:nvPr/>
        </p:nvSpPr>
        <p:spPr>
          <a:xfrm>
            <a:off x="1789937" y="3590163"/>
            <a:ext cx="5125402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47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Rapid Elasticity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9"/>
          <p:cNvSpPr txBox="1"/>
          <p:nvPr/>
        </p:nvSpPr>
        <p:spPr>
          <a:xfrm>
            <a:off x="1789937" y="4390263"/>
            <a:ext cx="5125402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52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Measured Service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/>
          <p:nvPr>
            <p:ph type="title"/>
          </p:nvPr>
        </p:nvSpPr>
        <p:spPr>
          <a:xfrm>
            <a:off x="1789937" y="237743"/>
            <a:ext cx="5125402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On-Demand Self Service</a:t>
            </a:r>
            <a:endParaRPr sz="2000"/>
          </a:p>
        </p:txBody>
      </p:sp>
      <p:sp>
        <p:nvSpPr>
          <p:cNvPr id="322" name="Google Shape;322;p40"/>
          <p:cNvSpPr txBox="1"/>
          <p:nvPr/>
        </p:nvSpPr>
        <p:spPr>
          <a:xfrm>
            <a:off x="497966" y="1310639"/>
            <a:ext cx="7739539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No human interaction is needed for resource provisioning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Resource can be provisioned (created) with a click of a button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Provisioning is available 24/7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 txBox="1"/>
          <p:nvPr>
            <p:ph type="title"/>
          </p:nvPr>
        </p:nvSpPr>
        <p:spPr>
          <a:xfrm>
            <a:off x="1789937" y="237743"/>
            <a:ext cx="5125402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Broad Network Access</a:t>
            </a:r>
            <a:endParaRPr sz="2000"/>
          </a:p>
        </p:txBody>
      </p:sp>
      <p:sp>
        <p:nvSpPr>
          <p:cNvPr id="328" name="Google Shape;328;p41"/>
          <p:cNvSpPr txBox="1"/>
          <p:nvPr/>
        </p:nvSpPr>
        <p:spPr>
          <a:xfrm>
            <a:off x="497966" y="1310639"/>
            <a:ext cx="7791926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Resources can be accessed from anywhere using the network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Ideally high broadband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No physical access is required at any time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2"/>
          <p:cNvSpPr txBox="1"/>
          <p:nvPr/>
        </p:nvSpPr>
        <p:spPr>
          <a:xfrm>
            <a:off x="1789937" y="237743"/>
            <a:ext cx="5125402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 Pooling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2"/>
          <p:cNvSpPr txBox="1"/>
          <p:nvPr/>
        </p:nvSpPr>
        <p:spPr>
          <a:xfrm>
            <a:off x="497966" y="1310639"/>
            <a:ext cx="8185785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Physical resources are shared between customers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marR="0" rtl="0" algn="l">
              <a:lnSpc>
                <a:spcPct val="24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cloud’s backbone decides which physical resource to allocate for a customer’s virtual services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marR="812800" rtl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Some advanced cloud services allow for physical resource separation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 txBox="1"/>
          <p:nvPr>
            <p:ph type="title"/>
          </p:nvPr>
        </p:nvSpPr>
        <p:spPr>
          <a:xfrm>
            <a:off x="1789937" y="237743"/>
            <a:ext cx="5125402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</a:rPr>
              <a:t>Rapid Elasticity</a:t>
            </a:r>
            <a:endParaRPr sz="2000"/>
          </a:p>
        </p:txBody>
      </p:sp>
      <p:sp>
        <p:nvSpPr>
          <p:cNvPr id="340" name="Google Shape;340;p43"/>
          <p:cNvSpPr txBox="1"/>
          <p:nvPr/>
        </p:nvSpPr>
        <p:spPr>
          <a:xfrm>
            <a:off x="497966" y="1310639"/>
            <a:ext cx="7953851" cy="979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Resources can be scaled up and down as needed, automatically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No need to purchase resources for a one-time peak scenario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4"/>
          <p:cNvSpPr txBox="1"/>
          <p:nvPr/>
        </p:nvSpPr>
        <p:spPr>
          <a:xfrm>
            <a:off x="1789937" y="237743"/>
            <a:ext cx="5125402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Measured Service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4"/>
          <p:cNvSpPr txBox="1"/>
          <p:nvPr/>
        </p:nvSpPr>
        <p:spPr>
          <a:xfrm>
            <a:off x="497966" y="1310639"/>
            <a:ext cx="6260306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Payment is done only for resources actually used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Server time / DB storage / Function calls etc.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Measurement usually done in high-resolution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Server time by the second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No need to invest money in non-used resources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 txBox="1"/>
          <p:nvPr>
            <p:ph type="title"/>
          </p:nvPr>
        </p:nvSpPr>
        <p:spPr>
          <a:xfrm>
            <a:off x="1275587" y="1018412"/>
            <a:ext cx="2048351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CapEx</a:t>
            </a:r>
            <a:endParaRPr sz="2600"/>
          </a:p>
        </p:txBody>
      </p:sp>
      <p:sp>
        <p:nvSpPr>
          <p:cNvPr id="352" name="Google Shape;352;p45"/>
          <p:cNvSpPr txBox="1"/>
          <p:nvPr/>
        </p:nvSpPr>
        <p:spPr>
          <a:xfrm>
            <a:off x="5820155" y="1018412"/>
            <a:ext cx="2048351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647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OpEx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5"/>
          <p:cNvSpPr txBox="1"/>
          <p:nvPr/>
        </p:nvSpPr>
        <p:spPr>
          <a:xfrm>
            <a:off x="1282731" y="1708880"/>
            <a:ext cx="2007870" cy="16159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Capital Expense</a:t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700">
                <a:latin typeface="Lucida Sans"/>
                <a:ea typeface="Lucida Sans"/>
                <a:cs typeface="Lucida Sans"/>
                <a:sym typeface="Lucida Sans"/>
              </a:rPr>
              <a:t>Making upfront investment for future use / profit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54" name="Google Shape;354;p45"/>
          <p:cNvSpPr txBox="1"/>
          <p:nvPr/>
        </p:nvSpPr>
        <p:spPr>
          <a:xfrm>
            <a:off x="5879402" y="1708880"/>
            <a:ext cx="2118360" cy="1238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Operating Expense</a:t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ucida Sans"/>
                <a:ea typeface="Lucida Sans"/>
                <a:cs typeface="Lucida Sans"/>
                <a:sym typeface="Lucida Sans"/>
              </a:rPr>
              <a:t>Pay for what you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Lucida Sans"/>
                <a:ea typeface="Lucida Sans"/>
                <a:cs typeface="Lucida Sans"/>
                <a:sym typeface="Lucida Sans"/>
              </a:rPr>
              <a:t>actually use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6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IT – CapEx Oriented</a:t>
            </a:r>
            <a:endParaRPr/>
          </a:p>
        </p:txBody>
      </p:sp>
      <p:sp>
        <p:nvSpPr>
          <p:cNvPr id="361" name="Google Shape;361;p46"/>
          <p:cNvSpPr txBox="1"/>
          <p:nvPr/>
        </p:nvSpPr>
        <p:spPr>
          <a:xfrm>
            <a:off x="497966" y="1310639"/>
            <a:ext cx="4083844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Major investment for: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Building data center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Purchasing servers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Purchasing air conditioning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Purchasing network devices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62" name="Google Shape;362;p46"/>
          <p:cNvSpPr txBox="1"/>
          <p:nvPr/>
        </p:nvSpPr>
        <p:spPr>
          <a:xfrm>
            <a:off x="840866" y="4511725"/>
            <a:ext cx="4995863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Purchasing software licenses (DB etc.)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63" name="Google Shape;363;p46"/>
          <p:cNvSpPr txBox="1"/>
          <p:nvPr/>
        </p:nvSpPr>
        <p:spPr>
          <a:xfrm>
            <a:off x="5479352" y="1975675"/>
            <a:ext cx="2897505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…And only then – it can be used…</a:t>
            </a:r>
            <a:endParaRPr sz="30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7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IT – CapEx Oriented</a:t>
            </a:r>
            <a:endParaRPr/>
          </a:p>
        </p:txBody>
      </p:sp>
      <p:sp>
        <p:nvSpPr>
          <p:cNvPr id="370" name="Google Shape;370;p47"/>
          <p:cNvSpPr txBox="1"/>
          <p:nvPr/>
        </p:nvSpPr>
        <p:spPr>
          <a:xfrm>
            <a:off x="497966" y="1310639"/>
            <a:ext cx="3610451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There’s also OpEx involved: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Electricity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Salaries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Maintenance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And more…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48"/>
          <p:cNvGrpSpPr/>
          <p:nvPr/>
        </p:nvGrpSpPr>
        <p:grpSpPr>
          <a:xfrm>
            <a:off x="1044131" y="3117532"/>
            <a:ext cx="3567873" cy="884111"/>
            <a:chOff x="1392174" y="4156709"/>
            <a:chExt cx="4757164" cy="1178815"/>
          </a:xfrm>
        </p:grpSpPr>
        <p:pic>
          <p:nvPicPr>
            <p:cNvPr id="376" name="Google Shape;376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23559" y="4541520"/>
              <a:ext cx="525779" cy="7940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48"/>
            <p:cNvSpPr/>
            <p:nvPr/>
          </p:nvSpPr>
          <p:spPr>
            <a:xfrm>
              <a:off x="1392174" y="4156709"/>
              <a:ext cx="4719320" cy="0"/>
            </a:xfrm>
            <a:custGeom>
              <a:rect b="b" l="l" r="r" t="t"/>
              <a:pathLst>
                <a:path extrusionOk="0" h="120000" w="4719320">
                  <a:moveTo>
                    <a:pt x="0" y="0"/>
                  </a:moveTo>
                  <a:lnTo>
                    <a:pt x="567563" y="0"/>
                  </a:lnTo>
                </a:path>
                <a:path extrusionOk="0" h="120000" w="4719320">
                  <a:moveTo>
                    <a:pt x="691895" y="0"/>
                  </a:moveTo>
                  <a:lnTo>
                    <a:pt x="1259458" y="0"/>
                  </a:lnTo>
                </a:path>
                <a:path extrusionOk="0" h="120000" w="4719320">
                  <a:moveTo>
                    <a:pt x="1383792" y="0"/>
                  </a:moveTo>
                  <a:lnTo>
                    <a:pt x="1951354" y="0"/>
                  </a:lnTo>
                </a:path>
                <a:path extrusionOk="0" h="120000" w="4719320">
                  <a:moveTo>
                    <a:pt x="2075688" y="0"/>
                  </a:moveTo>
                  <a:lnTo>
                    <a:pt x="2643251" y="0"/>
                  </a:lnTo>
                </a:path>
                <a:path extrusionOk="0" h="120000" w="4719320">
                  <a:moveTo>
                    <a:pt x="2767584" y="0"/>
                  </a:moveTo>
                  <a:lnTo>
                    <a:pt x="3335147" y="0"/>
                  </a:lnTo>
                </a:path>
                <a:path extrusionOk="0" h="120000" w="4719320">
                  <a:moveTo>
                    <a:pt x="3459479" y="0"/>
                  </a:moveTo>
                  <a:lnTo>
                    <a:pt x="4027042" y="0"/>
                  </a:lnTo>
                </a:path>
                <a:path extrusionOk="0" h="120000" w="4719320">
                  <a:moveTo>
                    <a:pt x="4151376" y="0"/>
                  </a:moveTo>
                  <a:lnTo>
                    <a:pt x="4718939" y="0"/>
                  </a:ln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378" name="Google Shape;378;p48"/>
          <p:cNvSpPr txBox="1"/>
          <p:nvPr/>
        </p:nvSpPr>
        <p:spPr>
          <a:xfrm>
            <a:off x="1127569" y="3127534"/>
            <a:ext cx="3317557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Jan	Feb	Mar	Apr	May	Jun	Jul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8"/>
          <p:cNvSpPr/>
          <p:nvPr/>
        </p:nvSpPr>
        <p:spPr>
          <a:xfrm>
            <a:off x="4676585" y="3117532"/>
            <a:ext cx="1463516" cy="0"/>
          </a:xfrm>
          <a:custGeom>
            <a:rect b="b" l="l" r="r" t="t"/>
            <a:pathLst>
              <a:path extrusionOk="0" h="120000" w="1951354">
                <a:moveTo>
                  <a:pt x="0" y="0"/>
                </a:moveTo>
                <a:lnTo>
                  <a:pt x="567562" y="0"/>
                </a:lnTo>
              </a:path>
              <a:path extrusionOk="0" h="120000" w="1951354">
                <a:moveTo>
                  <a:pt x="691896" y="0"/>
                </a:moveTo>
                <a:lnTo>
                  <a:pt x="1259458" y="0"/>
                </a:lnTo>
              </a:path>
              <a:path extrusionOk="0" h="120000" w="1951354">
                <a:moveTo>
                  <a:pt x="1383792" y="0"/>
                </a:moveTo>
                <a:lnTo>
                  <a:pt x="1951354" y="0"/>
                </a:lnTo>
              </a:path>
            </a:pathLst>
          </a:custGeom>
          <a:noFill/>
          <a:ln cap="flat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0" name="Google Shape;380;p48"/>
          <p:cNvSpPr txBox="1"/>
          <p:nvPr/>
        </p:nvSpPr>
        <p:spPr>
          <a:xfrm>
            <a:off x="4760404" y="3127534"/>
            <a:ext cx="1299686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Aug	Sep	Oct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8"/>
          <p:cNvSpPr/>
          <p:nvPr/>
        </p:nvSpPr>
        <p:spPr>
          <a:xfrm>
            <a:off x="6233350" y="3060382"/>
            <a:ext cx="784383" cy="0"/>
          </a:xfrm>
          <a:custGeom>
            <a:rect b="b" l="l" r="r" t="t"/>
            <a:pathLst>
              <a:path extrusionOk="0" h="120000" w="1045845">
                <a:moveTo>
                  <a:pt x="0" y="0"/>
                </a:moveTo>
                <a:lnTo>
                  <a:pt x="1045464" y="0"/>
                </a:lnTo>
              </a:path>
            </a:pathLst>
          </a:cu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2" name="Google Shape;382;p48"/>
          <p:cNvSpPr txBox="1"/>
          <p:nvPr/>
        </p:nvSpPr>
        <p:spPr>
          <a:xfrm>
            <a:off x="6455282" y="3066954"/>
            <a:ext cx="388619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3" name="Google Shape;383;p48"/>
          <p:cNvGrpSpPr/>
          <p:nvPr/>
        </p:nvGrpSpPr>
        <p:grpSpPr>
          <a:xfrm>
            <a:off x="3815333" y="988695"/>
            <a:ext cx="4097655" cy="3348989"/>
            <a:chOff x="5087111" y="1318260"/>
            <a:chExt cx="5463540" cy="4465319"/>
          </a:xfrm>
        </p:grpSpPr>
        <p:pic>
          <p:nvPicPr>
            <p:cNvPr id="384" name="Google Shape;384;p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02651" y="1318260"/>
              <a:ext cx="3048000" cy="1714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" name="Google Shape;385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78067" y="4693919"/>
              <a:ext cx="525779" cy="7940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84391" y="4840224"/>
              <a:ext cx="525780" cy="7940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12051" y="4989575"/>
              <a:ext cx="525779" cy="7940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48"/>
            <p:cNvSpPr/>
            <p:nvPr/>
          </p:nvSpPr>
          <p:spPr>
            <a:xfrm>
              <a:off x="5087111" y="4515611"/>
              <a:ext cx="425450" cy="1242060"/>
            </a:xfrm>
            <a:custGeom>
              <a:rect b="b" l="l" r="r" t="t"/>
              <a:pathLst>
                <a:path extrusionOk="0" h="1242060" w="425450">
                  <a:moveTo>
                    <a:pt x="425196" y="1242060"/>
                  </a:moveTo>
                  <a:lnTo>
                    <a:pt x="368658" y="1236251"/>
                  </a:lnTo>
                  <a:lnTo>
                    <a:pt x="317866" y="1219860"/>
                  </a:lnTo>
                  <a:lnTo>
                    <a:pt x="274843" y="1194436"/>
                  </a:lnTo>
                  <a:lnTo>
                    <a:pt x="241610" y="1161528"/>
                  </a:lnTo>
                  <a:lnTo>
                    <a:pt x="220188" y="1122687"/>
                  </a:lnTo>
                  <a:lnTo>
                    <a:pt x="212598" y="1079461"/>
                  </a:lnTo>
                  <a:lnTo>
                    <a:pt x="212598" y="783590"/>
                  </a:lnTo>
                  <a:lnTo>
                    <a:pt x="205007" y="740371"/>
                  </a:lnTo>
                  <a:lnTo>
                    <a:pt x="183585" y="701538"/>
                  </a:lnTo>
                  <a:lnTo>
                    <a:pt x="150352" y="668639"/>
                  </a:lnTo>
                  <a:lnTo>
                    <a:pt x="107329" y="643222"/>
                  </a:lnTo>
                  <a:lnTo>
                    <a:pt x="56537" y="626836"/>
                  </a:lnTo>
                  <a:lnTo>
                    <a:pt x="0" y="621030"/>
                  </a:lnTo>
                  <a:lnTo>
                    <a:pt x="56537" y="615223"/>
                  </a:lnTo>
                  <a:lnTo>
                    <a:pt x="107329" y="598837"/>
                  </a:lnTo>
                  <a:lnTo>
                    <a:pt x="150352" y="573420"/>
                  </a:lnTo>
                  <a:lnTo>
                    <a:pt x="183585" y="540521"/>
                  </a:lnTo>
                  <a:lnTo>
                    <a:pt x="205007" y="501688"/>
                  </a:lnTo>
                  <a:lnTo>
                    <a:pt x="212598" y="458469"/>
                  </a:lnTo>
                  <a:lnTo>
                    <a:pt x="212598" y="162560"/>
                  </a:lnTo>
                  <a:lnTo>
                    <a:pt x="220188" y="119341"/>
                  </a:lnTo>
                  <a:lnTo>
                    <a:pt x="241610" y="80508"/>
                  </a:lnTo>
                  <a:lnTo>
                    <a:pt x="274843" y="47609"/>
                  </a:lnTo>
                  <a:lnTo>
                    <a:pt x="317866" y="22192"/>
                  </a:lnTo>
                  <a:lnTo>
                    <a:pt x="368658" y="5806"/>
                  </a:lnTo>
                  <a:lnTo>
                    <a:pt x="425196" y="0"/>
                  </a:lnTo>
                </a:path>
              </a:pathLst>
            </a:custGeom>
            <a:noFill/>
            <a:ln cap="flat" cmpd="sng" w="12700">
              <a:solidFill>
                <a:srgbClr val="4471C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389" name="Google Shape;389;p48"/>
          <p:cNvSpPr txBox="1"/>
          <p:nvPr/>
        </p:nvSpPr>
        <p:spPr>
          <a:xfrm>
            <a:off x="2972085" y="3653085"/>
            <a:ext cx="715327" cy="3171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6FC0"/>
                </a:solidFill>
                <a:latin typeface="Lucida Sans"/>
                <a:ea typeface="Lucida Sans"/>
                <a:cs typeface="Lucida Sans"/>
                <a:sym typeface="Lucida Sans"/>
              </a:rPr>
              <a:t>CapEx</a:t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49"/>
          <p:cNvGrpSpPr/>
          <p:nvPr/>
        </p:nvGrpSpPr>
        <p:grpSpPr>
          <a:xfrm>
            <a:off x="1044131" y="3117532"/>
            <a:ext cx="3567873" cy="884111"/>
            <a:chOff x="1392174" y="4156709"/>
            <a:chExt cx="4757164" cy="1178815"/>
          </a:xfrm>
        </p:grpSpPr>
        <p:pic>
          <p:nvPicPr>
            <p:cNvPr id="395" name="Google Shape;395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23559" y="4541520"/>
              <a:ext cx="525779" cy="7940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6" name="Google Shape;396;p49"/>
            <p:cNvSpPr/>
            <p:nvPr/>
          </p:nvSpPr>
          <p:spPr>
            <a:xfrm>
              <a:off x="1392174" y="4156709"/>
              <a:ext cx="4719320" cy="0"/>
            </a:xfrm>
            <a:custGeom>
              <a:rect b="b" l="l" r="r" t="t"/>
              <a:pathLst>
                <a:path extrusionOk="0" h="120000" w="4719320">
                  <a:moveTo>
                    <a:pt x="0" y="0"/>
                  </a:moveTo>
                  <a:lnTo>
                    <a:pt x="567563" y="0"/>
                  </a:lnTo>
                </a:path>
                <a:path extrusionOk="0" h="120000" w="4719320">
                  <a:moveTo>
                    <a:pt x="691895" y="0"/>
                  </a:moveTo>
                  <a:lnTo>
                    <a:pt x="1259458" y="0"/>
                  </a:lnTo>
                </a:path>
                <a:path extrusionOk="0" h="120000" w="4719320">
                  <a:moveTo>
                    <a:pt x="1383792" y="0"/>
                  </a:moveTo>
                  <a:lnTo>
                    <a:pt x="1951354" y="0"/>
                  </a:lnTo>
                </a:path>
                <a:path extrusionOk="0" h="120000" w="4719320">
                  <a:moveTo>
                    <a:pt x="2075688" y="0"/>
                  </a:moveTo>
                  <a:lnTo>
                    <a:pt x="2643251" y="0"/>
                  </a:lnTo>
                </a:path>
                <a:path extrusionOk="0" h="120000" w="4719320">
                  <a:moveTo>
                    <a:pt x="2767584" y="0"/>
                  </a:moveTo>
                  <a:lnTo>
                    <a:pt x="3335147" y="0"/>
                  </a:lnTo>
                </a:path>
                <a:path extrusionOk="0" h="120000" w="4719320">
                  <a:moveTo>
                    <a:pt x="3459479" y="0"/>
                  </a:moveTo>
                  <a:lnTo>
                    <a:pt x="4027042" y="0"/>
                  </a:lnTo>
                </a:path>
                <a:path extrusionOk="0" h="120000" w="4719320">
                  <a:moveTo>
                    <a:pt x="4151376" y="0"/>
                  </a:moveTo>
                  <a:lnTo>
                    <a:pt x="4718939" y="0"/>
                  </a:lnTo>
                </a:path>
              </a:pathLst>
            </a:custGeom>
            <a:noFill/>
            <a:ln cap="flat" cmpd="sng" w="317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397" name="Google Shape;397;p49"/>
          <p:cNvSpPr txBox="1"/>
          <p:nvPr/>
        </p:nvSpPr>
        <p:spPr>
          <a:xfrm>
            <a:off x="1127569" y="3127534"/>
            <a:ext cx="3317557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Jan	Feb	Mar	Apr	May	Jun	Jul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9"/>
          <p:cNvSpPr/>
          <p:nvPr/>
        </p:nvSpPr>
        <p:spPr>
          <a:xfrm>
            <a:off x="4676585" y="3117532"/>
            <a:ext cx="1463516" cy="0"/>
          </a:xfrm>
          <a:custGeom>
            <a:rect b="b" l="l" r="r" t="t"/>
            <a:pathLst>
              <a:path extrusionOk="0" h="120000" w="1951354">
                <a:moveTo>
                  <a:pt x="0" y="0"/>
                </a:moveTo>
                <a:lnTo>
                  <a:pt x="567562" y="0"/>
                </a:lnTo>
              </a:path>
              <a:path extrusionOk="0" h="120000" w="1951354">
                <a:moveTo>
                  <a:pt x="691896" y="0"/>
                </a:moveTo>
                <a:lnTo>
                  <a:pt x="1259458" y="0"/>
                </a:lnTo>
              </a:path>
              <a:path extrusionOk="0" h="120000" w="1951354">
                <a:moveTo>
                  <a:pt x="1383792" y="0"/>
                </a:moveTo>
                <a:lnTo>
                  <a:pt x="1951354" y="0"/>
                </a:lnTo>
              </a:path>
            </a:pathLst>
          </a:custGeom>
          <a:noFill/>
          <a:ln cap="flat" cmpd="sng" w="317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9" name="Google Shape;399;p49"/>
          <p:cNvSpPr txBox="1"/>
          <p:nvPr/>
        </p:nvSpPr>
        <p:spPr>
          <a:xfrm>
            <a:off x="4760404" y="3127534"/>
            <a:ext cx="1299686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Aug	Sep	Oct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9"/>
          <p:cNvSpPr/>
          <p:nvPr/>
        </p:nvSpPr>
        <p:spPr>
          <a:xfrm>
            <a:off x="6233350" y="3060382"/>
            <a:ext cx="784383" cy="0"/>
          </a:xfrm>
          <a:custGeom>
            <a:rect b="b" l="l" r="r" t="t"/>
            <a:pathLst>
              <a:path extrusionOk="0" h="120000" w="1045845">
                <a:moveTo>
                  <a:pt x="0" y="0"/>
                </a:moveTo>
                <a:lnTo>
                  <a:pt x="1045464" y="0"/>
                </a:lnTo>
              </a:path>
            </a:pathLst>
          </a:custGeom>
          <a:noFill/>
          <a:ln cap="flat" cmpd="sng" w="317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1" name="Google Shape;401;p49"/>
          <p:cNvSpPr txBox="1"/>
          <p:nvPr/>
        </p:nvSpPr>
        <p:spPr>
          <a:xfrm>
            <a:off x="6455282" y="3066954"/>
            <a:ext cx="388619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49"/>
          <p:cNvGrpSpPr/>
          <p:nvPr/>
        </p:nvGrpSpPr>
        <p:grpSpPr>
          <a:xfrm>
            <a:off x="4408550" y="988695"/>
            <a:ext cx="3504438" cy="3348989"/>
            <a:chOff x="5878067" y="1318260"/>
            <a:chExt cx="4672584" cy="4465319"/>
          </a:xfrm>
        </p:grpSpPr>
        <p:pic>
          <p:nvPicPr>
            <p:cNvPr id="403" name="Google Shape;403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02651" y="1318260"/>
              <a:ext cx="3048000" cy="1714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878067" y="4693919"/>
              <a:ext cx="525779" cy="7940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84391" y="4840224"/>
              <a:ext cx="525780" cy="7940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12051" y="4989575"/>
              <a:ext cx="525779" cy="79400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7" name="Google Shape;407;p49"/>
          <p:cNvSpPr txBox="1"/>
          <p:nvPr/>
        </p:nvSpPr>
        <p:spPr>
          <a:xfrm>
            <a:off x="985838" y="2594895"/>
            <a:ext cx="646748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6FC0"/>
                </a:solidFill>
                <a:latin typeface="Lucida Sans"/>
                <a:ea typeface="Lucida Sans"/>
                <a:cs typeface="Lucida Sans"/>
                <a:sym typeface="Lucida Sans"/>
              </a:rPr>
              <a:t>OpEx:</a:t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0"/>
          <p:cNvSpPr txBox="1"/>
          <p:nvPr>
            <p:ph type="title"/>
          </p:nvPr>
        </p:nvSpPr>
        <p:spPr>
          <a:xfrm>
            <a:off x="1275587" y="1018412"/>
            <a:ext cx="2048351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CapEx</a:t>
            </a:r>
            <a:endParaRPr sz="2600"/>
          </a:p>
        </p:txBody>
      </p:sp>
      <p:sp>
        <p:nvSpPr>
          <p:cNvPr id="413" name="Google Shape;413;p50"/>
          <p:cNvSpPr txBox="1"/>
          <p:nvPr/>
        </p:nvSpPr>
        <p:spPr>
          <a:xfrm>
            <a:off x="5820155" y="1018412"/>
            <a:ext cx="2048351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647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OpEx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50"/>
          <p:cNvSpPr txBox="1"/>
          <p:nvPr/>
        </p:nvSpPr>
        <p:spPr>
          <a:xfrm>
            <a:off x="1334642" y="1708880"/>
            <a:ext cx="1796415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Capital Expense</a:t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5" name="Google Shape;415;p50"/>
          <p:cNvSpPr txBox="1"/>
          <p:nvPr/>
        </p:nvSpPr>
        <p:spPr>
          <a:xfrm>
            <a:off x="5888164" y="1708880"/>
            <a:ext cx="2109788" cy="3167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Operating Expense</a:t>
            </a:r>
            <a:endParaRPr sz="20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6" name="Google Shape;416;p50"/>
          <p:cNvSpPr txBox="1"/>
          <p:nvPr/>
        </p:nvSpPr>
        <p:spPr>
          <a:xfrm>
            <a:off x="1282731" y="2173112"/>
            <a:ext cx="2007870" cy="1151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ucida Sans"/>
                <a:ea typeface="Lucida Sans"/>
                <a:cs typeface="Lucida Sans"/>
                <a:sym typeface="Lucida Sans"/>
              </a:rPr>
              <a:t>Making upfront investment for future use / profit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7" name="Google Shape;417;p50"/>
          <p:cNvSpPr txBox="1"/>
          <p:nvPr/>
        </p:nvSpPr>
        <p:spPr>
          <a:xfrm>
            <a:off x="5879402" y="2173112"/>
            <a:ext cx="1590675" cy="774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7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ucida Sans"/>
                <a:ea typeface="Lucida Sans"/>
                <a:cs typeface="Lucida Sans"/>
                <a:sym typeface="Lucida Sans"/>
              </a:rPr>
              <a:t>Pay for what you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>
                <a:latin typeface="Lucida Sans"/>
                <a:ea typeface="Lucida Sans"/>
                <a:cs typeface="Lucida Sans"/>
                <a:sym typeface="Lucida Sans"/>
              </a:rPr>
              <a:t>actually use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8" name="Google Shape;418;p50"/>
          <p:cNvSpPr txBox="1"/>
          <p:nvPr/>
        </p:nvSpPr>
        <p:spPr>
          <a:xfrm>
            <a:off x="1334642" y="3387014"/>
            <a:ext cx="1410653" cy="773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250">
            <a:spAutoFit/>
          </a:bodyPr>
          <a:lstStyle/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Lucida Sans"/>
              <a:buChar char="-"/>
            </a:pPr>
            <a:r>
              <a:rPr lang="en" sz="17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Non optimal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Lucida Sans"/>
              <a:buChar char="-"/>
            </a:pPr>
            <a:r>
              <a:rPr lang="en" sz="17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Not flexible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9" name="Google Shape;419;p50"/>
          <p:cNvSpPr txBox="1"/>
          <p:nvPr/>
        </p:nvSpPr>
        <p:spPr>
          <a:xfrm>
            <a:off x="5879402" y="3387014"/>
            <a:ext cx="1974532" cy="773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5250">
            <a:spAutoFit/>
          </a:bodyPr>
          <a:lstStyle/>
          <a:p>
            <a:pPr indent="-260350" lvl="0" marL="266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Lucida Sans"/>
              <a:buChar char="-"/>
            </a:pPr>
            <a:r>
              <a:rPr lang="en" sz="17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Extremely flexible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  <a:p>
            <a:pPr indent="-260350" lvl="0" marL="2667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Lucida Sans"/>
              <a:buChar char="-"/>
            </a:pPr>
            <a:r>
              <a:rPr lang="en" sz="1700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Most optimal</a:t>
            </a:r>
            <a:endParaRPr sz="17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20" name="Google Shape;420;p50"/>
          <p:cNvSpPr txBox="1"/>
          <p:nvPr/>
        </p:nvSpPr>
        <p:spPr>
          <a:xfrm>
            <a:off x="3607118" y="3482747"/>
            <a:ext cx="1906905" cy="63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4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rPr>
              <a:t>This is what you get with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532708"/>
                </a:solidFill>
                <a:latin typeface="Lucida Sans"/>
                <a:ea typeface="Lucida Sans"/>
                <a:cs typeface="Lucida Sans"/>
                <a:sym typeface="Lucida Sans"/>
              </a:rPr>
              <a:t>the cloud</a:t>
            </a:r>
            <a:endParaRPr sz="14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21" name="Google Shape;421;p50"/>
          <p:cNvSpPr/>
          <p:nvPr/>
        </p:nvSpPr>
        <p:spPr>
          <a:xfrm>
            <a:off x="5338382" y="3858006"/>
            <a:ext cx="465772" cy="64294"/>
          </a:xfrm>
          <a:custGeom>
            <a:rect b="b" l="l" r="r" t="t"/>
            <a:pathLst>
              <a:path extrusionOk="0" h="85725" w="621029">
                <a:moveTo>
                  <a:pt x="535051" y="0"/>
                </a:moveTo>
                <a:lnTo>
                  <a:pt x="535051" y="85725"/>
                </a:lnTo>
                <a:lnTo>
                  <a:pt x="592285" y="57150"/>
                </a:lnTo>
                <a:lnTo>
                  <a:pt x="549401" y="57150"/>
                </a:lnTo>
                <a:lnTo>
                  <a:pt x="549401" y="28575"/>
                </a:lnTo>
                <a:lnTo>
                  <a:pt x="592116" y="28575"/>
                </a:lnTo>
                <a:lnTo>
                  <a:pt x="535051" y="0"/>
                </a:lnTo>
                <a:close/>
              </a:path>
              <a:path extrusionOk="0" h="85725" w="621029">
                <a:moveTo>
                  <a:pt x="535051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535051" y="57150"/>
                </a:lnTo>
                <a:lnTo>
                  <a:pt x="535051" y="28575"/>
                </a:lnTo>
                <a:close/>
              </a:path>
              <a:path extrusionOk="0" h="85725" w="621029">
                <a:moveTo>
                  <a:pt x="592116" y="28575"/>
                </a:moveTo>
                <a:lnTo>
                  <a:pt x="549401" y="28575"/>
                </a:lnTo>
                <a:lnTo>
                  <a:pt x="549401" y="57150"/>
                </a:lnTo>
                <a:lnTo>
                  <a:pt x="592285" y="57150"/>
                </a:lnTo>
                <a:lnTo>
                  <a:pt x="620776" y="42926"/>
                </a:lnTo>
                <a:lnTo>
                  <a:pt x="592116" y="28575"/>
                </a:lnTo>
                <a:close/>
              </a:path>
            </a:pathLst>
          </a:custGeom>
          <a:solidFill>
            <a:srgbClr val="53270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1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Cloud Services</a:t>
            </a:r>
            <a:endParaRPr/>
          </a:p>
        </p:txBody>
      </p:sp>
      <p:sp>
        <p:nvSpPr>
          <p:cNvPr id="428" name="Google Shape;428;p51"/>
          <p:cNvSpPr txBox="1"/>
          <p:nvPr/>
        </p:nvSpPr>
        <p:spPr>
          <a:xfrm>
            <a:off x="502919" y="2297429"/>
            <a:ext cx="204978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IaaS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1"/>
          <p:cNvSpPr txBox="1"/>
          <p:nvPr/>
        </p:nvSpPr>
        <p:spPr>
          <a:xfrm>
            <a:off x="3026664" y="2297429"/>
            <a:ext cx="204978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647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PaaS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1"/>
          <p:cNvSpPr txBox="1"/>
          <p:nvPr/>
        </p:nvSpPr>
        <p:spPr>
          <a:xfrm>
            <a:off x="5551551" y="2297429"/>
            <a:ext cx="2048351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647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SaaS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2"/>
          <p:cNvSpPr txBox="1"/>
          <p:nvPr>
            <p:ph type="title"/>
          </p:nvPr>
        </p:nvSpPr>
        <p:spPr>
          <a:xfrm>
            <a:off x="3126105" y="371475"/>
            <a:ext cx="289179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IaaS</a:t>
            </a:r>
            <a:endParaRPr sz="2600"/>
          </a:p>
        </p:txBody>
      </p:sp>
      <p:sp>
        <p:nvSpPr>
          <p:cNvPr id="436" name="Google Shape;436;p52"/>
          <p:cNvSpPr txBox="1"/>
          <p:nvPr/>
        </p:nvSpPr>
        <p:spPr>
          <a:xfrm>
            <a:off x="497966" y="1310639"/>
            <a:ext cx="6626543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nfrastructure </a:t>
            </a:r>
            <a:r>
              <a:rPr b="1" lang="en" sz="21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s </a:t>
            </a:r>
            <a:r>
              <a:rPr b="1" lang="en" sz="2100">
                <a:latin typeface="Arial"/>
                <a:ea typeface="Arial"/>
                <a:cs typeface="Arial"/>
                <a:sym typeface="Arial"/>
              </a:rPr>
              <a:t>a S</a:t>
            </a: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ervice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cloud provides the underlying platform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Compute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Networking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Storage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client handles, and is responsible for all the rest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3"/>
          <p:cNvSpPr txBox="1"/>
          <p:nvPr>
            <p:ph type="title"/>
          </p:nvPr>
        </p:nvSpPr>
        <p:spPr>
          <a:xfrm>
            <a:off x="3126105" y="371475"/>
            <a:ext cx="289179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IaaS</a:t>
            </a:r>
            <a:endParaRPr sz="2600"/>
          </a:p>
        </p:txBody>
      </p:sp>
      <p:sp>
        <p:nvSpPr>
          <p:cNvPr id="442" name="Google Shape;442;p53"/>
          <p:cNvSpPr txBox="1"/>
          <p:nvPr/>
        </p:nvSpPr>
        <p:spPr>
          <a:xfrm>
            <a:off x="497966" y="1310639"/>
            <a:ext cx="8272463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Most common example: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Virtual Machines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cloud provides the host machine, networking and disks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marR="0" rtl="0" algn="l">
              <a:lnSpc>
                <a:spcPct val="240000"/>
              </a:lnSpc>
              <a:spcBef>
                <a:spcPts val="4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client creates the virtual (guest) machine, installs software on it, patches it, maintains it etc.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4"/>
          <p:cNvSpPr txBox="1"/>
          <p:nvPr>
            <p:ph type="title"/>
          </p:nvPr>
        </p:nvSpPr>
        <p:spPr>
          <a:xfrm>
            <a:off x="3126105" y="371475"/>
            <a:ext cx="289179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PaaS</a:t>
            </a:r>
            <a:endParaRPr sz="2600"/>
          </a:p>
        </p:txBody>
      </p:sp>
      <p:sp>
        <p:nvSpPr>
          <p:cNvPr id="448" name="Google Shape;448;p54"/>
          <p:cNvSpPr txBox="1"/>
          <p:nvPr/>
        </p:nvSpPr>
        <p:spPr>
          <a:xfrm>
            <a:off x="497966" y="1310639"/>
            <a:ext cx="8218646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latform </a:t>
            </a:r>
            <a:r>
              <a:rPr b="1" lang="en" sz="21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s </a:t>
            </a:r>
            <a:r>
              <a:rPr b="1" lang="en" sz="2100">
                <a:latin typeface="Arial"/>
                <a:ea typeface="Arial"/>
                <a:cs typeface="Arial"/>
                <a:sym typeface="Arial"/>
              </a:rPr>
              <a:t>a S</a:t>
            </a: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ervice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cloud provides platform for running apps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Including: Compute, networking, storage, runtime environment, scaling, redundancy, security, updates, patching, maintenance etc.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client just needs to bring the code to run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5"/>
          <p:cNvSpPr txBox="1"/>
          <p:nvPr>
            <p:ph type="title"/>
          </p:nvPr>
        </p:nvSpPr>
        <p:spPr>
          <a:xfrm>
            <a:off x="3126105" y="371475"/>
            <a:ext cx="289179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PaaS</a:t>
            </a:r>
            <a:endParaRPr sz="2600"/>
          </a:p>
        </p:txBody>
      </p:sp>
      <p:sp>
        <p:nvSpPr>
          <p:cNvPr id="454" name="Google Shape;454;p55"/>
          <p:cNvSpPr txBox="1"/>
          <p:nvPr/>
        </p:nvSpPr>
        <p:spPr>
          <a:xfrm>
            <a:off x="497966" y="1310639"/>
            <a:ext cx="7425214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Most common example: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Web Apps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cloud provides the runtime for running web apps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client uploads the code, and it just runs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client has no access to the underlying virtual machines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6"/>
          <p:cNvSpPr txBox="1"/>
          <p:nvPr>
            <p:ph type="title"/>
          </p:nvPr>
        </p:nvSpPr>
        <p:spPr>
          <a:xfrm>
            <a:off x="3126105" y="371475"/>
            <a:ext cx="289179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SaaS</a:t>
            </a:r>
            <a:endParaRPr sz="2600"/>
          </a:p>
        </p:txBody>
      </p:sp>
      <p:sp>
        <p:nvSpPr>
          <p:cNvPr id="460" name="Google Shape;460;p56"/>
          <p:cNvSpPr txBox="1"/>
          <p:nvPr/>
        </p:nvSpPr>
        <p:spPr>
          <a:xfrm>
            <a:off x="497966" y="1310639"/>
            <a:ext cx="7904798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oftware </a:t>
            </a:r>
            <a:r>
              <a:rPr b="1" lang="en" sz="2100"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s </a:t>
            </a:r>
            <a:r>
              <a:rPr b="1" lang="en" sz="2100">
                <a:latin typeface="Arial"/>
                <a:ea typeface="Arial"/>
                <a:cs typeface="Arial"/>
                <a:sym typeface="Arial"/>
              </a:rPr>
              <a:t>a S</a:t>
            </a: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ervice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 software running completely in the cloud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user doesn’t need to install anything on-premises or on his machine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marR="393700" rtl="0" algn="l">
              <a:lnSpc>
                <a:spcPct val="2001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provider of the software takes care of updates, patches, redundancy, scalability etc.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7"/>
          <p:cNvSpPr txBox="1"/>
          <p:nvPr>
            <p:ph type="title"/>
          </p:nvPr>
        </p:nvSpPr>
        <p:spPr>
          <a:xfrm>
            <a:off x="3126105" y="371475"/>
            <a:ext cx="289179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SaaS</a:t>
            </a:r>
            <a:endParaRPr sz="2600"/>
          </a:p>
        </p:txBody>
      </p:sp>
      <p:sp>
        <p:nvSpPr>
          <p:cNvPr id="466" name="Google Shape;466;p57"/>
          <p:cNvSpPr txBox="1"/>
          <p:nvPr/>
        </p:nvSpPr>
        <p:spPr>
          <a:xfrm>
            <a:off x="497966" y="1310639"/>
            <a:ext cx="2709863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Common examples: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467" name="Google Shape;46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212" y="2004821"/>
            <a:ext cx="3593592" cy="2207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0373" y="2172842"/>
            <a:ext cx="2635758" cy="1728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820" y="198733"/>
            <a:ext cx="8400483" cy="4520713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8"/>
          <p:cNvSpPr txBox="1"/>
          <p:nvPr/>
        </p:nvSpPr>
        <p:spPr>
          <a:xfrm>
            <a:off x="1806511" y="4839538"/>
            <a:ext cx="5759291" cy="17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https://docs.microsoft.com/en-us/azure/cloud-adoption-framework/strategy/monitoring-strategy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59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Service Types</a:t>
            </a:r>
            <a:endParaRPr/>
          </a:p>
        </p:txBody>
      </p:sp>
      <p:sp>
        <p:nvSpPr>
          <p:cNvPr id="481" name="Google Shape;481;p59"/>
          <p:cNvSpPr txBox="1"/>
          <p:nvPr/>
        </p:nvSpPr>
        <p:spPr>
          <a:xfrm>
            <a:off x="497966" y="1310639"/>
            <a:ext cx="4093369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FaaS – Functions as a Service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DBaaS – Database as a Service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DaaS – Desktop as a Service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IOTaaS – IOT as a Service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AIaaS – AI as a Service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60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Clouds</a:t>
            </a:r>
            <a:endParaRPr/>
          </a:p>
        </p:txBody>
      </p:sp>
      <p:sp>
        <p:nvSpPr>
          <p:cNvPr id="488" name="Google Shape;488;p60"/>
          <p:cNvSpPr txBox="1"/>
          <p:nvPr/>
        </p:nvSpPr>
        <p:spPr>
          <a:xfrm>
            <a:off x="502919" y="2297429"/>
            <a:ext cx="204978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60"/>
          <p:cNvSpPr txBox="1"/>
          <p:nvPr/>
        </p:nvSpPr>
        <p:spPr>
          <a:xfrm>
            <a:off x="3026664" y="2297429"/>
            <a:ext cx="204978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508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60"/>
          <p:cNvSpPr txBox="1"/>
          <p:nvPr/>
        </p:nvSpPr>
        <p:spPr>
          <a:xfrm>
            <a:off x="5551551" y="2297429"/>
            <a:ext cx="2048351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546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Hybrid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1"/>
          <p:cNvSpPr txBox="1"/>
          <p:nvPr>
            <p:ph type="title"/>
          </p:nvPr>
        </p:nvSpPr>
        <p:spPr>
          <a:xfrm>
            <a:off x="3126105" y="371475"/>
            <a:ext cx="289179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546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Public Cloud</a:t>
            </a:r>
            <a:endParaRPr sz="2600"/>
          </a:p>
        </p:txBody>
      </p:sp>
      <p:sp>
        <p:nvSpPr>
          <p:cNvPr id="496" name="Google Shape;496;p61"/>
          <p:cNvSpPr txBox="1"/>
          <p:nvPr/>
        </p:nvSpPr>
        <p:spPr>
          <a:xfrm>
            <a:off x="497966" y="1310639"/>
            <a:ext cx="6466523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The cloud is set up in the public network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Managed by large companies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Accessible through the internet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Available to all clients and users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Clients have no access to underlying infrastructure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2"/>
          <p:cNvSpPr txBox="1"/>
          <p:nvPr>
            <p:ph type="title"/>
          </p:nvPr>
        </p:nvSpPr>
        <p:spPr>
          <a:xfrm>
            <a:off x="3126105" y="371475"/>
            <a:ext cx="289179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546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Public Cloud</a:t>
            </a:r>
            <a:endParaRPr sz="2600"/>
          </a:p>
        </p:txBody>
      </p:sp>
      <p:pic>
        <p:nvPicPr>
          <p:cNvPr id="502" name="Google Shape;50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896" y="1585341"/>
            <a:ext cx="2187574" cy="1316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0896" y="1443608"/>
            <a:ext cx="3668590" cy="1057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664" y="3660938"/>
            <a:ext cx="3951022" cy="62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0534" y="2689244"/>
            <a:ext cx="2793424" cy="18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3"/>
          <p:cNvSpPr txBox="1"/>
          <p:nvPr>
            <p:ph type="title"/>
          </p:nvPr>
        </p:nvSpPr>
        <p:spPr>
          <a:xfrm>
            <a:off x="3126105" y="371475"/>
            <a:ext cx="289179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Private Cloud</a:t>
            </a:r>
            <a:endParaRPr sz="2600"/>
          </a:p>
        </p:txBody>
      </p:sp>
      <p:sp>
        <p:nvSpPr>
          <p:cNvPr id="511" name="Google Shape;511;p63"/>
          <p:cNvSpPr txBox="1"/>
          <p:nvPr/>
        </p:nvSpPr>
        <p:spPr>
          <a:xfrm>
            <a:off x="497966" y="1310639"/>
            <a:ext cx="6355556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 cloud set up in an organization’s premises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Managed by the organization’s IT team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Accessible only in the organization’s network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Available to users from the organizations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Uses private cloud infrastructure and engines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Contains a subset of the public cloud’s capabilities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4"/>
          <p:cNvSpPr txBox="1"/>
          <p:nvPr>
            <p:ph type="title"/>
          </p:nvPr>
        </p:nvSpPr>
        <p:spPr>
          <a:xfrm>
            <a:off x="3126105" y="371475"/>
            <a:ext cx="289179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Private Cloud</a:t>
            </a:r>
            <a:endParaRPr sz="2600"/>
          </a:p>
        </p:txBody>
      </p:sp>
      <p:pic>
        <p:nvPicPr>
          <p:cNvPr id="517" name="Google Shape;51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886" y="1633346"/>
            <a:ext cx="3803904" cy="782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697037"/>
            <a:ext cx="3940897" cy="1053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6925" y="3591877"/>
            <a:ext cx="3450153" cy="564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/>
          <p:nvPr>
            <p:ph type="title"/>
          </p:nvPr>
        </p:nvSpPr>
        <p:spPr>
          <a:xfrm>
            <a:off x="3126105" y="371475"/>
            <a:ext cx="289179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520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Hybrid Cloud</a:t>
            </a:r>
            <a:endParaRPr sz="2600"/>
          </a:p>
        </p:txBody>
      </p:sp>
      <p:sp>
        <p:nvSpPr>
          <p:cNvPr id="525" name="Google Shape;525;p65"/>
          <p:cNvSpPr txBox="1"/>
          <p:nvPr/>
        </p:nvSpPr>
        <p:spPr>
          <a:xfrm>
            <a:off x="497966" y="1310639"/>
            <a:ext cx="8228648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 cloud set up in an organization’s premises…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…but also connected to the public cloud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Workload can be separated between the two clouds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ie. Sensitive data in the organization’s premises, public data in the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public cloud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Usually managed by the public cloud, but not always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6"/>
          <p:cNvSpPr txBox="1"/>
          <p:nvPr>
            <p:ph type="title"/>
          </p:nvPr>
        </p:nvSpPr>
        <p:spPr>
          <a:xfrm>
            <a:off x="3126105" y="371475"/>
            <a:ext cx="289179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520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Hybrid Cloud</a:t>
            </a:r>
            <a:endParaRPr sz="2600"/>
          </a:p>
        </p:txBody>
      </p:sp>
      <p:pic>
        <p:nvPicPr>
          <p:cNvPr id="531" name="Google Shape;53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630" y="1363264"/>
            <a:ext cx="3093244" cy="2185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489329"/>
            <a:ext cx="3871341" cy="2002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67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going to talk about…</a:t>
            </a:r>
            <a:endParaRPr/>
          </a:p>
        </p:txBody>
      </p:sp>
      <p:sp>
        <p:nvSpPr>
          <p:cNvPr id="539" name="Google Shape;539;p67"/>
          <p:cNvSpPr txBox="1"/>
          <p:nvPr/>
        </p:nvSpPr>
        <p:spPr>
          <a:xfrm>
            <a:off x="502919" y="2297429"/>
            <a:ext cx="204978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67"/>
          <p:cNvSpPr txBox="1"/>
          <p:nvPr/>
        </p:nvSpPr>
        <p:spPr>
          <a:xfrm>
            <a:off x="3026664" y="2297429"/>
            <a:ext cx="2049780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508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67"/>
          <p:cNvSpPr txBox="1"/>
          <p:nvPr/>
        </p:nvSpPr>
        <p:spPr>
          <a:xfrm>
            <a:off x="5551551" y="2297429"/>
            <a:ext cx="2048351" cy="548640"/>
          </a:xfrm>
          <a:prstGeom prst="rect">
            <a:avLst/>
          </a:prstGeom>
          <a:solidFill>
            <a:srgbClr val="6F2F9F"/>
          </a:solidFill>
          <a:ln cap="flat" cmpd="sng" w="12700">
            <a:solidFill>
              <a:srgbClr val="2E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9050">
            <a:spAutoFit/>
          </a:bodyPr>
          <a:lstStyle/>
          <a:p>
            <a:pPr indent="0" lvl="0" marL="546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Hybrid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0" y="814958"/>
            <a:ext cx="9021699" cy="145161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68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Providers</a:t>
            </a:r>
            <a:endParaRPr/>
          </a:p>
        </p:txBody>
      </p:sp>
      <p:sp>
        <p:nvSpPr>
          <p:cNvPr id="548" name="Google Shape;548;p68"/>
          <p:cNvSpPr txBox="1"/>
          <p:nvPr/>
        </p:nvSpPr>
        <p:spPr>
          <a:xfrm>
            <a:off x="497966" y="1310639"/>
            <a:ext cx="7581424" cy="2259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Companies which build datacenters and provide public cloud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services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IaaS, PaaS, SaaS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Other services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9"/>
          <p:cNvSpPr txBox="1"/>
          <p:nvPr>
            <p:ph type="title"/>
          </p:nvPr>
        </p:nvSpPr>
        <p:spPr>
          <a:xfrm>
            <a:off x="158038" y="78961"/>
            <a:ext cx="3444240" cy="1163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Providers</a:t>
            </a:r>
            <a:endParaRPr/>
          </a:p>
        </p:txBody>
      </p:sp>
      <p:pic>
        <p:nvPicPr>
          <p:cNvPr id="554" name="Google Shape;55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0841" y="290321"/>
            <a:ext cx="4120139" cy="4562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0"/>
          <p:cNvSpPr txBox="1"/>
          <p:nvPr>
            <p:ph type="title"/>
          </p:nvPr>
        </p:nvSpPr>
        <p:spPr>
          <a:xfrm>
            <a:off x="158039" y="78961"/>
            <a:ext cx="7946708" cy="591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Cloud Providers Growth</a:t>
            </a:r>
            <a:endParaRPr/>
          </a:p>
        </p:txBody>
      </p:sp>
      <p:graphicFrame>
        <p:nvGraphicFramePr>
          <p:cNvPr id="560" name="Google Shape;560;p70"/>
          <p:cNvGraphicFramePr/>
          <p:nvPr/>
        </p:nvGraphicFramePr>
        <p:xfrm>
          <a:off x="280988" y="21750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{182810E9-BDA9-4A76-BB51-84EB6BCC0DB4}</a:tableStyleId>
              </a:tblPr>
              <a:tblGrid>
                <a:gridCol w="1814500"/>
                <a:gridCol w="1814500"/>
              </a:tblGrid>
              <a:tr h="47957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8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Growth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8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1C4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8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12%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28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Azure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29%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BF5"/>
                    </a:solidFill>
                  </a:tcPr>
                </a:tc>
              </a:tr>
              <a:tr h="479575"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7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24%</a:t>
                      </a:r>
                      <a:endParaRPr sz="27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32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  <p:sp>
        <p:nvSpPr>
          <p:cNvPr id="561" name="Google Shape;561;p70"/>
          <p:cNvSpPr txBox="1"/>
          <p:nvPr/>
        </p:nvSpPr>
        <p:spPr>
          <a:xfrm>
            <a:off x="344800" y="955901"/>
            <a:ext cx="13203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Lucida Sans"/>
                <a:ea typeface="Lucida Sans"/>
                <a:cs typeface="Lucida Sans"/>
                <a:sym typeface="Lucida Sans"/>
              </a:rPr>
              <a:t>Q3 2025:</a:t>
            </a:r>
            <a:endParaRPr sz="2700"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62" name="Google Shape;562;p70"/>
          <p:cNvSpPr txBox="1"/>
          <p:nvPr/>
        </p:nvSpPr>
        <p:spPr>
          <a:xfrm>
            <a:off x="5010341" y="2238975"/>
            <a:ext cx="3277552" cy="1275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425">
            <a:spAutoFit/>
          </a:bodyPr>
          <a:lstStyle/>
          <a:p>
            <a:pPr indent="0" lvl="0" marL="1270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900">
                <a:solidFill>
                  <a:srgbClr val="538235"/>
                </a:solidFill>
                <a:latin typeface="Lucida Sans"/>
                <a:ea typeface="Lucida Sans"/>
                <a:cs typeface="Lucida Sans"/>
                <a:sym typeface="Lucida Sans"/>
              </a:rPr>
              <a:t>Azure is the fastest growing public cloud, for years</a:t>
            </a:r>
            <a:endParaRPr sz="290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