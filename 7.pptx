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7.xml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07.xml"/>
  <Override ContentType="application/vnd.openxmlformats-officedocument.presentationml.notesSlide+xml" PartName="/ppt/notesSlides/notesSlide100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85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77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73.xml"/>
  <Override ContentType="application/vnd.openxmlformats-officedocument.presentationml.notesSlide+xml" PartName="/ppt/notesSlides/notesSlide8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69.xml"/>
  <Override ContentType="application/vnd.openxmlformats-officedocument.presentationml.notesSlide+xml" PartName="/ppt/notesSlides/notesSlide105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93.xml"/>
  <Override ContentType="application/vnd.openxmlformats-officedocument.presentationml.notesSlide+xml" PartName="/ppt/notesSlides/notesSlide87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75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103.xml"/>
  <Override ContentType="application/vnd.openxmlformats-officedocument.presentationml.notesSlide+xml" PartName="/ppt/notesSlides/notesSlide97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9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101.xml"/>
  <Override ContentType="application/vnd.openxmlformats-officedocument.presentationml.notesSlide+xml" PartName="/ppt/notesSlides/notesSlide95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78.xml"/>
  <Override ContentType="application/vnd.openxmlformats-officedocument.presentationml.notesSlide+xml" PartName="/ppt/notesSlides/notesSlide71.xml"/>
  <Override ContentType="application/vnd.openxmlformats-officedocument.presentationml.notesSlide+xml" PartName="/ppt/notesSlides/notesSlide92.xml"/>
  <Override ContentType="application/vnd.openxmlformats-officedocument.presentationml.notesSlide+xml" PartName="/ppt/notesSlides/notesSlide84.xml"/>
  <Override ContentType="application/vnd.openxmlformats-officedocument.presentationml.notesSlide+xml" PartName="/ppt/notesSlides/notesSlide76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68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82.xml"/>
  <Override ContentType="application/vnd.openxmlformats-officedocument.presentationml.notesSlide+xml" PartName="/ppt/notesSlides/notesSlide9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108.xml"/>
  <Override ContentType="application/vnd.openxmlformats-officedocument.presentationml.notesSlide+xml" PartName="/ppt/notesSlides/notesSlide90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86.xml"/>
  <Override ContentType="application/vnd.openxmlformats-officedocument.presentationml.notesSlide+xml" PartName="/ppt/notesSlides/notesSlide106.xml"/>
  <Override ContentType="application/vnd.openxmlformats-officedocument.presentationml.notesSlide+xml" PartName="/ppt/notesSlides/notesSlide99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80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7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8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70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72.xml"/>
  <Override ContentType="application/vnd.openxmlformats-officedocument.presentationml.notesSlide+xml" PartName="/ppt/notesSlides/notesSlide98.xml"/>
  <Override ContentType="application/vnd.openxmlformats-officedocument.presentationml.notesSlide+xml" PartName="/ppt/notesSlides/notesSlide104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9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96.xml"/>
  <Override ContentType="application/vnd.openxmlformats-officedocument.presentationml.notesSlide+xml" PartName="/ppt/notesSlides/notesSlide102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83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3.xml"/>
  <Override ContentType="application/vnd.openxmlformats-officedocument.presentationml.slide+xml" PartName="/ppt/slides/slide78.xml"/>
  <Override ContentType="application/vnd.openxmlformats-officedocument.presentationml.slide+xml" PartName="/ppt/slides/slide86.xml"/>
  <Override ContentType="application/vnd.openxmlformats-officedocument.presentationml.slide+xml" PartName="/ppt/slides/slide35.xml"/>
  <Override ContentType="application/vnd.openxmlformats-officedocument.presentationml.slide+xml" PartName="/ppt/slides/slide105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68.xml"/>
  <Override ContentType="application/vnd.openxmlformats-officedocument.presentationml.slide+xml" PartName="/ppt/slides/slide94.xml"/>
  <Override ContentType="application/vnd.openxmlformats-officedocument.presentationml.slide+xml" PartName="/ppt/slides/slide84.xml"/>
  <Override ContentType="application/vnd.openxmlformats-officedocument.presentationml.slide+xml" PartName="/ppt/slides/slide107.xml"/>
  <Override ContentType="application/vnd.openxmlformats-officedocument.presentationml.slide+xml" PartName="/ppt/slides/slide37.xml"/>
  <Override ContentType="application/vnd.openxmlformats-officedocument.presentationml.slide+xml" PartName="/ppt/slides/slide71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66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53.xml"/>
  <Override ContentType="application/vnd.openxmlformats-officedocument.presentationml.slide+xml" PartName="/ppt/slides/slide96.xml"/>
  <Override ContentType="application/vnd.openxmlformats-officedocument.presentationml.slide+xml" PartName="/ppt/slides/slide48.xml"/>
  <Override ContentType="application/vnd.openxmlformats-officedocument.presentationml.slide+xml" PartName="/ppt/slides/slide22.xml"/>
  <Override ContentType="application/vnd.openxmlformats-officedocument.presentationml.slide+xml" PartName="/ppt/slides/slide82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2.xml"/>
  <Override ContentType="application/vnd.openxmlformats-officedocument.presentationml.slide+xml" PartName="/ppt/slides/slide108.xml"/>
  <Override ContentType="application/vnd.openxmlformats-officedocument.presentationml.slide+xml" PartName="/ppt/slides/slide98.xml"/>
  <Override ContentType="application/vnd.openxmlformats-officedocument.presentationml.slide+xml" PartName="/ppt/slides/slide72.xml"/>
  <Override ContentType="application/vnd.openxmlformats-officedocument.presentationml.slide+xml" PartName="/ppt/slides/slide20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89.xml"/>
  <Override ContentType="application/vnd.openxmlformats-officedocument.presentationml.slide+xml" PartName="/ppt/slides/slide76.xml"/>
  <Override ContentType="application/vnd.openxmlformats-officedocument.presentationml.slide+xml" PartName="/ppt/slides/slide63.xml"/>
  <Override ContentType="application/vnd.openxmlformats-officedocument.presentationml.slide+xml" PartName="/ppt/slides/slide93.xml"/>
  <Override ContentType="application/vnd.openxmlformats-officedocument.presentationml.slide+xml" PartName="/ppt/slides/slide101.xml"/>
  <Override ContentType="application/vnd.openxmlformats-officedocument.presentationml.slide+xml" PartName="/ppt/slides/slide80.xml"/>
  <Override ContentType="application/vnd.openxmlformats-officedocument.presentationml.slide+xml" PartName="/ppt/slides/slide103.xml"/>
  <Override ContentType="application/vnd.openxmlformats-officedocument.presentationml.slide+xml" PartName="/ppt/slides/slide61.xml"/>
  <Override ContentType="application/vnd.openxmlformats-officedocument.presentationml.slide+xml" PartName="/ppt/slides/slide91.xml"/>
  <Override ContentType="application/vnd.openxmlformats-officedocument.presentationml.slide+xml" PartName="/ppt/slides/slide31.xml"/>
  <Override ContentType="application/vnd.openxmlformats-officedocument.presentationml.slide+xml" PartName="/ppt/slides/slide87.xml"/>
  <Override ContentType="application/vnd.openxmlformats-officedocument.presentationml.slide+xml" PartName="/ppt/slides/slide74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95.xml"/>
  <Override ContentType="application/vnd.openxmlformats-officedocument.presentationml.slide+xml" PartName="/ppt/slides/slide69.xml"/>
  <Override ContentType="application/vnd.openxmlformats-officedocument.presentationml.slide+xml" PartName="/ppt/slides/slide85.xml"/>
  <Override ContentType="application/vnd.openxmlformats-officedocument.presentationml.slide+xml" PartName="/ppt/slides/slide42.xml"/>
  <Override ContentType="application/vnd.openxmlformats-officedocument.presentationml.slide+xml" PartName="/ppt/slides/slide50.xml"/>
  <Override ContentType="application/vnd.openxmlformats-officedocument.presentationml.slide+xml" PartName="/ppt/slides/slide77.xml"/>
  <Override ContentType="application/vnd.openxmlformats-officedocument.presentationml.slide+xml" PartName="/ppt/slides/slide34.xml"/>
  <Override ContentType="application/vnd.openxmlformats-officedocument.presentationml.slide+xml" PartName="/ppt/slides/slide16.xml"/>
  <Override ContentType="application/vnd.openxmlformats-officedocument.presentationml.slide+xml" PartName="/ppt/slides/slide104.xml"/>
  <Override ContentType="application/vnd.openxmlformats-officedocument.presentationml.slide+xml" PartName="/ppt/slides/slide24.xml"/>
  <Override ContentType="application/vnd.openxmlformats-officedocument.presentationml.slide+xml" PartName="/ppt/slides/slide97.xml"/>
  <Override ContentType="application/vnd.openxmlformats-officedocument.presentationml.slide+xml" PartName="/ppt/slides/slide11.xml"/>
  <Override ContentType="application/vnd.openxmlformats-officedocument.presentationml.slide+xml" PartName="/ppt/slides/slide6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79.xml"/>
  <Override ContentType="application/vnd.openxmlformats-officedocument.presentationml.slide+xml" PartName="/ppt/slides/slide49.xml"/>
  <Override ContentType="application/vnd.openxmlformats-officedocument.presentationml.slide+xml" PartName="/ppt/slides/slide83.xml"/>
  <Override ContentType="application/vnd.openxmlformats-officedocument.presentationml.slide+xml" PartName="/ppt/slides/slide106.xml"/>
  <Override ContentType="application/vnd.openxmlformats-officedocument.presentationml.slide+xml" PartName="/ppt/slides/slide70.xml"/>
  <Override ContentType="application/vnd.openxmlformats-officedocument.presentationml.slide+xml" PartName="/ppt/slides/slide6.xml"/>
  <Override ContentType="application/vnd.openxmlformats-officedocument.presentationml.slide+xml" PartName="/ppt/slides/slide40.xml"/>
  <Override ContentType="application/vnd.openxmlformats-officedocument.presentationml.slide+xml" PartName="/ppt/slides/slide73.xml"/>
  <Override ContentType="application/vnd.openxmlformats-officedocument.presentationml.slide+xml" PartName="/ppt/slides/slide30.xml"/>
  <Override ContentType="application/vnd.openxmlformats-officedocument.presentationml.slide+xml" PartName="/ppt/slides/slide99.xml"/>
  <Override ContentType="application/vnd.openxmlformats-officedocument.presentationml.slide+xml" PartName="/ppt/slides/slide3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47.xml"/>
  <Override ContentType="application/vnd.openxmlformats-officedocument.presentationml.slide+xml" PartName="/ppt/slides/slide21.xml"/>
  <Override ContentType="application/vnd.openxmlformats-officedocument.presentationml.slide+xml" PartName="/ppt/slides/slide100.xml"/>
  <Override ContentType="application/vnd.openxmlformats-officedocument.presentationml.slide+xml" PartName="/ppt/slides/slide64.xml"/>
  <Override ContentType="application/vnd.openxmlformats-officedocument.presentationml.slide+xml" PartName="/ppt/slides/slide81.xml"/>
  <Override ContentType="application/vnd.openxmlformats-officedocument.presentationml.slide+xml" PartName="/ppt/slides/slide90.xml"/>
  <Override ContentType="application/vnd.openxmlformats-officedocument.presentationml.slide+xml" PartName="/ppt/slides/slide8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75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88.xml"/>
  <Override ContentType="application/vnd.openxmlformats-officedocument.presentationml.slide+xml" PartName="/ppt/slides/slide92.xml"/>
  <Override ContentType="application/vnd.openxmlformats-officedocument.presentationml.slide+xml" PartName="/ppt/slides/slide10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4" r:id="rId5"/>
    <p:sldMasterId id="2147483665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  <p:sldId id="327" r:id="rId79"/>
    <p:sldId id="328" r:id="rId80"/>
    <p:sldId id="329" r:id="rId81"/>
    <p:sldId id="330" r:id="rId82"/>
    <p:sldId id="331" r:id="rId83"/>
    <p:sldId id="332" r:id="rId84"/>
    <p:sldId id="333" r:id="rId85"/>
    <p:sldId id="334" r:id="rId86"/>
    <p:sldId id="335" r:id="rId87"/>
    <p:sldId id="336" r:id="rId88"/>
    <p:sldId id="337" r:id="rId89"/>
    <p:sldId id="338" r:id="rId90"/>
    <p:sldId id="339" r:id="rId91"/>
    <p:sldId id="340" r:id="rId92"/>
    <p:sldId id="341" r:id="rId93"/>
    <p:sldId id="342" r:id="rId94"/>
    <p:sldId id="343" r:id="rId95"/>
    <p:sldId id="344" r:id="rId96"/>
    <p:sldId id="345" r:id="rId97"/>
    <p:sldId id="346" r:id="rId98"/>
    <p:sldId id="347" r:id="rId99"/>
    <p:sldId id="348" r:id="rId100"/>
    <p:sldId id="349" r:id="rId101"/>
    <p:sldId id="350" r:id="rId102"/>
    <p:sldId id="351" r:id="rId103"/>
    <p:sldId id="352" r:id="rId104"/>
    <p:sldId id="353" r:id="rId105"/>
    <p:sldId id="354" r:id="rId106"/>
    <p:sldId id="355" r:id="rId107"/>
    <p:sldId id="356" r:id="rId108"/>
    <p:sldId id="357" r:id="rId109"/>
    <p:sldId id="358" r:id="rId110"/>
    <p:sldId id="359" r:id="rId111"/>
    <p:sldId id="360" r:id="rId112"/>
    <p:sldId id="361" r:id="rId113"/>
    <p:sldId id="362" r:id="rId114"/>
    <p:sldId id="363" r:id="rId115"/>
  </p:sldIdLst>
  <p:sldSz cy="5143500" cx="9144000"/>
  <p:notesSz cx="6858000" cy="9144000"/>
  <p:embeddedFontLst>
    <p:embeddedFont>
      <p:font typeface="Noto Sans Symbols"/>
      <p:regular r:id="rId116"/>
      <p:bold r:id="rId11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D0DB2865-2146-4867-8C3A-9EC84B4651C1}">
  <a:tblStyle styleId="{D0DB2865-2146-4867-8C3A-9EC84B4651C1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3.xml"/><Relationship Id="rId42" Type="http://schemas.openxmlformats.org/officeDocument/2006/relationships/slide" Target="slides/slide35.xml"/><Relationship Id="rId41" Type="http://schemas.openxmlformats.org/officeDocument/2006/relationships/slide" Target="slides/slide34.xml"/><Relationship Id="rId44" Type="http://schemas.openxmlformats.org/officeDocument/2006/relationships/slide" Target="slides/slide37.xml"/><Relationship Id="rId43" Type="http://schemas.openxmlformats.org/officeDocument/2006/relationships/slide" Target="slides/slide36.xml"/><Relationship Id="rId46" Type="http://schemas.openxmlformats.org/officeDocument/2006/relationships/slide" Target="slides/slide39.xml"/><Relationship Id="rId45" Type="http://schemas.openxmlformats.org/officeDocument/2006/relationships/slide" Target="slides/slide38.xml"/><Relationship Id="rId107" Type="http://schemas.openxmlformats.org/officeDocument/2006/relationships/slide" Target="slides/slide100.xml"/><Relationship Id="rId106" Type="http://schemas.openxmlformats.org/officeDocument/2006/relationships/slide" Target="slides/slide99.xml"/><Relationship Id="rId105" Type="http://schemas.openxmlformats.org/officeDocument/2006/relationships/slide" Target="slides/slide98.xml"/><Relationship Id="rId104" Type="http://schemas.openxmlformats.org/officeDocument/2006/relationships/slide" Target="slides/slide97.xml"/><Relationship Id="rId109" Type="http://schemas.openxmlformats.org/officeDocument/2006/relationships/slide" Target="slides/slide102.xml"/><Relationship Id="rId108" Type="http://schemas.openxmlformats.org/officeDocument/2006/relationships/slide" Target="slides/slide101.xml"/><Relationship Id="rId48" Type="http://schemas.openxmlformats.org/officeDocument/2006/relationships/slide" Target="slides/slide41.xml"/><Relationship Id="rId47" Type="http://schemas.openxmlformats.org/officeDocument/2006/relationships/slide" Target="slides/slide40.xml"/><Relationship Id="rId49" Type="http://schemas.openxmlformats.org/officeDocument/2006/relationships/slide" Target="slides/slide42.xml"/><Relationship Id="rId103" Type="http://schemas.openxmlformats.org/officeDocument/2006/relationships/slide" Target="slides/slide96.xml"/><Relationship Id="rId102" Type="http://schemas.openxmlformats.org/officeDocument/2006/relationships/slide" Target="slides/slide95.xml"/><Relationship Id="rId101" Type="http://schemas.openxmlformats.org/officeDocument/2006/relationships/slide" Target="slides/slide94.xml"/><Relationship Id="rId100" Type="http://schemas.openxmlformats.org/officeDocument/2006/relationships/slide" Target="slides/slide93.xml"/><Relationship Id="rId31" Type="http://schemas.openxmlformats.org/officeDocument/2006/relationships/slide" Target="slides/slide24.xml"/><Relationship Id="rId30" Type="http://schemas.openxmlformats.org/officeDocument/2006/relationships/slide" Target="slides/slide23.xml"/><Relationship Id="rId33" Type="http://schemas.openxmlformats.org/officeDocument/2006/relationships/slide" Target="slides/slide26.xml"/><Relationship Id="rId32" Type="http://schemas.openxmlformats.org/officeDocument/2006/relationships/slide" Target="slides/slide25.xml"/><Relationship Id="rId35" Type="http://schemas.openxmlformats.org/officeDocument/2006/relationships/slide" Target="slides/slide28.xml"/><Relationship Id="rId34" Type="http://schemas.openxmlformats.org/officeDocument/2006/relationships/slide" Target="slides/slide27.xml"/><Relationship Id="rId37" Type="http://schemas.openxmlformats.org/officeDocument/2006/relationships/slide" Target="slides/slide30.xml"/><Relationship Id="rId36" Type="http://schemas.openxmlformats.org/officeDocument/2006/relationships/slide" Target="slides/slide29.xml"/><Relationship Id="rId39" Type="http://schemas.openxmlformats.org/officeDocument/2006/relationships/slide" Target="slides/slide32.xml"/><Relationship Id="rId38" Type="http://schemas.openxmlformats.org/officeDocument/2006/relationships/slide" Target="slides/slide31.xml"/><Relationship Id="rId20" Type="http://schemas.openxmlformats.org/officeDocument/2006/relationships/slide" Target="slides/slide13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28" Type="http://schemas.openxmlformats.org/officeDocument/2006/relationships/slide" Target="slides/slide21.xml"/><Relationship Id="rId27" Type="http://schemas.openxmlformats.org/officeDocument/2006/relationships/slide" Target="slides/slide20.xml"/><Relationship Id="rId29" Type="http://schemas.openxmlformats.org/officeDocument/2006/relationships/slide" Target="slides/slide22.xml"/><Relationship Id="rId95" Type="http://schemas.openxmlformats.org/officeDocument/2006/relationships/slide" Target="slides/slide88.xml"/><Relationship Id="rId94" Type="http://schemas.openxmlformats.org/officeDocument/2006/relationships/slide" Target="slides/slide87.xml"/><Relationship Id="rId97" Type="http://schemas.openxmlformats.org/officeDocument/2006/relationships/slide" Target="slides/slide90.xml"/><Relationship Id="rId96" Type="http://schemas.openxmlformats.org/officeDocument/2006/relationships/slide" Target="slides/slide89.xml"/><Relationship Id="rId11" Type="http://schemas.openxmlformats.org/officeDocument/2006/relationships/slide" Target="slides/slide4.xml"/><Relationship Id="rId99" Type="http://schemas.openxmlformats.org/officeDocument/2006/relationships/slide" Target="slides/slide92.xml"/><Relationship Id="rId10" Type="http://schemas.openxmlformats.org/officeDocument/2006/relationships/slide" Target="slides/slide3.xml"/><Relationship Id="rId98" Type="http://schemas.openxmlformats.org/officeDocument/2006/relationships/slide" Target="slides/slide91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91" Type="http://schemas.openxmlformats.org/officeDocument/2006/relationships/slide" Target="slides/slide84.xml"/><Relationship Id="rId90" Type="http://schemas.openxmlformats.org/officeDocument/2006/relationships/slide" Target="slides/slide83.xml"/><Relationship Id="rId93" Type="http://schemas.openxmlformats.org/officeDocument/2006/relationships/slide" Target="slides/slide86.xml"/><Relationship Id="rId92" Type="http://schemas.openxmlformats.org/officeDocument/2006/relationships/slide" Target="slides/slide85.xml"/><Relationship Id="rId117" Type="http://schemas.openxmlformats.org/officeDocument/2006/relationships/font" Target="fonts/NotoSansSymbols-bold.fntdata"/><Relationship Id="rId116" Type="http://schemas.openxmlformats.org/officeDocument/2006/relationships/font" Target="fonts/NotoSansSymbols-regular.fntdata"/><Relationship Id="rId115" Type="http://schemas.openxmlformats.org/officeDocument/2006/relationships/slide" Target="slides/slide108.xml"/><Relationship Id="rId15" Type="http://schemas.openxmlformats.org/officeDocument/2006/relationships/slide" Target="slides/slide8.xml"/><Relationship Id="rId110" Type="http://schemas.openxmlformats.org/officeDocument/2006/relationships/slide" Target="slides/slide103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14" Type="http://schemas.openxmlformats.org/officeDocument/2006/relationships/slide" Target="slides/slide107.xml"/><Relationship Id="rId18" Type="http://schemas.openxmlformats.org/officeDocument/2006/relationships/slide" Target="slides/slide11.xml"/><Relationship Id="rId113" Type="http://schemas.openxmlformats.org/officeDocument/2006/relationships/slide" Target="slides/slide106.xml"/><Relationship Id="rId112" Type="http://schemas.openxmlformats.org/officeDocument/2006/relationships/slide" Target="slides/slide105.xml"/><Relationship Id="rId111" Type="http://schemas.openxmlformats.org/officeDocument/2006/relationships/slide" Target="slides/slide104.xml"/><Relationship Id="rId84" Type="http://schemas.openxmlformats.org/officeDocument/2006/relationships/slide" Target="slides/slide77.xml"/><Relationship Id="rId83" Type="http://schemas.openxmlformats.org/officeDocument/2006/relationships/slide" Target="slides/slide76.xml"/><Relationship Id="rId86" Type="http://schemas.openxmlformats.org/officeDocument/2006/relationships/slide" Target="slides/slide79.xml"/><Relationship Id="rId85" Type="http://schemas.openxmlformats.org/officeDocument/2006/relationships/slide" Target="slides/slide78.xml"/><Relationship Id="rId88" Type="http://schemas.openxmlformats.org/officeDocument/2006/relationships/slide" Target="slides/slide81.xml"/><Relationship Id="rId87" Type="http://schemas.openxmlformats.org/officeDocument/2006/relationships/slide" Target="slides/slide80.xml"/><Relationship Id="rId89" Type="http://schemas.openxmlformats.org/officeDocument/2006/relationships/slide" Target="slides/slide82.xml"/><Relationship Id="rId80" Type="http://schemas.openxmlformats.org/officeDocument/2006/relationships/slide" Target="slides/slide73.xml"/><Relationship Id="rId82" Type="http://schemas.openxmlformats.org/officeDocument/2006/relationships/slide" Target="slides/slide75.xml"/><Relationship Id="rId81" Type="http://schemas.openxmlformats.org/officeDocument/2006/relationships/slide" Target="slides/slide74.xml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73" Type="http://schemas.openxmlformats.org/officeDocument/2006/relationships/slide" Target="slides/slide66.xml"/><Relationship Id="rId72" Type="http://schemas.openxmlformats.org/officeDocument/2006/relationships/slide" Target="slides/slide65.xml"/><Relationship Id="rId75" Type="http://schemas.openxmlformats.org/officeDocument/2006/relationships/slide" Target="slides/slide68.xml"/><Relationship Id="rId74" Type="http://schemas.openxmlformats.org/officeDocument/2006/relationships/slide" Target="slides/slide67.xml"/><Relationship Id="rId77" Type="http://schemas.openxmlformats.org/officeDocument/2006/relationships/slide" Target="slides/slide70.xml"/><Relationship Id="rId76" Type="http://schemas.openxmlformats.org/officeDocument/2006/relationships/slide" Target="slides/slide69.xml"/><Relationship Id="rId79" Type="http://schemas.openxmlformats.org/officeDocument/2006/relationships/slide" Target="slides/slide72.xml"/><Relationship Id="rId78" Type="http://schemas.openxmlformats.org/officeDocument/2006/relationships/slide" Target="slides/slide71.xml"/><Relationship Id="rId71" Type="http://schemas.openxmlformats.org/officeDocument/2006/relationships/slide" Target="slides/slide64.xml"/><Relationship Id="rId70" Type="http://schemas.openxmlformats.org/officeDocument/2006/relationships/slide" Target="slides/slide63.xml"/><Relationship Id="rId62" Type="http://schemas.openxmlformats.org/officeDocument/2006/relationships/slide" Target="slides/slide55.xml"/><Relationship Id="rId61" Type="http://schemas.openxmlformats.org/officeDocument/2006/relationships/slide" Target="slides/slide54.xml"/><Relationship Id="rId64" Type="http://schemas.openxmlformats.org/officeDocument/2006/relationships/slide" Target="slides/slide57.xml"/><Relationship Id="rId63" Type="http://schemas.openxmlformats.org/officeDocument/2006/relationships/slide" Target="slides/slide56.xml"/><Relationship Id="rId66" Type="http://schemas.openxmlformats.org/officeDocument/2006/relationships/slide" Target="slides/slide59.xml"/><Relationship Id="rId65" Type="http://schemas.openxmlformats.org/officeDocument/2006/relationships/slide" Target="slides/slide58.xml"/><Relationship Id="rId68" Type="http://schemas.openxmlformats.org/officeDocument/2006/relationships/slide" Target="slides/slide61.xml"/><Relationship Id="rId67" Type="http://schemas.openxmlformats.org/officeDocument/2006/relationships/slide" Target="slides/slide60.xml"/><Relationship Id="rId60" Type="http://schemas.openxmlformats.org/officeDocument/2006/relationships/slide" Target="slides/slide53.xml"/><Relationship Id="rId69" Type="http://schemas.openxmlformats.org/officeDocument/2006/relationships/slide" Target="slides/slide62.xml"/><Relationship Id="rId51" Type="http://schemas.openxmlformats.org/officeDocument/2006/relationships/slide" Target="slides/slide44.xml"/><Relationship Id="rId50" Type="http://schemas.openxmlformats.org/officeDocument/2006/relationships/slide" Target="slides/slide43.xml"/><Relationship Id="rId53" Type="http://schemas.openxmlformats.org/officeDocument/2006/relationships/slide" Target="slides/slide46.xml"/><Relationship Id="rId52" Type="http://schemas.openxmlformats.org/officeDocument/2006/relationships/slide" Target="slides/slide45.xml"/><Relationship Id="rId55" Type="http://schemas.openxmlformats.org/officeDocument/2006/relationships/slide" Target="slides/slide48.xml"/><Relationship Id="rId54" Type="http://schemas.openxmlformats.org/officeDocument/2006/relationships/slide" Target="slides/slide47.xml"/><Relationship Id="rId57" Type="http://schemas.openxmlformats.org/officeDocument/2006/relationships/slide" Target="slides/slide50.xml"/><Relationship Id="rId56" Type="http://schemas.openxmlformats.org/officeDocument/2006/relationships/slide" Target="slides/slide49.xml"/><Relationship Id="rId59" Type="http://schemas.openxmlformats.org/officeDocument/2006/relationships/slide" Target="slides/slide52.xml"/><Relationship Id="rId58" Type="http://schemas.openxmlformats.org/officeDocument/2006/relationships/slide" Target="slides/slide5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b9a787f3a8_2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g3b9a787f3a8_2_3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b9a787f3a8_2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g3b9a787f3a8_2_4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b9a787f3a8_2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g3b9a787f3a8_2_5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b9a787f3a8_2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g3b9a787f3a8_2_5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b9a787f3a8_2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g3b9a787f3a8_2_6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b9a787f3a8_2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g3b9a787f3a8_2_7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b9a787f3a8_2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g3b9a787f3a8_2_9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b9a787f3a8_2_1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g3b9a787f3a8_2_1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b9a787f3a8_2_1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g3b9a787f3a8_2_12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b9a787f3a8_2_1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g3b9a787f3a8_2_12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b9a787f3a8_2_1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g3b9a787f3a8_2_13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b9a787f3a8_2_1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g3b9a787f3a8_2_14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b9a787f3a8_2_1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g3b9a787f3a8_2_14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3b9a787f3a8_2_1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g3b9a787f3a8_2_15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3b9a787f3a8_2_1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g3b9a787f3a8_2_16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b9a787f3a8_2_1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g3b9a787f3a8_2_17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3b9a787f3a8_2_1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g3b9a787f3a8_2_17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3b9a787f3a8_2_1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g3b9a787f3a8_2_18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3b9a787f3a8_2_1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g3b9a787f3a8_2_19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3b9a787f3a8_2_1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g3b9a787f3a8_2_19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3b9a787f3a8_2_2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g3b9a787f3a8_2_20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3b9a787f3a8_2_2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g3b9a787f3a8_2_2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g3b9a787f3a8_2_2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g3b9a787f3a8_2_22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3b9a787f3a8_2_2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g3b9a787f3a8_2_23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g3b9a787f3a8_2_2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g3b9a787f3a8_2_24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g3b9a787f3a8_2_2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g3b9a787f3a8_2_24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g3b9a787f3a8_2_2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g3b9a787f3a8_2_25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g3b9a787f3a8_2_2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g3b9a787f3a8_2_25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g3b9a787f3a8_2_2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" name="Google Shape;343;g3b9a787f3a8_2_26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g3b9a787f3a8_2_2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2" name="Google Shape;372;g3b9a787f3a8_2_29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g3b9a787f3a8_2_3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3" name="Google Shape;403;g3b9a787f3a8_2_32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g3b9a787f3a8_2_3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4" name="Google Shape;434;g3b9a787f3a8_2_35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g3b9a787f3a8_2_3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4" name="Google Shape;464;g3b9a787f3a8_2_38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g3b9a787f3a8_2_3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0" name="Google Shape;470;g3b9a787f3a8_2_38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g3b9a787f3a8_2_3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6" name="Google Shape;476;g3b9a787f3a8_2_39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0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g3b9a787f3a8_2_3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2" name="Google Shape;482;g3b9a787f3a8_2_39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6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g3b9a787f3a8_2_4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8" name="Google Shape;488;g3b9a787f3a8_2_40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8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g3b9a787f3a8_2_4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0" name="Google Shape;500;g3b9a787f3a8_2_4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4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g3b9a787f3a8_2_4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6" name="Google Shape;506;g3b9a787f3a8_2_4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0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g3b9a787f3a8_2_4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2" name="Google Shape;512;g3b9a787f3a8_2_42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0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g3b9a787f3a8_2_4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2" name="Google Shape;522;g3b9a787f3a8_2_43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6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g3b9a787f3a8_2_4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8" name="Google Shape;528;g3b9a787f3a8_2_43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2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g3b9a787f3a8_2_4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4" name="Google Shape;534;g3b9a787f3a8_2_44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8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g3b9a787f3a8_2_4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0" name="Google Shape;540;g3b9a787f3a8_2_44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4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g3b9a787f3a8_2_4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6" name="Google Shape;546;g3b9a787f3a8_2_45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0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Google Shape;551;g3b9a787f3a8_2_4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2" name="Google Shape;552;g3b9a787f3a8_2_45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0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g3b9a787f3a8_2_4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2" name="Google Shape;562;g3b9a787f3a8_2_46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5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g3b9a787f3a8_2_4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7" name="Google Shape;577;g3b9a787f3a8_2_47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g3b9a787f3a8_2_4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3" name="Google Shape;583;g3b9a787f3a8_2_48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7" name="Shape 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Google Shape;588;g3b9a787f3a8_2_4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9" name="Google Shape;589;g3b9a787f3a8_2_48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3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Google Shape;594;g3b9a787f3a8_2_4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5" name="Google Shape;595;g3b9a787f3a8_2_49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9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Google Shape;600;g3b9a787f3a8_2_4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1" name="Google Shape;601;g3b9a787f3a8_2_49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2" name="Shape 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" name="Google Shape;613;g3b9a787f3a8_2_5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4" name="Google Shape;614;g3b9a787f3a8_2_5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8" name="Shape 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" name="Google Shape;619;g3b9a787f3a8_2_5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0" name="Google Shape;620;g3b9a787f3a8_2_5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4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" name="Google Shape;625;g3b9a787f3a8_2_5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6" name="Google Shape;626;g3b9a787f3a8_2_52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0" name="Shape 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" name="Google Shape;631;g3b9a787f3a8_2_5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2" name="Google Shape;632;g3b9a787f3a8_2_52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6" name="Shape 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7" name="Google Shape;637;g3b9a787f3a8_2_5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8" name="Google Shape;638;g3b9a787f3a8_2_53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2" name="Shape 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" name="Google Shape;643;g3b9a787f3a8_2_5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4" name="Google Shape;644;g3b9a787f3a8_2_53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1" name="Shape 6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2" name="Google Shape;652;g3b9a787f3a8_2_5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3" name="Google Shape;653;g3b9a787f3a8_2_54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2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Google Shape;663;g3b9a787f3a8_2_5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4" name="Google Shape;664;g3b9a787f3a8_2_55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3" name="Shape 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4" name="Google Shape;674;g3b9a787f3a8_2_5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5" name="Google Shape;675;g3b9a787f3a8_2_56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2" name="Shape 6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3" name="Google Shape;683;g3b9a787f3a8_2_5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4" name="Google Shape;684;g3b9a787f3a8_2_57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8" name="Shape 6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9" name="Google Shape;689;g3b9a787f3a8_2_5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0" name="Google Shape;690;g3b9a787f3a8_2_57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9" name="Shape 6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0" name="Google Shape;700;g3b9a787f3a8_2_5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1" name="Google Shape;701;g3b9a787f3a8_2_58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0" name="Shape 7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1" name="Google Shape;711;g3b9a787f3a8_2_5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2" name="Google Shape;712;g3b9a787f3a8_2_59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1" name="Shape 7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2" name="Google Shape;722;g3b9a787f3a8_2_6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3" name="Google Shape;723;g3b9a787f3a8_2_60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2" name="Shape 7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3" name="Google Shape;733;g3b9a787f3a8_2_6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4" name="Google Shape;734;g3b9a787f3a8_2_6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1" name="Shape 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2" name="Google Shape;742;g3b9a787f3a8_2_6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3" name="Google Shape;743;g3b9a787f3a8_2_62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7" name="Shape 7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8" name="Google Shape;748;g3b9a787f3a8_2_6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9" name="Google Shape;749;g3b9a787f3a8_2_63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8" name="Shape 7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9" name="Google Shape;759;g3b9a787f3a8_2_6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0" name="Google Shape;760;g3b9a787f3a8_2_64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2" name="Shape 7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3" name="Google Shape;773;g3b9a787f3a8_2_6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4" name="Google Shape;774;g3b9a787f3a8_2_65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3" name="Shape 7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4" name="Google Shape;784;g3b9a787f3a8_2_6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5" name="Google Shape;785;g3b9a787f3a8_2_66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3" name="Shape 7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4" name="Google Shape;794;g3b9a787f3a8_2_6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5" name="Google Shape;795;g3b9a787f3a8_2_67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9" name="Shape 7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0" name="Google Shape;800;g3b9a787f3a8_2_6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1" name="Google Shape;801;g3b9a787f3a8_2_67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1" name="Shape 8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2" name="Google Shape;812;g3b9a787f3a8_2_6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3" name="Google Shape;813;g3b9a787f3a8_2_68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7" name="Shape 8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8" name="Google Shape;818;g3b9a787f3a8_2_6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9" name="Google Shape;819;g3b9a787f3a8_2_69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5" name="Shape 8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6" name="Google Shape;836;g3b9a787f3a8_2_7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7" name="Google Shape;837;g3b9a787f3a8_2_7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1" name="Shape 8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2" name="Google Shape;842;g3b9a787f3a8_2_7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3" name="Google Shape;843;g3b9a787f3a8_2_7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7" name="Shape 8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8" name="Google Shape;848;g3b9a787f3a8_2_7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9" name="Google Shape;849;g3b9a787f3a8_2_7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4" name="Shape 8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5" name="Google Shape;855;g3b9a787f3a8_2_7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6" name="Google Shape;856;g3b9a787f3a8_2_72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0" name="Shape 8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1" name="Google Shape;861;g3b9a787f3a8_2_7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2" name="Google Shape;862;g3b9a787f3a8_2_73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9" name="Shape 8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" name="Google Shape;870;g3b9a787f3a8_2_7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1" name="Google Shape;871;g3b9a787f3a8_2_73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6" name="Shape 8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7" name="Google Shape;887;g3b9a787f3a8_2_7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8" name="Google Shape;888;g3b9a787f3a8_2_75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3" name="Shape 8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4" name="Google Shape;894;g3b9a787f3a8_2_7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5" name="Google Shape;895;g3b9a787f3a8_2_76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0" name="Shape 9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" name="Google Shape;901;g3b9a787f3a8_2_7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2" name="Google Shape;902;g3b9a787f3a8_2_76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6" name="Shape 9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7" name="Google Shape;907;g3b9a787f3a8_2_7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8" name="Google Shape;908;g3b9a787f3a8_2_77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2" name="Shape 9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3" name="Google Shape;913;g3b9a787f3a8_2_7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4" name="Google Shape;914;g3b9a787f3a8_2_77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8" name="Shape 9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9" name="Google Shape;919;g3b9a787f3a8_2_7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0" name="Google Shape;920;g3b9a787f3a8_2_78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6" name="Shape 9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7" name="Google Shape;927;g3b9a787f3a8_2_7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8" name="Google Shape;928;g3b9a787f3a8_2_78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2" name="Shape 9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3" name="Google Shape;933;g3b9a787f3a8_2_7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4" name="Google Shape;934;g3b9a787f3a8_2_79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9" name="Shape 9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0" name="Google Shape;940;g3b9a787f3a8_2_8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1" name="Google Shape;941;g3b9a787f3a8_2_80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5" name="Shape 9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6" name="Google Shape;946;g3b9a787f3a8_2_8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7" name="Google Shape;947;g3b9a787f3a8_2_80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3" name="Shape 9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4" name="Google Shape;954;g3b9a787f3a8_2_8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5" name="Google Shape;955;g3b9a787f3a8_2_8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3" name="Shape 9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4" name="Google Shape;964;g3b9a787f3a8_2_8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5" name="Google Shape;965;g3b9a787f3a8_2_82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4" name="Shape 9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5" name="Google Shape;975;g3b9a787f3a8_2_8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6" name="Google Shape;976;g3b9a787f3a8_2_83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0" name="Shape 9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1" name="Google Shape;981;g3b9a787f3a8_2_8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2" name="Google Shape;982;g3b9a787f3a8_2_83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9" name="Shape 9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0" name="Google Shape;990;g3b9a787f3a8_2_8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1" name="Google Shape;991;g3b9a787f3a8_2_84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5" name="Shape 9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6" name="Google Shape;996;g3b9a787f3a8_2_8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7" name="Google Shape;997;g3b9a787f3a8_2_84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4" name="Shape 10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5" name="Google Shape;1005;g3b9a787f3a8_2_8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6" name="Google Shape;1006;g3b9a787f3a8_2_85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0" name="Shape 10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1" name="Google Shape;1011;g3b9a787f3a8_2_8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2" name="Google Shape;1012;g3b9a787f3a8_2_86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6" name="Shape 10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7" name="Google Shape;1017;g3b9a787f3a8_2_8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8" name="Google Shape;1018;g3b9a787f3a8_2_86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5" name="Shape 10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Google Shape;1026;g3b9a787f3a8_2_8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7" name="Google Shape;1027;g3b9a787f3a8_2_87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1" name="Shape 10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2" name="Google Shape;1032;g3b9a787f3a8_2_8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3" name="Google Shape;1033;g3b9a787f3a8_2_88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7" name="Shape 10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8" name="Google Shape;1038;g3b9a787f3a8_2_8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9" name="Google Shape;1039;g3b9a787f3a8_2_88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4" name="Shape 10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5" name="Google Shape;1045;g3b9a787f3a8_2_8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6" name="Google Shape;1046;g3b9a787f3a8_2_89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0" name="Shape 10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1" name="Google Shape;1051;g3b9a787f3a8_2_8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2" name="Google Shape;1052;g3b9a787f3a8_2_89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0" name="Shape 10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1" name="Google Shape;1071;g3b9a787f3a8_2_9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2" name="Google Shape;1072;g3b9a787f3a8_2_9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6" name="Shape 10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7" name="Google Shape;1077;g3b9a787f3a8_2_9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8" name="Google Shape;1078;g3b9a787f3a8_2_9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4"/>
          <p:cNvSpPr txBox="1"/>
          <p:nvPr>
            <p:ph type="title"/>
          </p:nvPr>
        </p:nvSpPr>
        <p:spPr>
          <a:xfrm>
            <a:off x="158039" y="78961"/>
            <a:ext cx="7938135" cy="12148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1" i="0" sz="3800">
                <a:solidFill>
                  <a:srgbClr val="532708"/>
                </a:solidFill>
                <a:latin typeface="Lucida Sans"/>
                <a:ea typeface="Lucida Sans"/>
                <a:cs typeface="Lucida Sans"/>
                <a:sym typeface="Lucid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Google Shape;59;p14"/>
          <p:cNvSpPr txBox="1"/>
          <p:nvPr>
            <p:ph idx="1" type="body"/>
          </p:nvPr>
        </p:nvSpPr>
        <p:spPr>
          <a:xfrm>
            <a:off x="497966" y="1310639"/>
            <a:ext cx="6566535" cy="18445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2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Google Shape;60;p14"/>
          <p:cNvSpPr txBox="1"/>
          <p:nvPr>
            <p:ph idx="11" type="ftr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1" name="Google Shape;61;p14"/>
          <p:cNvSpPr txBox="1"/>
          <p:nvPr>
            <p:ph idx="10" type="dt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2" name="Google Shape;62;p14"/>
          <p:cNvSpPr txBox="1"/>
          <p:nvPr>
            <p:ph idx="12" type="sldNum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showMasterSp="0">
  <p:cSld name="Blank">
    <p:bg>
      <p:bgPr>
        <a:solidFill>
          <a:schemeClr val="lt1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1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11820" y="198733"/>
            <a:ext cx="8400483" cy="4520713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15"/>
          <p:cNvSpPr/>
          <p:nvPr/>
        </p:nvSpPr>
        <p:spPr>
          <a:xfrm>
            <a:off x="2429446" y="114872"/>
            <a:ext cx="4536758" cy="4708208"/>
          </a:xfrm>
          <a:custGeom>
            <a:rect b="b" l="l" r="r" t="t"/>
            <a:pathLst>
              <a:path extrusionOk="0" h="6277610" w="6049009">
                <a:moveTo>
                  <a:pt x="0" y="6277356"/>
                </a:moveTo>
                <a:lnTo>
                  <a:pt x="6048755" y="6277356"/>
                </a:lnTo>
                <a:lnTo>
                  <a:pt x="6048755" y="0"/>
                </a:lnTo>
                <a:lnTo>
                  <a:pt x="0" y="0"/>
                </a:lnTo>
                <a:lnTo>
                  <a:pt x="0" y="6277356"/>
                </a:lnTo>
                <a:close/>
              </a:path>
            </a:pathLst>
          </a:cu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66" name="Google Shape;66;p15"/>
          <p:cNvSpPr txBox="1"/>
          <p:nvPr>
            <p:ph idx="11" type="ftr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Google Shape;67;p15"/>
          <p:cNvSpPr txBox="1"/>
          <p:nvPr>
            <p:ph idx="10" type="dt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8" name="Google Shape;68;p15"/>
          <p:cNvSpPr txBox="1"/>
          <p:nvPr>
            <p:ph idx="12" type="sldNum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6"/>
          <p:cNvSpPr txBox="1"/>
          <p:nvPr>
            <p:ph type="title"/>
          </p:nvPr>
        </p:nvSpPr>
        <p:spPr>
          <a:xfrm>
            <a:off x="158039" y="78961"/>
            <a:ext cx="7938135" cy="12148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1" i="0" sz="3800">
                <a:solidFill>
                  <a:srgbClr val="532708"/>
                </a:solidFill>
                <a:latin typeface="Lucida Sans"/>
                <a:ea typeface="Lucida Sans"/>
                <a:cs typeface="Lucida Sans"/>
                <a:sym typeface="Lucid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1" name="Google Shape;71;p16"/>
          <p:cNvSpPr txBox="1"/>
          <p:nvPr>
            <p:ph idx="11" type="ftr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Google Shape;72;p16"/>
          <p:cNvSpPr txBox="1"/>
          <p:nvPr>
            <p:ph idx="10" type="dt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Google Shape;73;p16"/>
          <p:cNvSpPr txBox="1"/>
          <p:nvPr>
            <p:ph idx="12" type="sldNum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7"/>
          <p:cNvSpPr txBox="1"/>
          <p:nvPr>
            <p:ph type="ctrTitle"/>
          </p:nvPr>
        </p:nvSpPr>
        <p:spPr>
          <a:xfrm>
            <a:off x="158038" y="78961"/>
            <a:ext cx="4818221" cy="5910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1" i="0" sz="3800">
                <a:solidFill>
                  <a:srgbClr val="532708"/>
                </a:solidFill>
                <a:latin typeface="Lucida Sans"/>
                <a:ea typeface="Lucida Sans"/>
                <a:cs typeface="Lucida Sans"/>
                <a:sym typeface="Lucid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Google Shape;76;p17"/>
          <p:cNvSpPr txBox="1"/>
          <p:nvPr>
            <p:ph idx="1" type="subTitle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2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7" name="Google Shape;77;p17"/>
          <p:cNvSpPr txBox="1"/>
          <p:nvPr>
            <p:ph idx="11" type="ftr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Google Shape;78;p17"/>
          <p:cNvSpPr txBox="1"/>
          <p:nvPr>
            <p:ph idx="10" type="dt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Google Shape;79;p17"/>
          <p:cNvSpPr txBox="1"/>
          <p:nvPr>
            <p:ph idx="12" type="sldNum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8"/>
          <p:cNvSpPr txBox="1"/>
          <p:nvPr>
            <p:ph type="title"/>
          </p:nvPr>
        </p:nvSpPr>
        <p:spPr>
          <a:xfrm>
            <a:off x="158039" y="78961"/>
            <a:ext cx="7938135" cy="12148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1" i="0" sz="3800">
                <a:solidFill>
                  <a:srgbClr val="532708"/>
                </a:solidFill>
                <a:latin typeface="Lucida Sans"/>
                <a:ea typeface="Lucida Sans"/>
                <a:cs typeface="Lucida Sans"/>
                <a:sym typeface="Lucid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2" name="Google Shape;82;p18"/>
          <p:cNvSpPr txBox="1"/>
          <p:nvPr>
            <p:ph idx="1" type="body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3" name="Google Shape;83;p18"/>
          <p:cNvSpPr txBox="1"/>
          <p:nvPr>
            <p:ph idx="2" type="body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4" name="Google Shape;84;p18"/>
          <p:cNvSpPr txBox="1"/>
          <p:nvPr>
            <p:ph idx="11" type="ftr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5" name="Google Shape;85;p18"/>
          <p:cNvSpPr txBox="1"/>
          <p:nvPr>
            <p:ph idx="10" type="dt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6" name="Google Shape;86;p18"/>
          <p:cNvSpPr txBox="1"/>
          <p:nvPr>
            <p:ph idx="12" type="sldNum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2.xml"/><Relationship Id="rId3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4.xml"/><Relationship Id="rId5" Type="http://schemas.openxmlformats.org/officeDocument/2006/relationships/slideLayout" Target="../slideLayouts/slideLayout15.xml"/><Relationship Id="rId6" Type="http://schemas.openxmlformats.org/officeDocument/2006/relationships/slideLayout" Target="../slideLayouts/slideLayout1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Google Shape;51;p13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8000" y="814958"/>
            <a:ext cx="9021699" cy="145161"/>
          </a:xfrm>
          <a:prstGeom prst="rect">
            <a:avLst/>
          </a:prstGeom>
          <a:noFill/>
          <a:ln>
            <a:noFill/>
          </a:ln>
        </p:spPr>
      </p:pic>
      <p:sp>
        <p:nvSpPr>
          <p:cNvPr id="52" name="Google Shape;52;p13"/>
          <p:cNvSpPr txBox="1"/>
          <p:nvPr>
            <p:ph type="title"/>
          </p:nvPr>
        </p:nvSpPr>
        <p:spPr>
          <a:xfrm>
            <a:off x="158039" y="78961"/>
            <a:ext cx="7938135" cy="12148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1" i="0" sz="3800" u="none" cap="none" strike="noStrike">
                <a:solidFill>
                  <a:srgbClr val="532708"/>
                </a:solidFill>
                <a:latin typeface="Lucida Sans"/>
                <a:ea typeface="Lucida Sans"/>
                <a:cs typeface="Lucida Sans"/>
                <a:sym typeface="Lucid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53" name="Google Shape;53;p13"/>
          <p:cNvSpPr txBox="1"/>
          <p:nvPr>
            <p:ph idx="1" type="body"/>
          </p:nvPr>
        </p:nvSpPr>
        <p:spPr>
          <a:xfrm>
            <a:off x="497966" y="1310639"/>
            <a:ext cx="6566535" cy="18445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14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55" name="Google Shape;55;p13"/>
          <p:cNvSpPr txBox="1"/>
          <p:nvPr>
            <p:ph idx="10" type="dt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56" name="Google Shape;56;p13"/>
          <p:cNvSpPr txBox="1"/>
          <p:nvPr>
            <p:ph idx="12" type="sldNum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 sz="1400"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 sz="1400"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 sz="1400"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 sz="1400"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 sz="1400"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 sz="1400"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 sz="1400"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 sz="1400"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 sz="1400"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sz="1100">
              <a:solidFill>
                <a:srgbClr val="000000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2"/>
    <p:sldLayoutId id="2147483660" r:id="rId3"/>
    <p:sldLayoutId id="2147483661" r:id="rId4"/>
    <p:sldLayoutId id="2147483662" r:id="rId5"/>
    <p:sldLayoutId id="2147483663" r:id="rId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docs.microsoft.com/en-us/azure/cloud-adoption-framework/strategy/monitoring-strategy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8.png"/><Relationship Id="rId4" Type="http://schemas.openxmlformats.org/officeDocument/2006/relationships/image" Target="../media/image17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2.png"/><Relationship Id="rId4" Type="http://schemas.openxmlformats.org/officeDocument/2006/relationships/image" Target="../media/image20.jpg"/><Relationship Id="rId5" Type="http://schemas.openxmlformats.org/officeDocument/2006/relationships/image" Target="../media/image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.png"/><Relationship Id="rId4" Type="http://schemas.openxmlformats.org/officeDocument/2006/relationships/image" Target="../media/image15.jpg"/><Relationship Id="rId5" Type="http://schemas.openxmlformats.org/officeDocument/2006/relationships/image" Target="../media/image2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6.png"/><Relationship Id="rId4" Type="http://schemas.openxmlformats.org/officeDocument/2006/relationships/image" Target="../media/image9.jpg"/><Relationship Id="rId5" Type="http://schemas.openxmlformats.org/officeDocument/2006/relationships/image" Target="../media/image2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4.png"/><Relationship Id="rId4" Type="http://schemas.openxmlformats.org/officeDocument/2006/relationships/image" Target="../media/image14.jpg"/><Relationship Id="rId5" Type="http://schemas.openxmlformats.org/officeDocument/2006/relationships/hyperlink" Target="https://azure.microsoft.com/en-us/support/legal/sla/virtual-machines/v1_9/" TargetMode="Externa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6.jp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2.png"/><Relationship Id="rId4" Type="http://schemas.openxmlformats.org/officeDocument/2006/relationships/image" Target="../media/image10.png"/><Relationship Id="rId5" Type="http://schemas.openxmlformats.org/officeDocument/2006/relationships/image" Target="../media/image33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3.png"/><Relationship Id="rId4" Type="http://schemas.openxmlformats.org/officeDocument/2006/relationships/image" Target="../media/image12.png"/><Relationship Id="rId5" Type="http://schemas.openxmlformats.org/officeDocument/2006/relationships/image" Target="../media/image10.png"/><Relationship Id="rId6" Type="http://schemas.openxmlformats.org/officeDocument/2006/relationships/image" Target="../media/image33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3.png"/><Relationship Id="rId4" Type="http://schemas.openxmlformats.org/officeDocument/2006/relationships/image" Target="../media/image12.png"/><Relationship Id="rId5" Type="http://schemas.openxmlformats.org/officeDocument/2006/relationships/image" Target="../media/image10.png"/><Relationship Id="rId6" Type="http://schemas.openxmlformats.org/officeDocument/2006/relationships/image" Target="../media/image33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2.png"/><Relationship Id="rId4" Type="http://schemas.openxmlformats.org/officeDocument/2006/relationships/image" Target="../media/image10.png"/><Relationship Id="rId5" Type="http://schemas.openxmlformats.org/officeDocument/2006/relationships/image" Target="../media/image33.png"/><Relationship Id="rId6" Type="http://schemas.openxmlformats.org/officeDocument/2006/relationships/image" Target="../media/image25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26.png"/><Relationship Id="rId4" Type="http://schemas.openxmlformats.org/officeDocument/2006/relationships/image" Target="../media/image24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5.xml"/><Relationship Id="rId3" Type="http://schemas.openxmlformats.org/officeDocument/2006/relationships/hyperlink" Target="https://docs.microsoft.com/en-us/azure/architecture/icons/" TargetMode="Externa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37.jpg"/><Relationship Id="rId4" Type="http://schemas.openxmlformats.org/officeDocument/2006/relationships/image" Target="../media/image29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37.jpg"/><Relationship Id="rId4" Type="http://schemas.openxmlformats.org/officeDocument/2006/relationships/image" Target="../media/image29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27.png"/><Relationship Id="rId4" Type="http://schemas.openxmlformats.org/officeDocument/2006/relationships/image" Target="../media/image31.png"/><Relationship Id="rId5" Type="http://schemas.openxmlformats.org/officeDocument/2006/relationships/hyperlink" Target="https://azure.microsoft.com/en-us/pricing/details/app-service/linux/" TargetMode="External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30.jpg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9.xml"/><Relationship Id="rId3" Type="http://schemas.openxmlformats.org/officeDocument/2006/relationships/image" Target="../media/image32.png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0.xml"/><Relationship Id="rId3" Type="http://schemas.openxmlformats.org/officeDocument/2006/relationships/image" Target="../media/image35.png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3.xml"/><Relationship Id="rId3" Type="http://schemas.openxmlformats.org/officeDocument/2006/relationships/image" Target="../media/image32.png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4.xml"/><Relationship Id="rId3" Type="http://schemas.openxmlformats.org/officeDocument/2006/relationships/image" Target="../media/image32.png"/><Relationship Id="rId4" Type="http://schemas.openxmlformats.org/officeDocument/2006/relationships/image" Target="../media/image35.png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5.xml"/><Relationship Id="rId3" Type="http://schemas.openxmlformats.org/officeDocument/2006/relationships/image" Target="../media/image35.png"/><Relationship Id="rId4" Type="http://schemas.openxmlformats.org/officeDocument/2006/relationships/image" Target="../media/image32.png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6.xml"/><Relationship Id="rId3" Type="http://schemas.openxmlformats.org/officeDocument/2006/relationships/image" Target="../media/image35.png"/></Relationships>
</file>

<file path=ppt/slides/_rels/slide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9.xml"/><Relationship Id="rId3" Type="http://schemas.openxmlformats.org/officeDocument/2006/relationships/image" Target="../media/image32.png"/></Relationships>
</file>

<file path=ppt/slides/_rels/slide7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0.xml"/><Relationship Id="rId3" Type="http://schemas.openxmlformats.org/officeDocument/2006/relationships/image" Target="../media/image32.png"/><Relationship Id="rId4" Type="http://schemas.openxmlformats.org/officeDocument/2006/relationships/image" Target="../media/image45.png"/><Relationship Id="rId5" Type="http://schemas.openxmlformats.org/officeDocument/2006/relationships/image" Target="../media/image35.png"/></Relationships>
</file>

<file path=ppt/slides/_rels/slide7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1.xml"/><Relationship Id="rId3" Type="http://schemas.openxmlformats.org/officeDocument/2006/relationships/image" Target="../media/image45.png"/><Relationship Id="rId4" Type="http://schemas.openxmlformats.org/officeDocument/2006/relationships/image" Target="../media/image35.png"/></Relationships>
</file>

<file path=ppt/slides/_rels/slide7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2.xml"/></Relationships>
</file>

<file path=ppt/slides/_rels/slide7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3.xml"/></Relationships>
</file>

<file path=ppt/slides/_rels/slide7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4.xml"/><Relationship Id="rId3" Type="http://schemas.openxmlformats.org/officeDocument/2006/relationships/image" Target="../media/image37.jpg"/><Relationship Id="rId4" Type="http://schemas.openxmlformats.org/officeDocument/2006/relationships/image" Target="../media/image29.png"/><Relationship Id="rId5" Type="http://schemas.openxmlformats.org/officeDocument/2006/relationships/image" Target="../media/image43.png"/></Relationships>
</file>

<file path=ppt/slides/_rels/slide7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5.xml"/></Relationships>
</file>

<file path=ppt/slides/_rels/slide7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6.xml"/><Relationship Id="rId3" Type="http://schemas.openxmlformats.org/officeDocument/2006/relationships/image" Target="../media/image37.jpg"/><Relationship Id="rId4" Type="http://schemas.openxmlformats.org/officeDocument/2006/relationships/image" Target="../media/image29.png"/><Relationship Id="rId5" Type="http://schemas.openxmlformats.org/officeDocument/2006/relationships/image" Target="../media/image43.png"/><Relationship Id="rId6" Type="http://schemas.openxmlformats.org/officeDocument/2006/relationships/image" Target="../media/image52.png"/><Relationship Id="rId7" Type="http://schemas.openxmlformats.org/officeDocument/2006/relationships/image" Target="../media/image44.png"/></Relationships>
</file>

<file path=ppt/slides/_rels/slide7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7.xml"/></Relationships>
</file>

<file path=ppt/slides/_rels/slide7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8.xml"/></Relationships>
</file>

<file path=ppt/slides/_rels/slide7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79.xml"/><Relationship Id="rId3" Type="http://schemas.openxmlformats.org/officeDocument/2006/relationships/image" Target="../media/image41.jpg"/></Relationships>
</file>

<file path=ppt/slides/_rels/slide8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80.xml"/><Relationship Id="rId3" Type="http://schemas.openxmlformats.org/officeDocument/2006/relationships/image" Target="../media/image68.jpg"/></Relationships>
</file>

<file path=ppt/slides/_rels/slide8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81.xml"/></Relationships>
</file>

<file path=ppt/slides/_rels/slide8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2.xml"/><Relationship Id="rId3" Type="http://schemas.openxmlformats.org/officeDocument/2006/relationships/image" Target="../media/image68.jpg"/><Relationship Id="rId4" Type="http://schemas.openxmlformats.org/officeDocument/2006/relationships/image" Target="../media/image49.png"/><Relationship Id="rId5" Type="http://schemas.openxmlformats.org/officeDocument/2006/relationships/image" Target="../media/image63.png"/></Relationships>
</file>

<file path=ppt/slides/_rels/slide8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83.xml"/></Relationships>
</file>

<file path=ppt/slides/_rels/slide8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84.xml"/></Relationships>
</file>

<file path=ppt/slides/_rels/slide8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5.xml"/></Relationships>
</file>

<file path=ppt/slides/_rels/slide8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6.xml"/></Relationships>
</file>

<file path=ppt/slides/_rels/slide8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7.xml"/></Relationships>
</file>

<file path=ppt/slides/_rels/slide8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8.xml"/><Relationship Id="rId3" Type="http://schemas.openxmlformats.org/officeDocument/2006/relationships/image" Target="../media/image50.png"/></Relationships>
</file>

<file path=ppt/slides/_rels/slide8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9.xml"/></Relationships>
</file>

<file path=ppt/slides/_rels/slide9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90.xml"/><Relationship Id="rId3" Type="http://schemas.openxmlformats.org/officeDocument/2006/relationships/image" Target="../media/image46.jpg"/><Relationship Id="rId4" Type="http://schemas.openxmlformats.org/officeDocument/2006/relationships/hyperlink" Target="https://azure.microsoft.com/en-us/blog/understanding-serverless-cold-start/" TargetMode="External"/></Relationships>
</file>

<file path=ppt/slides/_rels/slide9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1.xml"/></Relationships>
</file>

<file path=ppt/slides/_rels/slide9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2.xml"/></Relationships>
</file>

<file path=ppt/slides/_rels/slide9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3.xml"/><Relationship Id="rId3" Type="http://schemas.openxmlformats.org/officeDocument/2006/relationships/image" Target="../media/image48.png"/><Relationship Id="rId4" Type="http://schemas.openxmlformats.org/officeDocument/2006/relationships/image" Target="../media/image51.png"/></Relationships>
</file>

<file path=ppt/slides/_rels/slide9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4.xml"/><Relationship Id="rId3" Type="http://schemas.openxmlformats.org/officeDocument/2006/relationships/image" Target="../media/image47.png"/><Relationship Id="rId4" Type="http://schemas.openxmlformats.org/officeDocument/2006/relationships/image" Target="../media/image58.png"/></Relationships>
</file>

<file path=ppt/slides/_rels/slide9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5.xml"/></Relationships>
</file>

<file path=ppt/slides/_rels/slide9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6.xml"/><Relationship Id="rId3" Type="http://schemas.openxmlformats.org/officeDocument/2006/relationships/image" Target="../media/image66.png"/><Relationship Id="rId4" Type="http://schemas.openxmlformats.org/officeDocument/2006/relationships/image" Target="../media/image55.png"/></Relationships>
</file>

<file path=ppt/slides/_rels/slide9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7.xml"/></Relationships>
</file>

<file path=ppt/slides/_rels/slide9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8.xml"/><Relationship Id="rId3" Type="http://schemas.openxmlformats.org/officeDocument/2006/relationships/image" Target="../media/image55.png"/></Relationships>
</file>

<file path=ppt/slides/_rels/slide9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9.xml"/></Relationships>
</file>

<file path=ppt/slides/_rels/slide10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0.xml"/></Relationships>
</file>

<file path=ppt/slides/_rels/slide10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1.xml"/><Relationship Id="rId3" Type="http://schemas.openxmlformats.org/officeDocument/2006/relationships/image" Target="../media/image62.png"/><Relationship Id="rId4" Type="http://schemas.openxmlformats.org/officeDocument/2006/relationships/image" Target="../media/image59.jpg"/></Relationships>
</file>

<file path=ppt/slides/_rels/slide10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2.xml"/></Relationships>
</file>

<file path=ppt/slides/_rels/slide10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3.xml"/></Relationships>
</file>

<file path=ppt/slides/_rels/slide10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4.xml"/><Relationship Id="rId3" Type="http://schemas.openxmlformats.org/officeDocument/2006/relationships/image" Target="../media/image57.png"/></Relationships>
</file>

<file path=ppt/slides/_rels/slide10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05.xml"/><Relationship Id="rId3" Type="http://schemas.openxmlformats.org/officeDocument/2006/relationships/image" Target="../media/image60.png"/></Relationships>
</file>

<file path=ppt/slides/_rels/slide10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6.xml"/><Relationship Id="rId3" Type="http://schemas.openxmlformats.org/officeDocument/2006/relationships/image" Target="../media/image37.jpg"/><Relationship Id="rId4" Type="http://schemas.openxmlformats.org/officeDocument/2006/relationships/image" Target="../media/image29.png"/><Relationship Id="rId5" Type="http://schemas.openxmlformats.org/officeDocument/2006/relationships/image" Target="../media/image43.png"/><Relationship Id="rId6" Type="http://schemas.openxmlformats.org/officeDocument/2006/relationships/image" Target="../media/image52.png"/><Relationship Id="rId7" Type="http://schemas.openxmlformats.org/officeDocument/2006/relationships/image" Target="../media/image44.png"/><Relationship Id="rId8" Type="http://schemas.openxmlformats.org/officeDocument/2006/relationships/image" Target="../media/image64.png"/></Relationships>
</file>

<file path=ppt/slides/_rels/slide10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07.xml"/><Relationship Id="rId3" Type="http://schemas.openxmlformats.org/officeDocument/2006/relationships/image" Target="../media/image61.png"/></Relationships>
</file>

<file path=ppt/slides/_rels/slide10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9"/>
          <p:cNvSpPr txBox="1"/>
          <p:nvPr>
            <p:ph type="title"/>
          </p:nvPr>
        </p:nvSpPr>
        <p:spPr>
          <a:xfrm>
            <a:off x="158039" y="78961"/>
            <a:ext cx="7938135" cy="12148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90900">
            <a:spAutoFit/>
          </a:bodyPr>
          <a:lstStyle/>
          <a:p>
            <a:pPr indent="0" lvl="0" marL="469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>
                <a:solidFill>
                  <a:srgbClr val="001F5F"/>
                </a:solidFill>
              </a:rPr>
              <a:t>Azure Compute</a:t>
            </a:r>
            <a:endParaRPr sz="6000"/>
          </a:p>
        </p:txBody>
      </p:sp>
      <p:sp>
        <p:nvSpPr>
          <p:cNvPr id="92" name="Google Shape;92;p19"/>
          <p:cNvSpPr txBox="1"/>
          <p:nvPr/>
        </p:nvSpPr>
        <p:spPr>
          <a:xfrm>
            <a:off x="333375" y="4262325"/>
            <a:ext cx="3960300" cy="3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>
                <a:solidFill>
                  <a:srgbClr val="001F5F"/>
                </a:solidFill>
                <a:latin typeface="Lucida Sans"/>
                <a:ea typeface="Lucida Sans"/>
                <a:cs typeface="Lucida Sans"/>
                <a:sym typeface="Lucida Sans"/>
              </a:rPr>
              <a:t>Saurav Kunal</a:t>
            </a:r>
            <a:endParaRPr sz="2300">
              <a:latin typeface="Lucida Sans"/>
              <a:ea typeface="Lucida Sans"/>
              <a:cs typeface="Lucida Sans"/>
              <a:sym typeface="Lucida Sans"/>
            </a:endParaRPr>
          </a:p>
        </p:txBody>
      </p:sp>
      <p:grpSp>
        <p:nvGrpSpPr>
          <p:cNvPr id="93" name="Google Shape;93;p19"/>
          <p:cNvGrpSpPr/>
          <p:nvPr/>
        </p:nvGrpSpPr>
        <p:grpSpPr>
          <a:xfrm>
            <a:off x="328040" y="452628"/>
            <a:ext cx="114300" cy="3535680"/>
            <a:chOff x="437387" y="603504"/>
            <a:chExt cx="152400" cy="4714240"/>
          </a:xfrm>
        </p:grpSpPr>
        <p:sp>
          <p:nvSpPr>
            <p:cNvPr id="94" name="Google Shape;94;p19"/>
            <p:cNvSpPr/>
            <p:nvPr/>
          </p:nvSpPr>
          <p:spPr>
            <a:xfrm>
              <a:off x="437387" y="603504"/>
              <a:ext cx="152400" cy="4714240"/>
            </a:xfrm>
            <a:custGeom>
              <a:rect b="b" l="l" r="r" t="t"/>
              <a:pathLst>
                <a:path extrusionOk="0" h="4714240" w="152400">
                  <a:moveTo>
                    <a:pt x="152400" y="0"/>
                  </a:moveTo>
                  <a:lnTo>
                    <a:pt x="0" y="0"/>
                  </a:lnTo>
                  <a:lnTo>
                    <a:pt x="0" y="4713732"/>
                  </a:lnTo>
                  <a:lnTo>
                    <a:pt x="152400" y="4713732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001F5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00"/>
            </a:p>
          </p:txBody>
        </p:sp>
        <p:sp>
          <p:nvSpPr>
            <p:cNvPr id="95" name="Google Shape;95;p19"/>
            <p:cNvSpPr/>
            <p:nvPr/>
          </p:nvSpPr>
          <p:spPr>
            <a:xfrm>
              <a:off x="437387" y="603504"/>
              <a:ext cx="152400" cy="4714240"/>
            </a:xfrm>
            <a:custGeom>
              <a:rect b="b" l="l" r="r" t="t"/>
              <a:pathLst>
                <a:path extrusionOk="0" h="4714240" w="152400">
                  <a:moveTo>
                    <a:pt x="0" y="4713732"/>
                  </a:moveTo>
                  <a:lnTo>
                    <a:pt x="152400" y="4713732"/>
                  </a:lnTo>
                  <a:lnTo>
                    <a:pt x="152400" y="0"/>
                  </a:lnTo>
                  <a:lnTo>
                    <a:pt x="0" y="0"/>
                  </a:lnTo>
                  <a:lnTo>
                    <a:pt x="0" y="4713732"/>
                  </a:lnTo>
                  <a:close/>
                </a:path>
              </a:pathLst>
            </a:custGeom>
            <a:noFill/>
            <a:ln cap="flat" cmpd="sng" w="12700">
              <a:solidFill>
                <a:srgbClr val="2E528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00"/>
            </a:p>
          </p:txBody>
        </p:sp>
      </p:grpSp>
      <p:pic>
        <p:nvPicPr>
          <p:cNvPr id="96" name="Google Shape;96;p19" title="DSC_0352 (1)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67375" y="1651055"/>
            <a:ext cx="2658690" cy="35449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0"/>
          <p:cNvSpPr txBox="1"/>
          <p:nvPr>
            <p:ph type="title"/>
          </p:nvPr>
        </p:nvSpPr>
        <p:spPr>
          <a:xfrm>
            <a:off x="158039" y="78961"/>
            <a:ext cx="7938135" cy="12148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Compute</a:t>
            </a:r>
            <a:endParaRPr/>
          </a:p>
        </p:txBody>
      </p:sp>
      <p:sp>
        <p:nvSpPr>
          <p:cNvPr id="102" name="Google Shape;102;p20"/>
          <p:cNvSpPr txBox="1"/>
          <p:nvPr/>
        </p:nvSpPr>
        <p:spPr>
          <a:xfrm>
            <a:off x="497966" y="1310639"/>
            <a:ext cx="7228523" cy="1619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050">
            <a:spAutoFit/>
          </a:bodyPr>
          <a:lstStyle/>
          <a:p>
            <a:pPr indent="-349250" lvl="0" marL="355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Char char="•"/>
            </a:pPr>
            <a:r>
              <a:rPr lang="en" sz="2100">
                <a:latin typeface="Arial"/>
                <a:ea typeface="Arial"/>
                <a:cs typeface="Arial"/>
                <a:sym typeface="Arial"/>
              </a:rPr>
              <a:t>Set of cloud services for hosting and running applications</a:t>
            </a:r>
            <a:endParaRPr sz="2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2100"/>
              <a:buFont typeface="Arial"/>
              <a:buNone/>
            </a:pPr>
            <a:r>
              <a:t/>
            </a:r>
            <a:endParaRPr sz="2100">
              <a:latin typeface="Arial"/>
              <a:ea typeface="Arial"/>
              <a:cs typeface="Arial"/>
              <a:sym typeface="Arial"/>
            </a:endParaRPr>
          </a:p>
          <a:p>
            <a:pPr indent="-349250" lvl="0" marL="355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Char char="•"/>
            </a:pPr>
            <a:r>
              <a:rPr lang="en" sz="2100">
                <a:latin typeface="Arial"/>
                <a:ea typeface="Arial"/>
                <a:cs typeface="Arial"/>
                <a:sym typeface="Arial"/>
              </a:rPr>
              <a:t>Allows uploading your code and then running it</a:t>
            </a:r>
            <a:endParaRPr sz="2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2100"/>
              <a:buFont typeface="Arial"/>
              <a:buNone/>
            </a:pPr>
            <a:r>
              <a:t/>
            </a:r>
            <a:endParaRPr sz="2100">
              <a:latin typeface="Arial"/>
              <a:ea typeface="Arial"/>
              <a:cs typeface="Arial"/>
              <a:sym typeface="Arial"/>
            </a:endParaRPr>
          </a:p>
          <a:p>
            <a:pPr indent="-349250" lvl="0" marL="355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Char char="•"/>
            </a:pPr>
            <a:r>
              <a:rPr lang="en" sz="2100">
                <a:latin typeface="Arial"/>
                <a:ea typeface="Arial"/>
                <a:cs typeface="Arial"/>
                <a:sym typeface="Arial"/>
              </a:rPr>
              <a:t>Offers various levels of control and flexibility</a:t>
            </a:r>
            <a:endParaRPr sz="21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1"/>
          <p:cNvSpPr txBox="1"/>
          <p:nvPr/>
        </p:nvSpPr>
        <p:spPr>
          <a:xfrm>
            <a:off x="1806511" y="4839538"/>
            <a:ext cx="5759291" cy="1795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Calibri"/>
                <a:ea typeface="Calibri"/>
                <a:cs typeface="Calibri"/>
                <a:sym typeface="Calibri"/>
              </a:rPr>
              <a:t>Source: </a:t>
            </a:r>
            <a:r>
              <a:rPr lang="en" sz="11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https://docs.microsoft.com/en-us/azure/cloud-adoption-framework/strategy/monitoring-strategy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2"/>
          <p:cNvSpPr txBox="1"/>
          <p:nvPr>
            <p:ph type="title"/>
          </p:nvPr>
        </p:nvSpPr>
        <p:spPr>
          <a:xfrm>
            <a:off x="158039" y="78961"/>
            <a:ext cx="7938135" cy="12148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Compute</a:t>
            </a:r>
            <a:endParaRPr/>
          </a:p>
        </p:txBody>
      </p:sp>
      <p:sp>
        <p:nvSpPr>
          <p:cNvPr id="113" name="Google Shape;113;p22"/>
          <p:cNvSpPr txBox="1"/>
          <p:nvPr/>
        </p:nvSpPr>
        <p:spPr>
          <a:xfrm>
            <a:off x="497966" y="1310639"/>
            <a:ext cx="5702141" cy="339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050">
            <a:spAutoFit/>
          </a:bodyPr>
          <a:lstStyle/>
          <a:p>
            <a:pPr indent="-349250" lvl="0" marL="355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Char char="•"/>
            </a:pPr>
            <a:r>
              <a:rPr lang="en" sz="2100">
                <a:latin typeface="Arial"/>
                <a:ea typeface="Arial"/>
                <a:cs typeface="Arial"/>
                <a:sym typeface="Arial"/>
              </a:rPr>
              <a:t>We’ll talk about 4 types of Compute services:</a:t>
            </a:r>
            <a:endParaRPr sz="21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22"/>
          <p:cNvSpPr txBox="1"/>
          <p:nvPr/>
        </p:nvSpPr>
        <p:spPr>
          <a:xfrm>
            <a:off x="3096386" y="2104262"/>
            <a:ext cx="2533174" cy="548640"/>
          </a:xfrm>
          <a:prstGeom prst="rect">
            <a:avLst/>
          </a:prstGeom>
          <a:solidFill>
            <a:srgbClr val="6F2F9F"/>
          </a:solidFill>
          <a:ln cap="flat" cmpd="sng" w="12700">
            <a:solidFill>
              <a:srgbClr val="2E52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124775">
            <a:spAutoFit/>
          </a:bodyPr>
          <a:lstStyle/>
          <a:p>
            <a:pPr indent="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Virtual Machines</a:t>
            </a:r>
            <a:endParaRPr sz="2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22"/>
          <p:cNvSpPr txBox="1"/>
          <p:nvPr/>
        </p:nvSpPr>
        <p:spPr>
          <a:xfrm>
            <a:off x="3096386" y="2891790"/>
            <a:ext cx="2533174" cy="548640"/>
          </a:xfrm>
          <a:prstGeom prst="rect">
            <a:avLst/>
          </a:prstGeom>
          <a:solidFill>
            <a:srgbClr val="6F2F9F"/>
          </a:solidFill>
          <a:ln cap="flat" cmpd="sng" w="12700">
            <a:solidFill>
              <a:srgbClr val="2E52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123825">
            <a:spAutoFit/>
          </a:bodyPr>
          <a:lstStyle/>
          <a:p>
            <a:pPr indent="0" lvl="0" marL="533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App Services</a:t>
            </a:r>
            <a:endParaRPr sz="2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22"/>
          <p:cNvSpPr txBox="1"/>
          <p:nvPr/>
        </p:nvSpPr>
        <p:spPr>
          <a:xfrm>
            <a:off x="3096386" y="3678174"/>
            <a:ext cx="2533174" cy="548640"/>
          </a:xfrm>
          <a:prstGeom prst="rect">
            <a:avLst/>
          </a:prstGeom>
          <a:solidFill>
            <a:srgbClr val="6F2F9F"/>
          </a:solidFill>
          <a:ln cap="flat" cmpd="sng" w="12700">
            <a:solidFill>
              <a:srgbClr val="2E52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124775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AKS</a:t>
            </a:r>
            <a:endParaRPr sz="2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22"/>
          <p:cNvSpPr txBox="1"/>
          <p:nvPr/>
        </p:nvSpPr>
        <p:spPr>
          <a:xfrm>
            <a:off x="3096386" y="4457700"/>
            <a:ext cx="2533174" cy="548640"/>
          </a:xfrm>
          <a:prstGeom prst="rect">
            <a:avLst/>
          </a:prstGeom>
          <a:solidFill>
            <a:srgbClr val="6F2F9F"/>
          </a:solidFill>
          <a:ln cap="flat" cmpd="sng" w="12700">
            <a:solidFill>
              <a:srgbClr val="2E52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124775">
            <a:spAutoFit/>
          </a:bodyPr>
          <a:lstStyle/>
          <a:p>
            <a:pPr indent="0" lvl="0" marL="355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Azure Functions</a:t>
            </a:r>
            <a:endParaRPr sz="20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3"/>
          <p:cNvSpPr txBox="1"/>
          <p:nvPr>
            <p:ph type="title"/>
          </p:nvPr>
        </p:nvSpPr>
        <p:spPr>
          <a:xfrm>
            <a:off x="158039" y="78961"/>
            <a:ext cx="7938135" cy="12148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Virtual Machines</a:t>
            </a:r>
            <a:endParaRPr/>
          </a:p>
        </p:txBody>
      </p:sp>
      <p:sp>
        <p:nvSpPr>
          <p:cNvPr id="123" name="Google Shape;123;p23"/>
          <p:cNvSpPr txBox="1"/>
          <p:nvPr/>
        </p:nvSpPr>
        <p:spPr>
          <a:xfrm>
            <a:off x="497966" y="1310639"/>
            <a:ext cx="7864316" cy="28998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050">
            <a:spAutoFit/>
          </a:bodyPr>
          <a:lstStyle/>
          <a:p>
            <a:pPr indent="-349250" lvl="0" marL="355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Char char="•"/>
            </a:pPr>
            <a:r>
              <a:rPr lang="en" sz="2100">
                <a:latin typeface="Arial"/>
                <a:ea typeface="Arial"/>
                <a:cs typeface="Arial"/>
                <a:sym typeface="Arial"/>
              </a:rPr>
              <a:t>A virtual (=not real) server running on a physical (=real) server</a:t>
            </a:r>
            <a:endParaRPr sz="2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2100"/>
              <a:buFont typeface="Arial"/>
              <a:buNone/>
            </a:pPr>
            <a:r>
              <a:t/>
            </a:r>
            <a:endParaRPr sz="2100">
              <a:latin typeface="Arial"/>
              <a:ea typeface="Arial"/>
              <a:cs typeface="Arial"/>
              <a:sym typeface="Arial"/>
            </a:endParaRPr>
          </a:p>
          <a:p>
            <a:pPr indent="-349250" lvl="0" marL="355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Char char="•"/>
            </a:pPr>
            <a:r>
              <a:rPr lang="en" sz="2100">
                <a:latin typeface="Arial"/>
                <a:ea typeface="Arial"/>
                <a:cs typeface="Arial"/>
                <a:sym typeface="Arial"/>
              </a:rPr>
              <a:t>Allows creating new servers extremely quick</a:t>
            </a:r>
            <a:endParaRPr sz="2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2100"/>
              <a:buFont typeface="Arial"/>
              <a:buNone/>
            </a:pPr>
            <a:r>
              <a:t/>
            </a:r>
            <a:endParaRPr sz="2100">
              <a:latin typeface="Arial"/>
              <a:ea typeface="Arial"/>
              <a:cs typeface="Arial"/>
              <a:sym typeface="Arial"/>
            </a:endParaRPr>
          </a:p>
          <a:p>
            <a:pPr indent="-349250" lvl="0" marL="355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Char char="•"/>
            </a:pPr>
            <a:r>
              <a:rPr lang="en" sz="2100">
                <a:latin typeface="Arial"/>
                <a:ea typeface="Arial"/>
                <a:cs typeface="Arial"/>
                <a:sym typeface="Arial"/>
              </a:rPr>
              <a:t>Based on existing resources of the physical server</a:t>
            </a:r>
            <a:endParaRPr sz="2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2100"/>
              <a:buFont typeface="Arial"/>
              <a:buNone/>
            </a:pPr>
            <a:r>
              <a:t/>
            </a:r>
            <a:endParaRPr sz="2100">
              <a:latin typeface="Arial"/>
              <a:ea typeface="Arial"/>
              <a:cs typeface="Arial"/>
              <a:sym typeface="Arial"/>
            </a:endParaRPr>
          </a:p>
          <a:p>
            <a:pPr indent="-349250" lvl="0" marL="355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Char char="•"/>
            </a:pPr>
            <a:r>
              <a:rPr lang="en" sz="2100">
                <a:latin typeface="Arial"/>
                <a:ea typeface="Arial"/>
                <a:cs typeface="Arial"/>
                <a:sym typeface="Arial"/>
              </a:rPr>
              <a:t>From the user’s point of view – a regular server, nothing new</a:t>
            </a:r>
            <a:endParaRPr sz="2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2100"/>
              <a:buFont typeface="Arial"/>
              <a:buNone/>
            </a:pPr>
            <a:r>
              <a:t/>
            </a:r>
            <a:endParaRPr sz="2100">
              <a:latin typeface="Arial"/>
              <a:ea typeface="Arial"/>
              <a:cs typeface="Arial"/>
              <a:sym typeface="Arial"/>
            </a:endParaRPr>
          </a:p>
          <a:p>
            <a:pPr indent="-349250" lvl="0" marL="355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Char char="•"/>
            </a:pPr>
            <a:r>
              <a:rPr lang="en" sz="2100">
                <a:latin typeface="Arial"/>
                <a:ea typeface="Arial"/>
                <a:cs typeface="Arial"/>
                <a:sym typeface="Arial"/>
              </a:rPr>
              <a:t>Called an </a:t>
            </a:r>
            <a:r>
              <a:rPr b="1" lang="en" sz="2100">
                <a:latin typeface="Arial"/>
                <a:ea typeface="Arial"/>
                <a:cs typeface="Arial"/>
                <a:sym typeface="Arial"/>
              </a:rPr>
              <a:t>Unmanaged Service</a:t>
            </a:r>
            <a:endParaRPr sz="21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4"/>
          <p:cNvSpPr txBox="1"/>
          <p:nvPr>
            <p:ph type="title"/>
          </p:nvPr>
        </p:nvSpPr>
        <p:spPr>
          <a:xfrm>
            <a:off x="158055" y="78950"/>
            <a:ext cx="8985900" cy="59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Virtual Machines Architecture</a:t>
            </a:r>
            <a:endParaRPr/>
          </a:p>
        </p:txBody>
      </p:sp>
      <p:sp>
        <p:nvSpPr>
          <p:cNvPr id="129" name="Google Shape;129;p24"/>
          <p:cNvSpPr/>
          <p:nvPr/>
        </p:nvSpPr>
        <p:spPr>
          <a:xfrm>
            <a:off x="1615058" y="4272533"/>
            <a:ext cx="6457950" cy="563880"/>
          </a:xfrm>
          <a:custGeom>
            <a:rect b="b" l="l" r="r" t="t"/>
            <a:pathLst>
              <a:path extrusionOk="0" h="751839" w="8610600">
                <a:moveTo>
                  <a:pt x="0" y="751332"/>
                </a:moveTo>
                <a:lnTo>
                  <a:pt x="8610600" y="751332"/>
                </a:lnTo>
                <a:lnTo>
                  <a:pt x="8610600" y="0"/>
                </a:lnTo>
                <a:lnTo>
                  <a:pt x="0" y="0"/>
                </a:lnTo>
                <a:lnTo>
                  <a:pt x="0" y="751332"/>
                </a:lnTo>
                <a:close/>
              </a:path>
            </a:pathLst>
          </a:custGeom>
          <a:noFill/>
          <a:ln cap="flat" cmpd="sng" w="12700">
            <a:solidFill>
              <a:srgbClr val="2E52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130" name="Google Shape;130;p24"/>
          <p:cNvSpPr txBox="1"/>
          <p:nvPr/>
        </p:nvSpPr>
        <p:spPr>
          <a:xfrm>
            <a:off x="1619821" y="4269866"/>
            <a:ext cx="6448425" cy="561499"/>
          </a:xfrm>
          <a:prstGeom prst="rect">
            <a:avLst/>
          </a:prstGeom>
          <a:solidFill>
            <a:srgbClr val="4471C4"/>
          </a:solidFill>
          <a:ln>
            <a:noFill/>
          </a:ln>
        </p:spPr>
        <p:txBody>
          <a:bodyPr anchorCtr="0" anchor="t" bIns="0" lIns="0" spcFirstLastPara="1" rIns="0" wrap="square" tIns="1124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Host OS</a:t>
            </a:r>
            <a:endParaRPr sz="23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24"/>
          <p:cNvSpPr/>
          <p:nvPr/>
        </p:nvSpPr>
        <p:spPr>
          <a:xfrm>
            <a:off x="1615058" y="3693033"/>
            <a:ext cx="6457950" cy="564832"/>
          </a:xfrm>
          <a:custGeom>
            <a:rect b="b" l="l" r="r" t="t"/>
            <a:pathLst>
              <a:path extrusionOk="0" h="753110" w="8610600">
                <a:moveTo>
                  <a:pt x="0" y="752855"/>
                </a:moveTo>
                <a:lnTo>
                  <a:pt x="8610600" y="752855"/>
                </a:lnTo>
                <a:lnTo>
                  <a:pt x="8610600" y="0"/>
                </a:lnTo>
                <a:lnTo>
                  <a:pt x="0" y="0"/>
                </a:lnTo>
                <a:lnTo>
                  <a:pt x="0" y="752855"/>
                </a:lnTo>
                <a:close/>
              </a:path>
            </a:pathLst>
          </a:custGeom>
          <a:noFill/>
          <a:ln cap="flat" cmpd="sng" w="12700">
            <a:solidFill>
              <a:srgbClr val="2E52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132" name="Google Shape;132;p24"/>
          <p:cNvSpPr txBox="1"/>
          <p:nvPr/>
        </p:nvSpPr>
        <p:spPr>
          <a:xfrm>
            <a:off x="1615058" y="3693033"/>
            <a:ext cx="6457950" cy="564832"/>
          </a:xfrm>
          <a:prstGeom prst="rect">
            <a:avLst/>
          </a:prstGeom>
          <a:solidFill>
            <a:srgbClr val="538235"/>
          </a:solidFill>
          <a:ln>
            <a:noFill/>
          </a:ln>
        </p:spPr>
        <p:txBody>
          <a:bodyPr anchorCtr="0" anchor="t" bIns="0" lIns="0" spcFirstLastPara="1" rIns="0" wrap="square" tIns="110475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Hypervisor</a:t>
            </a:r>
            <a:endParaRPr sz="23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24"/>
          <p:cNvSpPr/>
          <p:nvPr/>
        </p:nvSpPr>
        <p:spPr>
          <a:xfrm>
            <a:off x="907541" y="3693033"/>
            <a:ext cx="442436" cy="1143000"/>
          </a:xfrm>
          <a:custGeom>
            <a:rect b="b" l="l" r="r" t="t"/>
            <a:pathLst>
              <a:path extrusionOk="0" h="1524000" w="589914">
                <a:moveTo>
                  <a:pt x="589788" y="1523999"/>
                </a:moveTo>
                <a:lnTo>
                  <a:pt x="541967" y="1520493"/>
                </a:lnTo>
                <a:lnTo>
                  <a:pt x="496598" y="1510339"/>
                </a:lnTo>
                <a:lnTo>
                  <a:pt x="454289" y="1494092"/>
                </a:lnTo>
                <a:lnTo>
                  <a:pt x="415649" y="1472301"/>
                </a:lnTo>
                <a:lnTo>
                  <a:pt x="381285" y="1445520"/>
                </a:lnTo>
                <a:lnTo>
                  <a:pt x="351806" y="1414299"/>
                </a:lnTo>
                <a:lnTo>
                  <a:pt x="327819" y="1379190"/>
                </a:lnTo>
                <a:lnTo>
                  <a:pt x="309932" y="1340746"/>
                </a:lnTo>
                <a:lnTo>
                  <a:pt x="298755" y="1299517"/>
                </a:lnTo>
                <a:lnTo>
                  <a:pt x="294894" y="1256055"/>
                </a:lnTo>
                <a:lnTo>
                  <a:pt x="294894" y="1029944"/>
                </a:lnTo>
                <a:lnTo>
                  <a:pt x="291032" y="986482"/>
                </a:lnTo>
                <a:lnTo>
                  <a:pt x="279855" y="945253"/>
                </a:lnTo>
                <a:lnTo>
                  <a:pt x="261968" y="906809"/>
                </a:lnTo>
                <a:lnTo>
                  <a:pt x="237981" y="871700"/>
                </a:lnTo>
                <a:lnTo>
                  <a:pt x="208502" y="840479"/>
                </a:lnTo>
                <a:lnTo>
                  <a:pt x="174138" y="813698"/>
                </a:lnTo>
                <a:lnTo>
                  <a:pt x="135498" y="791907"/>
                </a:lnTo>
                <a:lnTo>
                  <a:pt x="93189" y="775660"/>
                </a:lnTo>
                <a:lnTo>
                  <a:pt x="47820" y="765506"/>
                </a:lnTo>
                <a:lnTo>
                  <a:pt x="0" y="761999"/>
                </a:lnTo>
                <a:lnTo>
                  <a:pt x="47820" y="758491"/>
                </a:lnTo>
                <a:lnTo>
                  <a:pt x="93189" y="748334"/>
                </a:lnTo>
                <a:lnTo>
                  <a:pt x="135498" y="732081"/>
                </a:lnTo>
                <a:lnTo>
                  <a:pt x="174138" y="710285"/>
                </a:lnTo>
                <a:lnTo>
                  <a:pt x="208502" y="683498"/>
                </a:lnTo>
                <a:lnTo>
                  <a:pt x="237981" y="652271"/>
                </a:lnTo>
                <a:lnTo>
                  <a:pt x="261968" y="617159"/>
                </a:lnTo>
                <a:lnTo>
                  <a:pt x="279855" y="578713"/>
                </a:lnTo>
                <a:lnTo>
                  <a:pt x="291032" y="537486"/>
                </a:lnTo>
                <a:lnTo>
                  <a:pt x="294894" y="494029"/>
                </a:lnTo>
                <a:lnTo>
                  <a:pt x="294894" y="267969"/>
                </a:lnTo>
                <a:lnTo>
                  <a:pt x="298755" y="224513"/>
                </a:lnTo>
                <a:lnTo>
                  <a:pt x="309932" y="183286"/>
                </a:lnTo>
                <a:lnTo>
                  <a:pt x="327819" y="144840"/>
                </a:lnTo>
                <a:lnTo>
                  <a:pt x="351806" y="109727"/>
                </a:lnTo>
                <a:lnTo>
                  <a:pt x="381285" y="78501"/>
                </a:lnTo>
                <a:lnTo>
                  <a:pt x="415649" y="51714"/>
                </a:lnTo>
                <a:lnTo>
                  <a:pt x="454289" y="29918"/>
                </a:lnTo>
                <a:lnTo>
                  <a:pt x="496598" y="13665"/>
                </a:lnTo>
                <a:lnTo>
                  <a:pt x="541967" y="3508"/>
                </a:lnTo>
                <a:lnTo>
                  <a:pt x="589788" y="0"/>
                </a:lnTo>
              </a:path>
            </a:pathLst>
          </a:custGeom>
          <a:noFill/>
          <a:ln cap="flat" cmpd="sng" w="12700">
            <a:solidFill>
              <a:srgbClr val="4471C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134" name="Google Shape;134;p24"/>
          <p:cNvSpPr txBox="1"/>
          <p:nvPr/>
        </p:nvSpPr>
        <p:spPr>
          <a:xfrm>
            <a:off x="123291" y="4125163"/>
            <a:ext cx="662939" cy="2247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Arial"/>
                <a:ea typeface="Arial"/>
                <a:cs typeface="Arial"/>
                <a:sym typeface="Arial"/>
              </a:rPr>
              <a:t>Physical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24"/>
          <p:cNvSpPr txBox="1"/>
          <p:nvPr/>
        </p:nvSpPr>
        <p:spPr>
          <a:xfrm>
            <a:off x="1615058" y="2969514"/>
            <a:ext cx="1921669" cy="564832"/>
          </a:xfrm>
          <a:prstGeom prst="rect">
            <a:avLst/>
          </a:prstGeom>
          <a:solidFill>
            <a:srgbClr val="532708"/>
          </a:solidFill>
          <a:ln cap="flat" cmpd="sng" w="12700">
            <a:solidFill>
              <a:srgbClr val="2E52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110475">
            <a:spAutoFit/>
          </a:bodyPr>
          <a:lstStyle/>
          <a:p>
            <a:pPr indent="0" lvl="0" marL="3683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Guest OS</a:t>
            </a:r>
            <a:endParaRPr sz="23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24"/>
          <p:cNvSpPr txBox="1"/>
          <p:nvPr/>
        </p:nvSpPr>
        <p:spPr>
          <a:xfrm>
            <a:off x="1613916" y="2334005"/>
            <a:ext cx="1922621" cy="564833"/>
          </a:xfrm>
          <a:prstGeom prst="rect">
            <a:avLst/>
          </a:prstGeom>
          <a:solidFill>
            <a:srgbClr val="6F2F9F"/>
          </a:solidFill>
          <a:ln cap="flat" cmpd="sng" w="12700">
            <a:solidFill>
              <a:srgbClr val="2E52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110000">
            <a:spAutoFit/>
          </a:bodyPr>
          <a:lstStyle/>
          <a:p>
            <a:pPr indent="0" lvl="0" marL="279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Bins / Libs</a:t>
            </a:r>
            <a:endParaRPr sz="23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24"/>
          <p:cNvSpPr txBox="1"/>
          <p:nvPr/>
        </p:nvSpPr>
        <p:spPr>
          <a:xfrm>
            <a:off x="1613916" y="1698498"/>
            <a:ext cx="1922621" cy="563880"/>
          </a:xfrm>
          <a:prstGeom prst="rect">
            <a:avLst/>
          </a:prstGeom>
          <a:solidFill>
            <a:srgbClr val="001F5F"/>
          </a:solidFill>
          <a:ln cap="flat" cmpd="sng" w="12700">
            <a:solidFill>
              <a:srgbClr val="2E52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10955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Code</a:t>
            </a:r>
            <a:endParaRPr sz="23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24"/>
          <p:cNvSpPr/>
          <p:nvPr/>
        </p:nvSpPr>
        <p:spPr>
          <a:xfrm>
            <a:off x="941831" y="1698498"/>
            <a:ext cx="443865" cy="1835944"/>
          </a:xfrm>
          <a:custGeom>
            <a:rect b="b" l="l" r="r" t="t"/>
            <a:pathLst>
              <a:path extrusionOk="0" h="2447925" w="591819">
                <a:moveTo>
                  <a:pt x="591312" y="2447544"/>
                </a:moveTo>
                <a:lnTo>
                  <a:pt x="543346" y="2444028"/>
                </a:lnTo>
                <a:lnTo>
                  <a:pt x="497848" y="2433849"/>
                </a:lnTo>
                <a:lnTo>
                  <a:pt x="455425" y="2417560"/>
                </a:lnTo>
                <a:lnTo>
                  <a:pt x="416685" y="2395715"/>
                </a:lnTo>
                <a:lnTo>
                  <a:pt x="382238" y="2368867"/>
                </a:lnTo>
                <a:lnTo>
                  <a:pt x="352690" y="2337569"/>
                </a:lnTo>
                <a:lnTo>
                  <a:pt x="328649" y="2302373"/>
                </a:lnTo>
                <a:lnTo>
                  <a:pt x="310725" y="2263834"/>
                </a:lnTo>
                <a:lnTo>
                  <a:pt x="299524" y="2222505"/>
                </a:lnTo>
                <a:lnTo>
                  <a:pt x="295656" y="2178939"/>
                </a:lnTo>
                <a:lnTo>
                  <a:pt x="295656" y="1492377"/>
                </a:lnTo>
                <a:lnTo>
                  <a:pt x="291787" y="1448810"/>
                </a:lnTo>
                <a:lnTo>
                  <a:pt x="280586" y="1407481"/>
                </a:lnTo>
                <a:lnTo>
                  <a:pt x="262662" y="1368942"/>
                </a:lnTo>
                <a:lnTo>
                  <a:pt x="238621" y="1333746"/>
                </a:lnTo>
                <a:lnTo>
                  <a:pt x="209073" y="1302448"/>
                </a:lnTo>
                <a:lnTo>
                  <a:pt x="174626" y="1275600"/>
                </a:lnTo>
                <a:lnTo>
                  <a:pt x="135886" y="1253755"/>
                </a:lnTo>
                <a:lnTo>
                  <a:pt x="93463" y="1237466"/>
                </a:lnTo>
                <a:lnTo>
                  <a:pt x="47965" y="1227287"/>
                </a:lnTo>
                <a:lnTo>
                  <a:pt x="0" y="1223772"/>
                </a:lnTo>
                <a:lnTo>
                  <a:pt x="47965" y="1220256"/>
                </a:lnTo>
                <a:lnTo>
                  <a:pt x="93463" y="1210077"/>
                </a:lnTo>
                <a:lnTo>
                  <a:pt x="135886" y="1193788"/>
                </a:lnTo>
                <a:lnTo>
                  <a:pt x="174626" y="1171943"/>
                </a:lnTo>
                <a:lnTo>
                  <a:pt x="209073" y="1145095"/>
                </a:lnTo>
                <a:lnTo>
                  <a:pt x="238621" y="1113797"/>
                </a:lnTo>
                <a:lnTo>
                  <a:pt x="262662" y="1078601"/>
                </a:lnTo>
                <a:lnTo>
                  <a:pt x="280586" y="1040062"/>
                </a:lnTo>
                <a:lnTo>
                  <a:pt x="291787" y="998733"/>
                </a:lnTo>
                <a:lnTo>
                  <a:pt x="295656" y="955166"/>
                </a:lnTo>
                <a:lnTo>
                  <a:pt x="295656" y="268605"/>
                </a:lnTo>
                <a:lnTo>
                  <a:pt x="299524" y="225038"/>
                </a:lnTo>
                <a:lnTo>
                  <a:pt x="310725" y="183709"/>
                </a:lnTo>
                <a:lnTo>
                  <a:pt x="328649" y="145170"/>
                </a:lnTo>
                <a:lnTo>
                  <a:pt x="352690" y="109974"/>
                </a:lnTo>
                <a:lnTo>
                  <a:pt x="382238" y="78676"/>
                </a:lnTo>
                <a:lnTo>
                  <a:pt x="416685" y="51828"/>
                </a:lnTo>
                <a:lnTo>
                  <a:pt x="455425" y="29983"/>
                </a:lnTo>
                <a:lnTo>
                  <a:pt x="497848" y="13694"/>
                </a:lnTo>
                <a:lnTo>
                  <a:pt x="543346" y="3515"/>
                </a:lnTo>
                <a:lnTo>
                  <a:pt x="591312" y="0"/>
                </a:lnTo>
              </a:path>
            </a:pathLst>
          </a:custGeom>
          <a:noFill/>
          <a:ln cap="flat" cmpd="sng" w="12700">
            <a:solidFill>
              <a:srgbClr val="4471C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139" name="Google Shape;139;p24"/>
          <p:cNvSpPr txBox="1"/>
          <p:nvPr/>
        </p:nvSpPr>
        <p:spPr>
          <a:xfrm>
            <a:off x="158039" y="2522886"/>
            <a:ext cx="529114" cy="2247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Arial"/>
                <a:ea typeface="Arial"/>
                <a:cs typeface="Arial"/>
                <a:sym typeface="Arial"/>
              </a:rPr>
              <a:t>Virtual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24"/>
          <p:cNvSpPr txBox="1"/>
          <p:nvPr/>
        </p:nvSpPr>
        <p:spPr>
          <a:xfrm>
            <a:off x="3823334" y="2969514"/>
            <a:ext cx="1921669" cy="564832"/>
          </a:xfrm>
          <a:prstGeom prst="rect">
            <a:avLst/>
          </a:prstGeom>
          <a:solidFill>
            <a:srgbClr val="532708"/>
          </a:solidFill>
          <a:ln cap="flat" cmpd="sng" w="12700">
            <a:solidFill>
              <a:srgbClr val="2E52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110475">
            <a:spAutoFit/>
          </a:bodyPr>
          <a:lstStyle/>
          <a:p>
            <a:pPr indent="0" lvl="0" marL="3683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Guest OS</a:t>
            </a:r>
            <a:endParaRPr sz="23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24"/>
          <p:cNvSpPr txBox="1"/>
          <p:nvPr/>
        </p:nvSpPr>
        <p:spPr>
          <a:xfrm>
            <a:off x="3823334" y="2334005"/>
            <a:ext cx="1921669" cy="564833"/>
          </a:xfrm>
          <a:prstGeom prst="rect">
            <a:avLst/>
          </a:prstGeom>
          <a:solidFill>
            <a:srgbClr val="6F2F9F"/>
          </a:solidFill>
          <a:ln cap="flat" cmpd="sng" w="12700">
            <a:solidFill>
              <a:srgbClr val="2E52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110000">
            <a:spAutoFit/>
          </a:bodyPr>
          <a:lstStyle/>
          <a:p>
            <a:pPr indent="0" lvl="0" marL="279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Bins / Libs</a:t>
            </a:r>
            <a:endParaRPr sz="23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24"/>
          <p:cNvSpPr txBox="1"/>
          <p:nvPr/>
        </p:nvSpPr>
        <p:spPr>
          <a:xfrm>
            <a:off x="3823334" y="1698498"/>
            <a:ext cx="1921669" cy="563880"/>
          </a:xfrm>
          <a:prstGeom prst="rect">
            <a:avLst/>
          </a:prstGeom>
          <a:solidFill>
            <a:srgbClr val="001F5F"/>
          </a:solidFill>
          <a:ln cap="flat" cmpd="sng" w="12700">
            <a:solidFill>
              <a:srgbClr val="2E52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10955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Code</a:t>
            </a:r>
            <a:endParaRPr sz="23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24"/>
          <p:cNvSpPr txBox="1"/>
          <p:nvPr/>
        </p:nvSpPr>
        <p:spPr>
          <a:xfrm>
            <a:off x="6150482" y="2969514"/>
            <a:ext cx="1922621" cy="564832"/>
          </a:xfrm>
          <a:prstGeom prst="rect">
            <a:avLst/>
          </a:prstGeom>
          <a:solidFill>
            <a:srgbClr val="532708"/>
          </a:solidFill>
          <a:ln cap="flat" cmpd="sng" w="12700">
            <a:solidFill>
              <a:srgbClr val="2E52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110475">
            <a:spAutoFit/>
          </a:bodyPr>
          <a:lstStyle/>
          <a:p>
            <a:pPr indent="0" lvl="0" marL="381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Guest OS</a:t>
            </a:r>
            <a:endParaRPr sz="23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24"/>
          <p:cNvSpPr txBox="1"/>
          <p:nvPr/>
        </p:nvSpPr>
        <p:spPr>
          <a:xfrm>
            <a:off x="6150482" y="2334005"/>
            <a:ext cx="1921669" cy="564833"/>
          </a:xfrm>
          <a:prstGeom prst="rect">
            <a:avLst/>
          </a:prstGeom>
          <a:solidFill>
            <a:srgbClr val="6F2F9F"/>
          </a:solidFill>
          <a:ln cap="flat" cmpd="sng" w="12700">
            <a:solidFill>
              <a:srgbClr val="2E52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110000">
            <a:spAutoFit/>
          </a:bodyPr>
          <a:lstStyle/>
          <a:p>
            <a:pPr indent="0" lvl="0" marL="279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Bins / Libs</a:t>
            </a:r>
            <a:endParaRPr sz="23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24"/>
          <p:cNvSpPr txBox="1"/>
          <p:nvPr/>
        </p:nvSpPr>
        <p:spPr>
          <a:xfrm>
            <a:off x="6150482" y="1698498"/>
            <a:ext cx="1921669" cy="563880"/>
          </a:xfrm>
          <a:prstGeom prst="rect">
            <a:avLst/>
          </a:prstGeom>
          <a:solidFill>
            <a:srgbClr val="001F5F"/>
          </a:solidFill>
          <a:ln cap="flat" cmpd="sng" w="12700">
            <a:solidFill>
              <a:srgbClr val="2E52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109550">
            <a:spAutoFit/>
          </a:bodyPr>
          <a:lstStyle/>
          <a:p>
            <a:pPr indent="0" lvl="0" marL="647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Code</a:t>
            </a:r>
            <a:endParaRPr sz="23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24"/>
          <p:cNvSpPr txBox="1"/>
          <p:nvPr/>
        </p:nvSpPr>
        <p:spPr>
          <a:xfrm>
            <a:off x="2634710" y="997257"/>
            <a:ext cx="3693319" cy="6372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14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Arial"/>
                <a:ea typeface="Arial"/>
                <a:cs typeface="Arial"/>
                <a:sym typeface="Arial"/>
              </a:rPr>
              <a:t>VM Density = No. of VMs per Host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0" lvl="0" marL="148590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" sz="1500">
                <a:latin typeface="Arial"/>
                <a:ea typeface="Arial"/>
                <a:cs typeface="Arial"/>
                <a:sym typeface="Arial"/>
              </a:rPr>
              <a:t>In this case - 3</a:t>
            </a:r>
            <a:endParaRPr sz="15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5"/>
          <p:cNvSpPr txBox="1"/>
          <p:nvPr>
            <p:ph type="title"/>
          </p:nvPr>
        </p:nvSpPr>
        <p:spPr>
          <a:xfrm>
            <a:off x="158039" y="78961"/>
            <a:ext cx="7938135" cy="12148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Virtual Machines In Azure</a:t>
            </a:r>
            <a:endParaRPr/>
          </a:p>
        </p:txBody>
      </p:sp>
      <p:sp>
        <p:nvSpPr>
          <p:cNvPr id="152" name="Google Shape;152;p25"/>
          <p:cNvSpPr/>
          <p:nvPr/>
        </p:nvSpPr>
        <p:spPr>
          <a:xfrm>
            <a:off x="1615058" y="4272533"/>
            <a:ext cx="6457950" cy="563880"/>
          </a:xfrm>
          <a:custGeom>
            <a:rect b="b" l="l" r="r" t="t"/>
            <a:pathLst>
              <a:path extrusionOk="0" h="751839" w="8610600">
                <a:moveTo>
                  <a:pt x="0" y="751332"/>
                </a:moveTo>
                <a:lnTo>
                  <a:pt x="8610600" y="751332"/>
                </a:lnTo>
                <a:lnTo>
                  <a:pt x="8610600" y="0"/>
                </a:lnTo>
                <a:lnTo>
                  <a:pt x="0" y="0"/>
                </a:lnTo>
                <a:lnTo>
                  <a:pt x="0" y="751332"/>
                </a:lnTo>
                <a:close/>
              </a:path>
            </a:pathLst>
          </a:custGeom>
          <a:noFill/>
          <a:ln cap="flat" cmpd="sng" w="12700">
            <a:solidFill>
              <a:srgbClr val="2E52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153" name="Google Shape;153;p25"/>
          <p:cNvSpPr txBox="1"/>
          <p:nvPr/>
        </p:nvSpPr>
        <p:spPr>
          <a:xfrm>
            <a:off x="1619821" y="4269866"/>
            <a:ext cx="6448425" cy="561499"/>
          </a:xfrm>
          <a:prstGeom prst="rect">
            <a:avLst/>
          </a:prstGeom>
          <a:solidFill>
            <a:srgbClr val="4471C4"/>
          </a:solidFill>
          <a:ln>
            <a:noFill/>
          </a:ln>
        </p:spPr>
        <p:txBody>
          <a:bodyPr anchorCtr="0" anchor="t" bIns="0" lIns="0" spcFirstLastPara="1" rIns="0" wrap="square" tIns="1124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Host OS</a:t>
            </a:r>
            <a:endParaRPr sz="23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25"/>
          <p:cNvSpPr/>
          <p:nvPr/>
        </p:nvSpPr>
        <p:spPr>
          <a:xfrm>
            <a:off x="1615058" y="3693033"/>
            <a:ext cx="6457950" cy="564832"/>
          </a:xfrm>
          <a:custGeom>
            <a:rect b="b" l="l" r="r" t="t"/>
            <a:pathLst>
              <a:path extrusionOk="0" h="753110" w="8610600">
                <a:moveTo>
                  <a:pt x="0" y="752855"/>
                </a:moveTo>
                <a:lnTo>
                  <a:pt x="8610600" y="752855"/>
                </a:lnTo>
                <a:lnTo>
                  <a:pt x="8610600" y="0"/>
                </a:lnTo>
                <a:lnTo>
                  <a:pt x="0" y="0"/>
                </a:lnTo>
                <a:lnTo>
                  <a:pt x="0" y="752855"/>
                </a:lnTo>
                <a:close/>
              </a:path>
            </a:pathLst>
          </a:custGeom>
          <a:noFill/>
          <a:ln cap="flat" cmpd="sng" w="12700">
            <a:solidFill>
              <a:srgbClr val="2E52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155" name="Google Shape;155;p25"/>
          <p:cNvSpPr txBox="1"/>
          <p:nvPr/>
        </p:nvSpPr>
        <p:spPr>
          <a:xfrm>
            <a:off x="1615058" y="3693033"/>
            <a:ext cx="6457950" cy="564832"/>
          </a:xfrm>
          <a:prstGeom prst="rect">
            <a:avLst/>
          </a:prstGeom>
          <a:solidFill>
            <a:srgbClr val="538235"/>
          </a:solidFill>
          <a:ln>
            <a:noFill/>
          </a:ln>
        </p:spPr>
        <p:txBody>
          <a:bodyPr anchorCtr="0" anchor="t" bIns="0" lIns="0" spcFirstLastPara="1" rIns="0" wrap="square" tIns="110475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Hypervisor</a:t>
            </a:r>
            <a:endParaRPr sz="23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25"/>
          <p:cNvSpPr/>
          <p:nvPr/>
        </p:nvSpPr>
        <p:spPr>
          <a:xfrm>
            <a:off x="907541" y="3693033"/>
            <a:ext cx="442436" cy="1143000"/>
          </a:xfrm>
          <a:custGeom>
            <a:rect b="b" l="l" r="r" t="t"/>
            <a:pathLst>
              <a:path extrusionOk="0" h="1524000" w="589914">
                <a:moveTo>
                  <a:pt x="589788" y="1523999"/>
                </a:moveTo>
                <a:lnTo>
                  <a:pt x="541967" y="1520493"/>
                </a:lnTo>
                <a:lnTo>
                  <a:pt x="496598" y="1510339"/>
                </a:lnTo>
                <a:lnTo>
                  <a:pt x="454289" y="1494092"/>
                </a:lnTo>
                <a:lnTo>
                  <a:pt x="415649" y="1472301"/>
                </a:lnTo>
                <a:lnTo>
                  <a:pt x="381285" y="1445520"/>
                </a:lnTo>
                <a:lnTo>
                  <a:pt x="351806" y="1414299"/>
                </a:lnTo>
                <a:lnTo>
                  <a:pt x="327819" y="1379190"/>
                </a:lnTo>
                <a:lnTo>
                  <a:pt x="309932" y="1340746"/>
                </a:lnTo>
                <a:lnTo>
                  <a:pt x="298755" y="1299517"/>
                </a:lnTo>
                <a:lnTo>
                  <a:pt x="294894" y="1256055"/>
                </a:lnTo>
                <a:lnTo>
                  <a:pt x="294894" y="1029944"/>
                </a:lnTo>
                <a:lnTo>
                  <a:pt x="291032" y="986482"/>
                </a:lnTo>
                <a:lnTo>
                  <a:pt x="279855" y="945253"/>
                </a:lnTo>
                <a:lnTo>
                  <a:pt x="261968" y="906809"/>
                </a:lnTo>
                <a:lnTo>
                  <a:pt x="237981" y="871700"/>
                </a:lnTo>
                <a:lnTo>
                  <a:pt x="208502" y="840479"/>
                </a:lnTo>
                <a:lnTo>
                  <a:pt x="174138" y="813698"/>
                </a:lnTo>
                <a:lnTo>
                  <a:pt x="135498" y="791907"/>
                </a:lnTo>
                <a:lnTo>
                  <a:pt x="93189" y="775660"/>
                </a:lnTo>
                <a:lnTo>
                  <a:pt x="47820" y="765506"/>
                </a:lnTo>
                <a:lnTo>
                  <a:pt x="0" y="761999"/>
                </a:lnTo>
                <a:lnTo>
                  <a:pt x="47820" y="758491"/>
                </a:lnTo>
                <a:lnTo>
                  <a:pt x="93189" y="748334"/>
                </a:lnTo>
                <a:lnTo>
                  <a:pt x="135498" y="732081"/>
                </a:lnTo>
                <a:lnTo>
                  <a:pt x="174138" y="710285"/>
                </a:lnTo>
                <a:lnTo>
                  <a:pt x="208502" y="683498"/>
                </a:lnTo>
                <a:lnTo>
                  <a:pt x="237981" y="652271"/>
                </a:lnTo>
                <a:lnTo>
                  <a:pt x="261968" y="617159"/>
                </a:lnTo>
                <a:lnTo>
                  <a:pt x="279855" y="578713"/>
                </a:lnTo>
                <a:lnTo>
                  <a:pt x="291032" y="537486"/>
                </a:lnTo>
                <a:lnTo>
                  <a:pt x="294894" y="494029"/>
                </a:lnTo>
                <a:lnTo>
                  <a:pt x="294894" y="267969"/>
                </a:lnTo>
                <a:lnTo>
                  <a:pt x="298755" y="224513"/>
                </a:lnTo>
                <a:lnTo>
                  <a:pt x="309932" y="183286"/>
                </a:lnTo>
                <a:lnTo>
                  <a:pt x="327819" y="144840"/>
                </a:lnTo>
                <a:lnTo>
                  <a:pt x="351806" y="109727"/>
                </a:lnTo>
                <a:lnTo>
                  <a:pt x="381285" y="78501"/>
                </a:lnTo>
                <a:lnTo>
                  <a:pt x="415649" y="51714"/>
                </a:lnTo>
                <a:lnTo>
                  <a:pt x="454289" y="29918"/>
                </a:lnTo>
                <a:lnTo>
                  <a:pt x="496598" y="13665"/>
                </a:lnTo>
                <a:lnTo>
                  <a:pt x="541967" y="3508"/>
                </a:lnTo>
                <a:lnTo>
                  <a:pt x="589788" y="0"/>
                </a:lnTo>
              </a:path>
            </a:pathLst>
          </a:custGeom>
          <a:noFill/>
          <a:ln cap="flat" cmpd="sng" w="12700">
            <a:solidFill>
              <a:srgbClr val="4471C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157" name="Google Shape;157;p25"/>
          <p:cNvSpPr txBox="1"/>
          <p:nvPr/>
        </p:nvSpPr>
        <p:spPr>
          <a:xfrm>
            <a:off x="115290" y="3741991"/>
            <a:ext cx="711994" cy="7505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Arial"/>
                <a:ea typeface="Arial"/>
                <a:cs typeface="Arial"/>
                <a:sym typeface="Arial"/>
              </a:rPr>
              <a:t>Managed by Azure, no control or access</a:t>
            </a:r>
            <a:endParaRPr sz="12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25"/>
          <p:cNvSpPr txBox="1"/>
          <p:nvPr/>
        </p:nvSpPr>
        <p:spPr>
          <a:xfrm>
            <a:off x="1615058" y="2969514"/>
            <a:ext cx="1921669" cy="564832"/>
          </a:xfrm>
          <a:prstGeom prst="rect">
            <a:avLst/>
          </a:prstGeom>
          <a:solidFill>
            <a:srgbClr val="532708"/>
          </a:solidFill>
          <a:ln cap="flat" cmpd="sng" w="12700">
            <a:solidFill>
              <a:srgbClr val="2E52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110475">
            <a:spAutoFit/>
          </a:bodyPr>
          <a:lstStyle/>
          <a:p>
            <a:pPr indent="0" lvl="0" marL="3683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Guest OS</a:t>
            </a:r>
            <a:endParaRPr sz="23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25"/>
          <p:cNvSpPr txBox="1"/>
          <p:nvPr/>
        </p:nvSpPr>
        <p:spPr>
          <a:xfrm>
            <a:off x="1613916" y="2334005"/>
            <a:ext cx="1922621" cy="564833"/>
          </a:xfrm>
          <a:prstGeom prst="rect">
            <a:avLst/>
          </a:prstGeom>
          <a:solidFill>
            <a:srgbClr val="6F2F9F"/>
          </a:solidFill>
          <a:ln cap="flat" cmpd="sng" w="12700">
            <a:solidFill>
              <a:srgbClr val="2E52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110000">
            <a:spAutoFit/>
          </a:bodyPr>
          <a:lstStyle/>
          <a:p>
            <a:pPr indent="0" lvl="0" marL="279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Bins / Libs</a:t>
            </a:r>
            <a:endParaRPr sz="23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25"/>
          <p:cNvSpPr txBox="1"/>
          <p:nvPr/>
        </p:nvSpPr>
        <p:spPr>
          <a:xfrm>
            <a:off x="1613916" y="1698498"/>
            <a:ext cx="1922621" cy="563880"/>
          </a:xfrm>
          <a:prstGeom prst="rect">
            <a:avLst/>
          </a:prstGeom>
          <a:solidFill>
            <a:srgbClr val="001F5F"/>
          </a:solidFill>
          <a:ln cap="flat" cmpd="sng" w="12700">
            <a:solidFill>
              <a:srgbClr val="2E52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10955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Code</a:t>
            </a:r>
            <a:endParaRPr sz="23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25"/>
          <p:cNvSpPr/>
          <p:nvPr/>
        </p:nvSpPr>
        <p:spPr>
          <a:xfrm>
            <a:off x="941831" y="1698498"/>
            <a:ext cx="443865" cy="1835944"/>
          </a:xfrm>
          <a:custGeom>
            <a:rect b="b" l="l" r="r" t="t"/>
            <a:pathLst>
              <a:path extrusionOk="0" h="2447925" w="591819">
                <a:moveTo>
                  <a:pt x="591312" y="2447544"/>
                </a:moveTo>
                <a:lnTo>
                  <a:pt x="543346" y="2444028"/>
                </a:lnTo>
                <a:lnTo>
                  <a:pt x="497848" y="2433849"/>
                </a:lnTo>
                <a:lnTo>
                  <a:pt x="455425" y="2417560"/>
                </a:lnTo>
                <a:lnTo>
                  <a:pt x="416685" y="2395715"/>
                </a:lnTo>
                <a:lnTo>
                  <a:pt x="382238" y="2368867"/>
                </a:lnTo>
                <a:lnTo>
                  <a:pt x="352690" y="2337569"/>
                </a:lnTo>
                <a:lnTo>
                  <a:pt x="328649" y="2302373"/>
                </a:lnTo>
                <a:lnTo>
                  <a:pt x="310725" y="2263834"/>
                </a:lnTo>
                <a:lnTo>
                  <a:pt x="299524" y="2222505"/>
                </a:lnTo>
                <a:lnTo>
                  <a:pt x="295656" y="2178939"/>
                </a:lnTo>
                <a:lnTo>
                  <a:pt x="295656" y="1492377"/>
                </a:lnTo>
                <a:lnTo>
                  <a:pt x="291787" y="1448810"/>
                </a:lnTo>
                <a:lnTo>
                  <a:pt x="280586" y="1407481"/>
                </a:lnTo>
                <a:lnTo>
                  <a:pt x="262662" y="1368942"/>
                </a:lnTo>
                <a:lnTo>
                  <a:pt x="238621" y="1333746"/>
                </a:lnTo>
                <a:lnTo>
                  <a:pt x="209073" y="1302448"/>
                </a:lnTo>
                <a:lnTo>
                  <a:pt x="174626" y="1275600"/>
                </a:lnTo>
                <a:lnTo>
                  <a:pt x="135886" y="1253755"/>
                </a:lnTo>
                <a:lnTo>
                  <a:pt x="93463" y="1237466"/>
                </a:lnTo>
                <a:lnTo>
                  <a:pt x="47965" y="1227287"/>
                </a:lnTo>
                <a:lnTo>
                  <a:pt x="0" y="1223772"/>
                </a:lnTo>
                <a:lnTo>
                  <a:pt x="47965" y="1220256"/>
                </a:lnTo>
                <a:lnTo>
                  <a:pt x="93463" y="1210077"/>
                </a:lnTo>
                <a:lnTo>
                  <a:pt x="135886" y="1193788"/>
                </a:lnTo>
                <a:lnTo>
                  <a:pt x="174626" y="1171943"/>
                </a:lnTo>
                <a:lnTo>
                  <a:pt x="209073" y="1145095"/>
                </a:lnTo>
                <a:lnTo>
                  <a:pt x="238621" y="1113797"/>
                </a:lnTo>
                <a:lnTo>
                  <a:pt x="262662" y="1078601"/>
                </a:lnTo>
                <a:lnTo>
                  <a:pt x="280586" y="1040062"/>
                </a:lnTo>
                <a:lnTo>
                  <a:pt x="291787" y="998733"/>
                </a:lnTo>
                <a:lnTo>
                  <a:pt x="295656" y="955166"/>
                </a:lnTo>
                <a:lnTo>
                  <a:pt x="295656" y="268605"/>
                </a:lnTo>
                <a:lnTo>
                  <a:pt x="299524" y="225038"/>
                </a:lnTo>
                <a:lnTo>
                  <a:pt x="310725" y="183709"/>
                </a:lnTo>
                <a:lnTo>
                  <a:pt x="328649" y="145170"/>
                </a:lnTo>
                <a:lnTo>
                  <a:pt x="352690" y="109974"/>
                </a:lnTo>
                <a:lnTo>
                  <a:pt x="382238" y="78676"/>
                </a:lnTo>
                <a:lnTo>
                  <a:pt x="416685" y="51828"/>
                </a:lnTo>
                <a:lnTo>
                  <a:pt x="455425" y="29983"/>
                </a:lnTo>
                <a:lnTo>
                  <a:pt x="497848" y="13694"/>
                </a:lnTo>
                <a:lnTo>
                  <a:pt x="543346" y="3515"/>
                </a:lnTo>
                <a:lnTo>
                  <a:pt x="591312" y="0"/>
                </a:lnTo>
              </a:path>
            </a:pathLst>
          </a:custGeom>
          <a:noFill/>
          <a:ln cap="flat" cmpd="sng" w="12700">
            <a:solidFill>
              <a:srgbClr val="4471C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162" name="Google Shape;162;p25"/>
          <p:cNvSpPr txBox="1"/>
          <p:nvPr/>
        </p:nvSpPr>
        <p:spPr>
          <a:xfrm>
            <a:off x="115290" y="2004441"/>
            <a:ext cx="708660" cy="12539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Arial"/>
                <a:ea typeface="Arial"/>
                <a:cs typeface="Arial"/>
                <a:sym typeface="Arial"/>
              </a:rPr>
              <a:t>Managed by us, full control and access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25"/>
          <p:cNvSpPr txBox="1"/>
          <p:nvPr/>
        </p:nvSpPr>
        <p:spPr>
          <a:xfrm>
            <a:off x="3823334" y="2969514"/>
            <a:ext cx="1921669" cy="564832"/>
          </a:xfrm>
          <a:prstGeom prst="rect">
            <a:avLst/>
          </a:prstGeom>
          <a:solidFill>
            <a:srgbClr val="532708"/>
          </a:solidFill>
          <a:ln cap="flat" cmpd="sng" w="12700">
            <a:solidFill>
              <a:srgbClr val="2E52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110475">
            <a:spAutoFit/>
          </a:bodyPr>
          <a:lstStyle/>
          <a:p>
            <a:pPr indent="0" lvl="0" marL="3683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Guest OS</a:t>
            </a:r>
            <a:endParaRPr sz="23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25"/>
          <p:cNvSpPr txBox="1"/>
          <p:nvPr/>
        </p:nvSpPr>
        <p:spPr>
          <a:xfrm>
            <a:off x="3823334" y="2334005"/>
            <a:ext cx="1921669" cy="564833"/>
          </a:xfrm>
          <a:prstGeom prst="rect">
            <a:avLst/>
          </a:prstGeom>
          <a:solidFill>
            <a:srgbClr val="6F2F9F"/>
          </a:solidFill>
          <a:ln cap="flat" cmpd="sng" w="12700">
            <a:solidFill>
              <a:srgbClr val="2E52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110000">
            <a:spAutoFit/>
          </a:bodyPr>
          <a:lstStyle/>
          <a:p>
            <a:pPr indent="0" lvl="0" marL="279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Bins / Libs</a:t>
            </a:r>
            <a:endParaRPr sz="23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25"/>
          <p:cNvSpPr txBox="1"/>
          <p:nvPr/>
        </p:nvSpPr>
        <p:spPr>
          <a:xfrm>
            <a:off x="3823334" y="1698498"/>
            <a:ext cx="1921669" cy="563880"/>
          </a:xfrm>
          <a:prstGeom prst="rect">
            <a:avLst/>
          </a:prstGeom>
          <a:solidFill>
            <a:srgbClr val="001F5F"/>
          </a:solidFill>
          <a:ln cap="flat" cmpd="sng" w="12700">
            <a:solidFill>
              <a:srgbClr val="2E52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10955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Code</a:t>
            </a:r>
            <a:endParaRPr sz="23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25"/>
          <p:cNvSpPr txBox="1"/>
          <p:nvPr/>
        </p:nvSpPr>
        <p:spPr>
          <a:xfrm>
            <a:off x="6150482" y="2969514"/>
            <a:ext cx="1922621" cy="564832"/>
          </a:xfrm>
          <a:prstGeom prst="rect">
            <a:avLst/>
          </a:prstGeom>
          <a:solidFill>
            <a:srgbClr val="532708"/>
          </a:solidFill>
          <a:ln cap="flat" cmpd="sng" w="12700">
            <a:solidFill>
              <a:srgbClr val="2E52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110475">
            <a:spAutoFit/>
          </a:bodyPr>
          <a:lstStyle/>
          <a:p>
            <a:pPr indent="0" lvl="0" marL="381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Guest OS</a:t>
            </a:r>
            <a:endParaRPr sz="23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25"/>
          <p:cNvSpPr txBox="1"/>
          <p:nvPr/>
        </p:nvSpPr>
        <p:spPr>
          <a:xfrm>
            <a:off x="6150482" y="2334005"/>
            <a:ext cx="1921669" cy="564833"/>
          </a:xfrm>
          <a:prstGeom prst="rect">
            <a:avLst/>
          </a:prstGeom>
          <a:solidFill>
            <a:srgbClr val="6F2F9F"/>
          </a:solidFill>
          <a:ln cap="flat" cmpd="sng" w="12700">
            <a:solidFill>
              <a:srgbClr val="2E52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110000">
            <a:spAutoFit/>
          </a:bodyPr>
          <a:lstStyle/>
          <a:p>
            <a:pPr indent="0" lvl="0" marL="279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Bins / Libs</a:t>
            </a:r>
            <a:endParaRPr sz="23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25"/>
          <p:cNvSpPr txBox="1"/>
          <p:nvPr/>
        </p:nvSpPr>
        <p:spPr>
          <a:xfrm>
            <a:off x="6150482" y="1698498"/>
            <a:ext cx="1921669" cy="563880"/>
          </a:xfrm>
          <a:prstGeom prst="rect">
            <a:avLst/>
          </a:prstGeom>
          <a:solidFill>
            <a:srgbClr val="001F5F"/>
          </a:solidFill>
          <a:ln cap="flat" cmpd="sng" w="12700">
            <a:solidFill>
              <a:srgbClr val="2E52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109550">
            <a:spAutoFit/>
          </a:bodyPr>
          <a:lstStyle/>
          <a:p>
            <a:pPr indent="0" lvl="0" marL="647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Code</a:t>
            </a:r>
            <a:endParaRPr sz="23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6"/>
          <p:cNvSpPr txBox="1"/>
          <p:nvPr>
            <p:ph type="title"/>
          </p:nvPr>
        </p:nvSpPr>
        <p:spPr>
          <a:xfrm>
            <a:off x="158039" y="78961"/>
            <a:ext cx="7938135" cy="12148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Virtual Machines in Azure</a:t>
            </a:r>
            <a:endParaRPr/>
          </a:p>
        </p:txBody>
      </p:sp>
      <p:sp>
        <p:nvSpPr>
          <p:cNvPr id="174" name="Google Shape;174;p26"/>
          <p:cNvSpPr txBox="1"/>
          <p:nvPr/>
        </p:nvSpPr>
        <p:spPr>
          <a:xfrm>
            <a:off x="497966" y="1310639"/>
            <a:ext cx="4069080" cy="339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050">
            <a:spAutoFit/>
          </a:bodyPr>
          <a:lstStyle/>
          <a:p>
            <a:pPr indent="-349250" lvl="0" marL="355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Char char="•"/>
            </a:pPr>
            <a:r>
              <a:rPr lang="en" sz="2100">
                <a:latin typeface="Arial"/>
                <a:ea typeface="Arial"/>
                <a:cs typeface="Arial"/>
                <a:sym typeface="Arial"/>
              </a:rPr>
              <a:t>Steps for creating VM in Azure:</a:t>
            </a:r>
            <a:endParaRPr sz="21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26"/>
          <p:cNvSpPr txBox="1"/>
          <p:nvPr/>
        </p:nvSpPr>
        <p:spPr>
          <a:xfrm>
            <a:off x="840866" y="1950491"/>
            <a:ext cx="1021080" cy="9791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050">
            <a:spAutoFit/>
          </a:bodyPr>
          <a:lstStyle/>
          <a:p>
            <a:pPr indent="-349250" lvl="0" marL="355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Char char="•"/>
            </a:pPr>
            <a:r>
              <a:rPr lang="en" sz="2100">
                <a:latin typeface="Arial"/>
                <a:ea typeface="Arial"/>
                <a:cs typeface="Arial"/>
                <a:sym typeface="Arial"/>
              </a:rPr>
              <a:t>Selec</a:t>
            </a:r>
            <a:endParaRPr sz="2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2100"/>
              <a:buFont typeface="Arial"/>
              <a:buNone/>
            </a:pPr>
            <a:r>
              <a:t/>
            </a:r>
            <a:endParaRPr sz="2100">
              <a:latin typeface="Arial"/>
              <a:ea typeface="Arial"/>
              <a:cs typeface="Arial"/>
              <a:sym typeface="Arial"/>
            </a:endParaRPr>
          </a:p>
          <a:p>
            <a:pPr indent="-349250" lvl="0" marL="355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Char char="•"/>
            </a:pPr>
            <a:r>
              <a:rPr lang="en" sz="2100">
                <a:latin typeface="Arial"/>
                <a:ea typeface="Arial"/>
                <a:cs typeface="Arial"/>
                <a:sym typeface="Arial"/>
              </a:rPr>
              <a:t>Selec</a:t>
            </a:r>
            <a:endParaRPr sz="21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26"/>
          <p:cNvSpPr txBox="1"/>
          <p:nvPr/>
        </p:nvSpPr>
        <p:spPr>
          <a:xfrm>
            <a:off x="1851979" y="2014939"/>
            <a:ext cx="4918234" cy="906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992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latin typeface="Arial"/>
                <a:ea typeface="Arial"/>
                <a:cs typeface="Arial"/>
                <a:sym typeface="Arial"/>
              </a:rPr>
              <a:t>t the location</a:t>
            </a:r>
            <a:endParaRPr sz="2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latin typeface="Arial"/>
                <a:ea typeface="Arial"/>
                <a:cs typeface="Arial"/>
                <a:sym typeface="Arial"/>
              </a:rPr>
              <a:t>t the image (OS + Pre-Installed software)</a:t>
            </a:r>
            <a:endParaRPr sz="21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26"/>
          <p:cNvSpPr txBox="1"/>
          <p:nvPr/>
        </p:nvSpPr>
        <p:spPr>
          <a:xfrm>
            <a:off x="840866" y="3230841"/>
            <a:ext cx="2109788" cy="339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050">
            <a:spAutoFit/>
          </a:bodyPr>
          <a:lstStyle/>
          <a:p>
            <a:pPr indent="-349250" lvl="0" marL="355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Char char="•"/>
            </a:pPr>
            <a:r>
              <a:rPr lang="en" sz="2100">
                <a:latin typeface="Arial"/>
                <a:ea typeface="Arial"/>
                <a:cs typeface="Arial"/>
                <a:sym typeface="Arial"/>
              </a:rPr>
              <a:t>Select the size</a:t>
            </a:r>
            <a:endParaRPr sz="21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26"/>
          <p:cNvSpPr txBox="1"/>
          <p:nvPr/>
        </p:nvSpPr>
        <p:spPr>
          <a:xfrm>
            <a:off x="840866" y="3871436"/>
            <a:ext cx="2676525" cy="339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050">
            <a:spAutoFit/>
          </a:bodyPr>
          <a:lstStyle/>
          <a:p>
            <a:pPr indent="-349250" lvl="0" marL="355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Char char="•"/>
            </a:pPr>
            <a:r>
              <a:rPr lang="en" sz="2100">
                <a:latin typeface="Arial"/>
                <a:ea typeface="Arial"/>
                <a:cs typeface="Arial"/>
                <a:sym typeface="Arial"/>
              </a:rPr>
              <a:t>That’s it, basically….</a:t>
            </a:r>
            <a:endParaRPr sz="21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26"/>
          <p:cNvSpPr/>
          <p:nvPr/>
        </p:nvSpPr>
        <p:spPr>
          <a:xfrm>
            <a:off x="1901951" y="2065400"/>
            <a:ext cx="5903594" cy="1355884"/>
          </a:xfrm>
          <a:custGeom>
            <a:rect b="b" l="l" r="r" t="t"/>
            <a:pathLst>
              <a:path extrusionOk="0" h="1807845" w="7871459">
                <a:moveTo>
                  <a:pt x="7871459" y="0"/>
                </a:moveTo>
                <a:lnTo>
                  <a:pt x="0" y="0"/>
                </a:lnTo>
                <a:lnTo>
                  <a:pt x="0" y="1807463"/>
                </a:lnTo>
                <a:lnTo>
                  <a:pt x="7871459" y="1807463"/>
                </a:lnTo>
                <a:lnTo>
                  <a:pt x="7871459" y="0"/>
                </a:lnTo>
                <a:close/>
              </a:path>
            </a:pathLst>
          </a:custGeom>
          <a:solidFill>
            <a:srgbClr val="FFFFFF">
              <a:alpha val="86666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180" name="Google Shape;180;p26"/>
          <p:cNvSpPr txBox="1"/>
          <p:nvPr/>
        </p:nvSpPr>
        <p:spPr>
          <a:xfrm>
            <a:off x="1901951" y="2065400"/>
            <a:ext cx="5903594" cy="1355884"/>
          </a:xfrm>
          <a:prstGeom prst="rect">
            <a:avLst/>
          </a:prstGeom>
          <a:solidFill>
            <a:srgbClr val="FFFFFF">
              <a:alpha val="86666"/>
            </a:srgbClr>
          </a:solidFill>
          <a:ln cap="flat" cmpd="sng" w="762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905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330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Don’t forget to check the price!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7"/>
          <p:cNvSpPr txBox="1"/>
          <p:nvPr>
            <p:ph type="title"/>
          </p:nvPr>
        </p:nvSpPr>
        <p:spPr>
          <a:xfrm>
            <a:off x="158039" y="78961"/>
            <a:ext cx="7938135" cy="12148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Real Cost of VM</a:t>
            </a:r>
            <a:endParaRPr/>
          </a:p>
        </p:txBody>
      </p:sp>
      <p:sp>
        <p:nvSpPr>
          <p:cNvPr id="186" name="Google Shape;186;p27"/>
          <p:cNvSpPr txBox="1"/>
          <p:nvPr/>
        </p:nvSpPr>
        <p:spPr>
          <a:xfrm>
            <a:off x="497966" y="1310639"/>
            <a:ext cx="2763203" cy="28998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050">
            <a:spAutoFit/>
          </a:bodyPr>
          <a:lstStyle/>
          <a:p>
            <a:pPr indent="-349250" lvl="0" marL="355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Char char="•"/>
            </a:pPr>
            <a:r>
              <a:rPr lang="en" sz="2100">
                <a:latin typeface="Arial"/>
                <a:ea typeface="Arial"/>
                <a:cs typeface="Arial"/>
                <a:sym typeface="Arial"/>
              </a:rPr>
              <a:t>Cost of VM includes:</a:t>
            </a:r>
            <a:endParaRPr sz="2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2100"/>
              <a:buFont typeface="Arial"/>
              <a:buNone/>
            </a:pPr>
            <a:r>
              <a:t/>
            </a:r>
            <a:endParaRPr sz="2100">
              <a:latin typeface="Arial"/>
              <a:ea typeface="Arial"/>
              <a:cs typeface="Arial"/>
              <a:sym typeface="Arial"/>
            </a:endParaRPr>
          </a:p>
          <a:p>
            <a:pPr indent="-349250" lvl="1" marL="6985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Char char="•"/>
            </a:pPr>
            <a:r>
              <a:rPr lang="en" sz="2100">
                <a:latin typeface="Arial"/>
                <a:ea typeface="Arial"/>
                <a:cs typeface="Arial"/>
                <a:sym typeface="Arial"/>
              </a:rPr>
              <a:t>VM</a:t>
            </a:r>
            <a:endParaRPr sz="2100">
              <a:latin typeface="Arial"/>
              <a:ea typeface="Arial"/>
              <a:cs typeface="Arial"/>
              <a:sym typeface="Arial"/>
            </a:endParaRPr>
          </a:p>
          <a:p>
            <a:pPr indent="0" lvl="1" marL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2100"/>
              <a:buFont typeface="Arial"/>
              <a:buNone/>
            </a:pPr>
            <a:r>
              <a:t/>
            </a:r>
            <a:endParaRPr sz="2100">
              <a:latin typeface="Arial"/>
              <a:ea typeface="Arial"/>
              <a:cs typeface="Arial"/>
              <a:sym typeface="Arial"/>
            </a:endParaRPr>
          </a:p>
          <a:p>
            <a:pPr indent="-349250" lvl="1" marL="6985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Char char="•"/>
            </a:pPr>
            <a:r>
              <a:rPr lang="en" sz="2100">
                <a:latin typeface="Arial"/>
                <a:ea typeface="Arial"/>
                <a:cs typeface="Arial"/>
                <a:sym typeface="Arial"/>
              </a:rPr>
              <a:t>Disk</a:t>
            </a:r>
            <a:endParaRPr sz="2100">
              <a:latin typeface="Arial"/>
              <a:ea typeface="Arial"/>
              <a:cs typeface="Arial"/>
              <a:sym typeface="Arial"/>
            </a:endParaRPr>
          </a:p>
          <a:p>
            <a:pPr indent="0" lvl="1" marL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2100"/>
              <a:buFont typeface="Arial"/>
              <a:buNone/>
            </a:pPr>
            <a:r>
              <a:t/>
            </a:r>
            <a:endParaRPr sz="2100">
              <a:latin typeface="Arial"/>
              <a:ea typeface="Arial"/>
              <a:cs typeface="Arial"/>
              <a:sym typeface="Arial"/>
            </a:endParaRPr>
          </a:p>
          <a:p>
            <a:pPr indent="-349250" lvl="1" marL="6985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Char char="•"/>
            </a:pPr>
            <a:r>
              <a:rPr lang="en" sz="2100">
                <a:latin typeface="Arial"/>
                <a:ea typeface="Arial"/>
                <a:cs typeface="Arial"/>
                <a:sym typeface="Arial"/>
              </a:rPr>
              <a:t>IP</a:t>
            </a:r>
            <a:endParaRPr sz="2100">
              <a:latin typeface="Arial"/>
              <a:ea typeface="Arial"/>
              <a:cs typeface="Arial"/>
              <a:sym typeface="Arial"/>
            </a:endParaRPr>
          </a:p>
          <a:p>
            <a:pPr indent="0" lvl="1" marL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2100"/>
              <a:buFont typeface="Arial"/>
              <a:buNone/>
            </a:pPr>
            <a:r>
              <a:t/>
            </a:r>
            <a:endParaRPr sz="2100">
              <a:latin typeface="Arial"/>
              <a:ea typeface="Arial"/>
              <a:cs typeface="Arial"/>
              <a:sym typeface="Arial"/>
            </a:endParaRPr>
          </a:p>
          <a:p>
            <a:pPr indent="-349250" lvl="1" marL="6985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Char char="•"/>
            </a:pPr>
            <a:r>
              <a:rPr lang="en" sz="2100">
                <a:latin typeface="Arial"/>
                <a:ea typeface="Arial"/>
                <a:cs typeface="Arial"/>
                <a:sym typeface="Arial"/>
              </a:rPr>
              <a:t>Storage</a:t>
            </a:r>
            <a:endParaRPr sz="21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8"/>
          <p:cNvSpPr txBox="1"/>
          <p:nvPr>
            <p:ph type="title"/>
          </p:nvPr>
        </p:nvSpPr>
        <p:spPr>
          <a:xfrm>
            <a:off x="158039" y="78961"/>
            <a:ext cx="7938135" cy="12148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Real Cost of VM</a:t>
            </a:r>
            <a:endParaRPr/>
          </a:p>
        </p:txBody>
      </p:sp>
      <p:graphicFrame>
        <p:nvGraphicFramePr>
          <p:cNvPr id="192" name="Google Shape;192;p28"/>
          <p:cNvGraphicFramePr/>
          <p:nvPr/>
        </p:nvGraphicFramePr>
        <p:xfrm>
          <a:off x="894397" y="197519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{D0DB2865-2146-4867-8C3A-9EC84B4651C1}</a:tableStyleId>
              </a:tblPr>
              <a:tblGrid>
                <a:gridCol w="2032150"/>
                <a:gridCol w="2032150"/>
                <a:gridCol w="2032150"/>
              </a:tblGrid>
              <a:tr h="365275">
                <a:tc>
                  <a:txBody>
                    <a:bodyPr/>
                    <a:lstStyle/>
                    <a:p>
                      <a:pPr indent="0" lvl="0" marL="5461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Resource</a:t>
                      </a:r>
                      <a:endParaRPr sz="2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471C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Type</a:t>
                      </a:r>
                      <a:endParaRPr sz="2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471C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1524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Monthly Cost ($)</a:t>
                      </a:r>
                      <a:endParaRPr sz="2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471C4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635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VM</a:t>
                      </a:r>
                      <a:endParaRPr sz="2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635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D2v3</a:t>
                      </a:r>
                      <a:endParaRPr sz="2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635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154.76</a:t>
                      </a:r>
                      <a:endParaRPr sz="2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D4EA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635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Disk</a:t>
                      </a:r>
                      <a:endParaRPr sz="2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635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P10</a:t>
                      </a:r>
                      <a:endParaRPr sz="2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635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21.68</a:t>
                      </a:r>
                      <a:endParaRPr sz="2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BF5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635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Public IP</a:t>
                      </a:r>
                      <a:endParaRPr sz="2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635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Dynamic</a:t>
                      </a:r>
                      <a:endParaRPr sz="2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635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2.92</a:t>
                      </a:r>
                      <a:endParaRPr sz="2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D4EA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635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Storage</a:t>
                      </a:r>
                      <a:endParaRPr sz="2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52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635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LRS</a:t>
                      </a:r>
                      <a:endParaRPr sz="2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52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635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&lt;1$</a:t>
                      </a:r>
                      <a:endParaRPr sz="2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52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BF5"/>
                    </a:solidFill>
                  </a:tcPr>
                </a:tc>
              </a:tr>
            </a:tbl>
          </a:graphicData>
        </a:graphic>
      </p:graphicFrame>
      <p:sp>
        <p:nvSpPr>
          <p:cNvPr id="193" name="Google Shape;193;p28"/>
          <p:cNvSpPr txBox="1"/>
          <p:nvPr/>
        </p:nvSpPr>
        <p:spPr>
          <a:xfrm>
            <a:off x="1125950" y="4131792"/>
            <a:ext cx="1506854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latin typeface="Arial"/>
                <a:ea typeface="Arial"/>
                <a:cs typeface="Arial"/>
                <a:sym typeface="Arial"/>
              </a:rPr>
              <a:t>Total: ~180$</a:t>
            </a:r>
            <a:endParaRPr sz="23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9"/>
          <p:cNvSpPr txBox="1"/>
          <p:nvPr>
            <p:ph type="title"/>
          </p:nvPr>
        </p:nvSpPr>
        <p:spPr>
          <a:xfrm>
            <a:off x="158039" y="78961"/>
            <a:ext cx="7938135" cy="12148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Reducing the Cost of VM</a:t>
            </a:r>
            <a:endParaRPr/>
          </a:p>
        </p:txBody>
      </p:sp>
      <p:sp>
        <p:nvSpPr>
          <p:cNvPr id="199" name="Google Shape;199;p29"/>
          <p:cNvSpPr txBox="1"/>
          <p:nvPr/>
        </p:nvSpPr>
        <p:spPr>
          <a:xfrm>
            <a:off x="497966" y="1310639"/>
            <a:ext cx="6112669" cy="339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050">
            <a:spAutoFit/>
          </a:bodyPr>
          <a:lstStyle/>
          <a:p>
            <a:pPr indent="-349250" lvl="0" marL="355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Char char="•"/>
            </a:pPr>
            <a:r>
              <a:rPr lang="en" sz="2100">
                <a:latin typeface="Arial"/>
                <a:ea typeface="Arial"/>
                <a:cs typeface="Arial"/>
                <a:sym typeface="Arial"/>
              </a:rPr>
              <a:t>Most effective techniques to reduce costs of VM:</a:t>
            </a:r>
            <a:endParaRPr sz="21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29"/>
          <p:cNvSpPr txBox="1"/>
          <p:nvPr/>
        </p:nvSpPr>
        <p:spPr>
          <a:xfrm>
            <a:off x="3251834" y="1793366"/>
            <a:ext cx="2533174" cy="548640"/>
          </a:xfrm>
          <a:prstGeom prst="rect">
            <a:avLst/>
          </a:prstGeom>
          <a:solidFill>
            <a:srgbClr val="6F2F9F"/>
          </a:solidFill>
          <a:ln cap="flat" cmpd="sng" w="12700">
            <a:solidFill>
              <a:srgbClr val="2E52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123825">
            <a:spAutoFit/>
          </a:bodyPr>
          <a:lstStyle/>
          <a:p>
            <a:pPr indent="0" lvl="0" marL="419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Auto Shutdown</a:t>
            </a:r>
            <a:endParaRPr sz="2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29"/>
          <p:cNvSpPr txBox="1"/>
          <p:nvPr/>
        </p:nvSpPr>
        <p:spPr>
          <a:xfrm>
            <a:off x="3251834" y="2527173"/>
            <a:ext cx="2533174" cy="548640"/>
          </a:xfrm>
          <a:prstGeom prst="rect">
            <a:avLst/>
          </a:prstGeom>
          <a:solidFill>
            <a:srgbClr val="6F2F9F"/>
          </a:solidFill>
          <a:ln cap="flat" cmpd="sng" w="12700">
            <a:solidFill>
              <a:srgbClr val="2E52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124775">
            <a:spAutoFit/>
          </a:bodyPr>
          <a:lstStyle/>
          <a:p>
            <a:pPr indent="0" lvl="0" marL="165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Reserved Instances</a:t>
            </a:r>
            <a:endParaRPr sz="2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29"/>
          <p:cNvSpPr txBox="1"/>
          <p:nvPr/>
        </p:nvSpPr>
        <p:spPr>
          <a:xfrm>
            <a:off x="3251834" y="3262122"/>
            <a:ext cx="2533174" cy="548640"/>
          </a:xfrm>
          <a:prstGeom prst="rect">
            <a:avLst/>
          </a:prstGeom>
          <a:solidFill>
            <a:srgbClr val="6F2F9F"/>
          </a:solidFill>
          <a:ln cap="flat" cmpd="sng" w="12700">
            <a:solidFill>
              <a:srgbClr val="2E52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124775">
            <a:spAutoFit/>
          </a:bodyPr>
          <a:lstStyle/>
          <a:p>
            <a:pPr indent="0" lvl="0" marL="4445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Spot Instances</a:t>
            </a:r>
            <a:endParaRPr sz="2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29"/>
          <p:cNvSpPr txBox="1"/>
          <p:nvPr/>
        </p:nvSpPr>
        <p:spPr>
          <a:xfrm>
            <a:off x="3251834" y="3997071"/>
            <a:ext cx="2533174" cy="548640"/>
          </a:xfrm>
          <a:prstGeom prst="rect">
            <a:avLst/>
          </a:prstGeom>
          <a:solidFill>
            <a:srgbClr val="6F2F9F"/>
          </a:solidFill>
          <a:ln cap="flat" cmpd="sng" w="12700">
            <a:solidFill>
              <a:srgbClr val="2E52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12525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Disk Optimization</a:t>
            </a:r>
            <a:endParaRPr sz="20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30"/>
          <p:cNvSpPr txBox="1"/>
          <p:nvPr>
            <p:ph type="title"/>
          </p:nvPr>
        </p:nvSpPr>
        <p:spPr>
          <a:xfrm>
            <a:off x="158039" y="78961"/>
            <a:ext cx="7938135" cy="12148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Auto Shutdown</a:t>
            </a:r>
            <a:endParaRPr/>
          </a:p>
        </p:txBody>
      </p:sp>
      <p:sp>
        <p:nvSpPr>
          <p:cNvPr id="209" name="Google Shape;209;p30"/>
          <p:cNvSpPr txBox="1"/>
          <p:nvPr/>
        </p:nvSpPr>
        <p:spPr>
          <a:xfrm>
            <a:off x="497966" y="1310639"/>
            <a:ext cx="7084695" cy="28998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050">
            <a:spAutoFit/>
          </a:bodyPr>
          <a:lstStyle/>
          <a:p>
            <a:pPr indent="-349250" lvl="0" marL="355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Char char="•"/>
            </a:pPr>
            <a:r>
              <a:rPr lang="en" sz="2100">
                <a:latin typeface="Arial"/>
                <a:ea typeface="Arial"/>
                <a:cs typeface="Arial"/>
                <a:sym typeface="Arial"/>
              </a:rPr>
              <a:t>As simple as it sounds…</a:t>
            </a:r>
            <a:endParaRPr sz="2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2100"/>
              <a:buFont typeface="Arial"/>
              <a:buNone/>
            </a:pPr>
            <a:r>
              <a:t/>
            </a:r>
            <a:endParaRPr sz="2100">
              <a:latin typeface="Arial"/>
              <a:ea typeface="Arial"/>
              <a:cs typeface="Arial"/>
              <a:sym typeface="Arial"/>
            </a:endParaRPr>
          </a:p>
          <a:p>
            <a:pPr indent="-349250" lvl="0" marL="355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Char char="•"/>
            </a:pPr>
            <a:r>
              <a:rPr lang="en" sz="2100">
                <a:latin typeface="Arial"/>
                <a:ea typeface="Arial"/>
                <a:cs typeface="Arial"/>
                <a:sym typeface="Arial"/>
              </a:rPr>
              <a:t>Automatically shuts down the machine when not needed</a:t>
            </a:r>
            <a:endParaRPr sz="2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2100"/>
              <a:buFont typeface="Arial"/>
              <a:buNone/>
            </a:pPr>
            <a:r>
              <a:t/>
            </a:r>
            <a:endParaRPr sz="2100">
              <a:latin typeface="Arial"/>
              <a:ea typeface="Arial"/>
              <a:cs typeface="Arial"/>
              <a:sym typeface="Arial"/>
            </a:endParaRPr>
          </a:p>
          <a:p>
            <a:pPr indent="-349250" lvl="1" marL="6985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Char char="•"/>
            </a:pPr>
            <a:r>
              <a:rPr lang="en" sz="2100">
                <a:latin typeface="Arial"/>
                <a:ea typeface="Arial"/>
                <a:cs typeface="Arial"/>
                <a:sym typeface="Arial"/>
              </a:rPr>
              <a:t>Relevant mainly for test / dev machines</a:t>
            </a:r>
            <a:endParaRPr sz="2100">
              <a:latin typeface="Arial"/>
              <a:ea typeface="Arial"/>
              <a:cs typeface="Arial"/>
              <a:sym typeface="Arial"/>
            </a:endParaRPr>
          </a:p>
          <a:p>
            <a:pPr indent="0" lvl="1" marL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2100"/>
              <a:buFont typeface="Arial"/>
              <a:buNone/>
            </a:pPr>
            <a:r>
              <a:t/>
            </a:r>
            <a:endParaRPr sz="2100">
              <a:latin typeface="Arial"/>
              <a:ea typeface="Arial"/>
              <a:cs typeface="Arial"/>
              <a:sym typeface="Arial"/>
            </a:endParaRPr>
          </a:p>
          <a:p>
            <a:pPr indent="-349250" lvl="0" marL="355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Char char="•"/>
            </a:pPr>
            <a:r>
              <a:rPr lang="en" sz="2100">
                <a:latin typeface="Arial"/>
                <a:ea typeface="Arial"/>
                <a:cs typeface="Arial"/>
                <a:sym typeface="Arial"/>
              </a:rPr>
              <a:t>Storage and IP (if static) costs still incurred</a:t>
            </a:r>
            <a:endParaRPr sz="2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2100"/>
              <a:buFont typeface="Arial"/>
              <a:buNone/>
            </a:pPr>
            <a:r>
              <a:t/>
            </a:r>
            <a:endParaRPr sz="2100">
              <a:latin typeface="Arial"/>
              <a:ea typeface="Arial"/>
              <a:cs typeface="Arial"/>
              <a:sym typeface="Arial"/>
            </a:endParaRPr>
          </a:p>
          <a:p>
            <a:pPr indent="-349250" lvl="0" marL="355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Char char="•"/>
            </a:pPr>
            <a:r>
              <a:rPr lang="en" sz="2100">
                <a:latin typeface="Arial"/>
                <a:ea typeface="Arial"/>
                <a:cs typeface="Arial"/>
                <a:sym typeface="Arial"/>
              </a:rPr>
              <a:t>Can save &gt;50% of VM cost</a:t>
            </a:r>
            <a:endParaRPr sz="21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4" name="Google Shape;214;p31"/>
          <p:cNvGrpSpPr/>
          <p:nvPr/>
        </p:nvGrpSpPr>
        <p:grpSpPr>
          <a:xfrm>
            <a:off x="3485007" y="113194"/>
            <a:ext cx="5085207" cy="4937760"/>
            <a:chOff x="4646676" y="150925"/>
            <a:chExt cx="6780276" cy="6583680"/>
          </a:xfrm>
        </p:grpSpPr>
        <p:pic>
          <p:nvPicPr>
            <p:cNvPr id="215" name="Google Shape;215;p3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4646676" y="150925"/>
              <a:ext cx="6780276" cy="658368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6" name="Google Shape;216;p3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4841747" y="345947"/>
              <a:ext cx="6210300" cy="601370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17" name="Google Shape;217;p31"/>
            <p:cNvSpPr/>
            <p:nvPr/>
          </p:nvSpPr>
          <p:spPr>
            <a:xfrm>
              <a:off x="4988814" y="2926841"/>
              <a:ext cx="4297680" cy="873760"/>
            </a:xfrm>
            <a:custGeom>
              <a:rect b="b" l="l" r="r" t="t"/>
              <a:pathLst>
                <a:path extrusionOk="0" h="873760" w="4297680">
                  <a:moveTo>
                    <a:pt x="0" y="873252"/>
                  </a:moveTo>
                  <a:lnTo>
                    <a:pt x="4297680" y="873252"/>
                  </a:lnTo>
                  <a:lnTo>
                    <a:pt x="4297680" y="0"/>
                  </a:lnTo>
                  <a:lnTo>
                    <a:pt x="0" y="0"/>
                  </a:lnTo>
                  <a:lnTo>
                    <a:pt x="0" y="873252"/>
                  </a:lnTo>
                  <a:close/>
                </a:path>
              </a:pathLst>
            </a:custGeom>
            <a:noFill/>
            <a:ln cap="flat" cmpd="sng" w="2857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00"/>
            </a:p>
          </p:txBody>
        </p:sp>
      </p:grpSp>
      <p:sp>
        <p:nvSpPr>
          <p:cNvPr id="218" name="Google Shape;218;p31"/>
          <p:cNvSpPr txBox="1"/>
          <p:nvPr>
            <p:ph type="title"/>
          </p:nvPr>
        </p:nvSpPr>
        <p:spPr>
          <a:xfrm>
            <a:off x="158039" y="78961"/>
            <a:ext cx="7938135" cy="12148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Auto Shutdown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32"/>
          <p:cNvSpPr txBox="1"/>
          <p:nvPr>
            <p:ph type="title"/>
          </p:nvPr>
        </p:nvSpPr>
        <p:spPr>
          <a:xfrm>
            <a:off x="158054" y="78950"/>
            <a:ext cx="5731500" cy="59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Reserved Instances</a:t>
            </a:r>
            <a:endParaRPr/>
          </a:p>
        </p:txBody>
      </p:sp>
      <p:sp>
        <p:nvSpPr>
          <p:cNvPr id="224" name="Google Shape;224;p32"/>
          <p:cNvSpPr txBox="1"/>
          <p:nvPr/>
        </p:nvSpPr>
        <p:spPr>
          <a:xfrm>
            <a:off x="497966" y="1030147"/>
            <a:ext cx="7055644" cy="33804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9550">
            <a:spAutoFit/>
          </a:bodyPr>
          <a:lstStyle/>
          <a:p>
            <a:pPr indent="-349250" lvl="0" marL="355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Char char="•"/>
            </a:pPr>
            <a:r>
              <a:rPr lang="en" sz="2100">
                <a:latin typeface="Arial"/>
                <a:ea typeface="Arial"/>
                <a:cs typeface="Arial"/>
                <a:sym typeface="Arial"/>
              </a:rPr>
              <a:t>Allow upfront payment with substantial discount</a:t>
            </a:r>
            <a:endParaRPr sz="2100">
              <a:latin typeface="Arial"/>
              <a:ea typeface="Arial"/>
              <a:cs typeface="Arial"/>
              <a:sym typeface="Arial"/>
            </a:endParaRPr>
          </a:p>
          <a:p>
            <a:pPr indent="-349250" lvl="0" marL="355600" rtl="0" algn="l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SzPts val="2100"/>
              <a:buFont typeface="Arial"/>
              <a:buChar char="•"/>
            </a:pPr>
            <a:r>
              <a:rPr lang="en" sz="2100">
                <a:latin typeface="Arial"/>
                <a:ea typeface="Arial"/>
                <a:cs typeface="Arial"/>
                <a:sym typeface="Arial"/>
              </a:rPr>
              <a:t>Usually offered for 1 or 3 years</a:t>
            </a:r>
            <a:endParaRPr sz="2100">
              <a:latin typeface="Arial"/>
              <a:ea typeface="Arial"/>
              <a:cs typeface="Arial"/>
              <a:sym typeface="Arial"/>
            </a:endParaRPr>
          </a:p>
          <a:p>
            <a:pPr indent="-349250" lvl="1" marL="698500" rtl="0" algn="l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SzPts val="2100"/>
              <a:buFont typeface="Arial"/>
              <a:buChar char="•"/>
            </a:pPr>
            <a:r>
              <a:rPr lang="en" sz="2100">
                <a:latin typeface="Arial"/>
                <a:ea typeface="Arial"/>
                <a:cs typeface="Arial"/>
                <a:sym typeface="Arial"/>
              </a:rPr>
              <a:t>Great for production machine which run continuously</a:t>
            </a:r>
            <a:endParaRPr sz="2100">
              <a:latin typeface="Arial"/>
              <a:ea typeface="Arial"/>
              <a:cs typeface="Arial"/>
              <a:sym typeface="Arial"/>
            </a:endParaRPr>
          </a:p>
          <a:p>
            <a:pPr indent="-349250" lvl="0" marL="355600" rtl="0" algn="l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SzPts val="2100"/>
              <a:buFont typeface="Arial"/>
              <a:buChar char="•"/>
            </a:pPr>
            <a:r>
              <a:rPr lang="en" sz="2100">
                <a:latin typeface="Arial"/>
                <a:ea typeface="Arial"/>
                <a:cs typeface="Arial"/>
                <a:sym typeface="Arial"/>
              </a:rPr>
              <a:t>Offers great discounts (up to 62%)</a:t>
            </a:r>
            <a:endParaRPr sz="2100">
              <a:latin typeface="Arial"/>
              <a:ea typeface="Arial"/>
              <a:cs typeface="Arial"/>
              <a:sym typeface="Arial"/>
            </a:endParaRPr>
          </a:p>
          <a:p>
            <a:pPr indent="-349250" lvl="0" marL="355600" rtl="0" algn="l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SzPts val="2100"/>
              <a:buFont typeface="Arial"/>
              <a:buChar char="•"/>
            </a:pPr>
            <a:r>
              <a:rPr lang="en" sz="2100">
                <a:latin typeface="Arial"/>
                <a:ea typeface="Arial"/>
                <a:cs typeface="Arial"/>
                <a:sym typeface="Arial"/>
              </a:rPr>
              <a:t>Can be divided to monthly payments</a:t>
            </a:r>
            <a:endParaRPr sz="2100">
              <a:latin typeface="Arial"/>
              <a:ea typeface="Arial"/>
              <a:cs typeface="Arial"/>
              <a:sym typeface="Arial"/>
            </a:endParaRPr>
          </a:p>
          <a:p>
            <a:pPr indent="-349250" lvl="0" marL="355600" rtl="0" algn="l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SzPts val="2100"/>
              <a:buFont typeface="Arial"/>
              <a:buChar char="•"/>
            </a:pPr>
            <a:r>
              <a:rPr lang="en" sz="2100">
                <a:latin typeface="Arial"/>
                <a:ea typeface="Arial"/>
                <a:cs typeface="Arial"/>
                <a:sym typeface="Arial"/>
              </a:rPr>
              <a:t>Cannot be stopped / refunded</a:t>
            </a:r>
            <a:endParaRPr sz="2100">
              <a:latin typeface="Arial"/>
              <a:ea typeface="Arial"/>
              <a:cs typeface="Arial"/>
              <a:sym typeface="Arial"/>
            </a:endParaRPr>
          </a:p>
          <a:p>
            <a:pPr indent="-349250" lvl="1" marL="698500" rtl="0" algn="l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SzPts val="2100"/>
              <a:buFont typeface="Arial"/>
              <a:buChar char="•"/>
            </a:pPr>
            <a:r>
              <a:rPr lang="en" sz="2100">
                <a:latin typeface="Arial"/>
                <a:ea typeface="Arial"/>
                <a:cs typeface="Arial"/>
                <a:sym typeface="Arial"/>
              </a:rPr>
              <a:t>Unless…</a:t>
            </a:r>
            <a:endParaRPr sz="21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9" name="Google Shape;229;p33"/>
          <p:cNvGrpSpPr/>
          <p:nvPr/>
        </p:nvGrpSpPr>
        <p:grpSpPr>
          <a:xfrm>
            <a:off x="0" y="814958"/>
            <a:ext cx="9144000" cy="4263591"/>
            <a:chOff x="0" y="1086611"/>
            <a:chExt cx="12192000" cy="5684788"/>
          </a:xfrm>
        </p:grpSpPr>
        <p:pic>
          <p:nvPicPr>
            <p:cNvPr id="230" name="Google Shape;230;p3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0" y="1281513"/>
              <a:ext cx="12192000" cy="548988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1" name="Google Shape;231;p3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0" y="1440179"/>
              <a:ext cx="12191999" cy="49926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2" name="Google Shape;232;p33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0667" y="1086611"/>
              <a:ext cx="12028932" cy="19354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33" name="Google Shape;233;p33"/>
            <p:cNvSpPr/>
            <p:nvPr/>
          </p:nvSpPr>
          <p:spPr>
            <a:xfrm>
              <a:off x="81534" y="4522470"/>
              <a:ext cx="2255520" cy="1167765"/>
            </a:xfrm>
            <a:custGeom>
              <a:rect b="b" l="l" r="r" t="t"/>
              <a:pathLst>
                <a:path extrusionOk="0" h="1167764" w="2255520">
                  <a:moveTo>
                    <a:pt x="0" y="1167383"/>
                  </a:moveTo>
                  <a:lnTo>
                    <a:pt x="2255520" y="1167383"/>
                  </a:lnTo>
                  <a:lnTo>
                    <a:pt x="2255520" y="0"/>
                  </a:lnTo>
                  <a:lnTo>
                    <a:pt x="0" y="0"/>
                  </a:lnTo>
                  <a:lnTo>
                    <a:pt x="0" y="1167383"/>
                  </a:lnTo>
                  <a:close/>
                </a:path>
              </a:pathLst>
            </a:custGeom>
            <a:noFill/>
            <a:ln cap="flat" cmpd="sng" w="2857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00"/>
            </a:p>
          </p:txBody>
        </p:sp>
      </p:grpSp>
      <p:sp>
        <p:nvSpPr>
          <p:cNvPr id="234" name="Google Shape;234;p33"/>
          <p:cNvSpPr txBox="1"/>
          <p:nvPr>
            <p:ph type="title"/>
          </p:nvPr>
        </p:nvSpPr>
        <p:spPr>
          <a:xfrm>
            <a:off x="158039" y="78961"/>
            <a:ext cx="7938135" cy="12148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Reserved Instances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34"/>
          <p:cNvSpPr txBox="1"/>
          <p:nvPr>
            <p:ph type="title"/>
          </p:nvPr>
        </p:nvSpPr>
        <p:spPr>
          <a:xfrm>
            <a:off x="158039" y="78961"/>
            <a:ext cx="7938135" cy="12148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Spot Instances</a:t>
            </a:r>
            <a:endParaRPr/>
          </a:p>
        </p:txBody>
      </p:sp>
      <p:sp>
        <p:nvSpPr>
          <p:cNvPr id="240" name="Google Shape;240;p34"/>
          <p:cNvSpPr txBox="1"/>
          <p:nvPr/>
        </p:nvSpPr>
        <p:spPr>
          <a:xfrm>
            <a:off x="497966" y="1310639"/>
            <a:ext cx="7954804" cy="28998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050">
            <a:spAutoFit/>
          </a:bodyPr>
          <a:lstStyle/>
          <a:p>
            <a:pPr indent="-349250" lvl="0" marL="355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Char char="•"/>
            </a:pPr>
            <a:r>
              <a:rPr lang="en" sz="2100">
                <a:latin typeface="Arial"/>
                <a:ea typeface="Arial"/>
                <a:cs typeface="Arial"/>
                <a:sym typeface="Arial"/>
              </a:rPr>
              <a:t>Machines that run on unused capacity in Azure</a:t>
            </a:r>
            <a:endParaRPr sz="2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2100"/>
              <a:buFont typeface="Arial"/>
              <a:buNone/>
            </a:pPr>
            <a:r>
              <a:t/>
            </a:r>
            <a:endParaRPr sz="2100">
              <a:latin typeface="Arial"/>
              <a:ea typeface="Arial"/>
              <a:cs typeface="Arial"/>
              <a:sym typeface="Arial"/>
            </a:endParaRPr>
          </a:p>
          <a:p>
            <a:pPr indent="-349250" lvl="0" marL="355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Char char="•"/>
            </a:pPr>
            <a:r>
              <a:rPr lang="en" sz="2100">
                <a:latin typeface="Arial"/>
                <a:ea typeface="Arial"/>
                <a:cs typeface="Arial"/>
                <a:sym typeface="Arial"/>
              </a:rPr>
              <a:t>Can be evicted any moment when needed by Azure</a:t>
            </a:r>
            <a:endParaRPr sz="2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2100"/>
              <a:buFont typeface="Arial"/>
              <a:buNone/>
            </a:pPr>
            <a:r>
              <a:t/>
            </a:r>
            <a:endParaRPr sz="2100">
              <a:latin typeface="Arial"/>
              <a:ea typeface="Arial"/>
              <a:cs typeface="Arial"/>
              <a:sym typeface="Arial"/>
            </a:endParaRPr>
          </a:p>
          <a:p>
            <a:pPr indent="-349250" lvl="0" marL="355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Char char="•"/>
            </a:pPr>
            <a:r>
              <a:rPr lang="en" sz="2100">
                <a:latin typeface="Arial"/>
                <a:ea typeface="Arial"/>
                <a:cs typeface="Arial"/>
                <a:sym typeface="Arial"/>
              </a:rPr>
              <a:t>Offers up to 90% discount, price fluctuates according to demand</a:t>
            </a:r>
            <a:endParaRPr sz="2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2100"/>
              <a:buFont typeface="Arial"/>
              <a:buNone/>
            </a:pPr>
            <a:r>
              <a:t/>
            </a:r>
            <a:endParaRPr sz="2100">
              <a:latin typeface="Arial"/>
              <a:ea typeface="Arial"/>
              <a:cs typeface="Arial"/>
              <a:sym typeface="Arial"/>
            </a:endParaRPr>
          </a:p>
          <a:p>
            <a:pPr indent="-349250" lvl="0" marL="355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Char char="•"/>
            </a:pPr>
            <a:r>
              <a:rPr lang="en" sz="2100">
                <a:latin typeface="Arial"/>
                <a:ea typeface="Arial"/>
                <a:cs typeface="Arial"/>
                <a:sym typeface="Arial"/>
              </a:rPr>
              <a:t>Great for non-critical, non-continuous tasks</a:t>
            </a:r>
            <a:endParaRPr sz="2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2100"/>
              <a:buFont typeface="Arial"/>
              <a:buNone/>
            </a:pPr>
            <a:r>
              <a:t/>
            </a:r>
            <a:endParaRPr sz="2100">
              <a:latin typeface="Arial"/>
              <a:ea typeface="Arial"/>
              <a:cs typeface="Arial"/>
              <a:sym typeface="Arial"/>
            </a:endParaRPr>
          </a:p>
          <a:p>
            <a:pPr indent="-349250" lvl="1" marL="6985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Char char="•"/>
            </a:pPr>
            <a:r>
              <a:rPr lang="en" sz="2100">
                <a:latin typeface="Arial"/>
                <a:ea typeface="Arial"/>
                <a:cs typeface="Arial"/>
                <a:sym typeface="Arial"/>
              </a:rPr>
              <a:t>ie. Batch processes, long running calculations</a:t>
            </a:r>
            <a:endParaRPr sz="21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5" name="Google Shape;245;p35"/>
          <p:cNvGrpSpPr/>
          <p:nvPr/>
        </p:nvGrpSpPr>
        <p:grpSpPr>
          <a:xfrm>
            <a:off x="8000" y="814958"/>
            <a:ext cx="9021699" cy="4328541"/>
            <a:chOff x="10667" y="1086611"/>
            <a:chExt cx="12028932" cy="5771388"/>
          </a:xfrm>
        </p:grpSpPr>
        <p:pic>
          <p:nvPicPr>
            <p:cNvPr id="246" name="Google Shape;246;p3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162" y="1121625"/>
              <a:ext cx="8732595" cy="573637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7" name="Google Shape;247;p3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234695" y="1280159"/>
              <a:ext cx="8235696" cy="541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8" name="Google Shape;248;p35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0667" y="1086611"/>
              <a:ext cx="12028932" cy="19354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9" name="Google Shape;249;p35"/>
            <p:cNvSpPr/>
            <p:nvPr/>
          </p:nvSpPr>
          <p:spPr>
            <a:xfrm>
              <a:off x="366522" y="3181350"/>
              <a:ext cx="7691755" cy="2001520"/>
            </a:xfrm>
            <a:custGeom>
              <a:rect b="b" l="l" r="r" t="t"/>
              <a:pathLst>
                <a:path extrusionOk="0" h="2001520" w="7691755">
                  <a:moveTo>
                    <a:pt x="0" y="2001012"/>
                  </a:moveTo>
                  <a:lnTo>
                    <a:pt x="7691628" y="2001012"/>
                  </a:lnTo>
                  <a:lnTo>
                    <a:pt x="7691628" y="0"/>
                  </a:lnTo>
                  <a:lnTo>
                    <a:pt x="0" y="0"/>
                  </a:lnTo>
                  <a:lnTo>
                    <a:pt x="0" y="2001012"/>
                  </a:lnTo>
                  <a:close/>
                </a:path>
              </a:pathLst>
            </a:custGeom>
            <a:noFill/>
            <a:ln cap="flat" cmpd="sng" w="2857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00"/>
            </a:p>
          </p:txBody>
        </p:sp>
      </p:grpSp>
      <p:sp>
        <p:nvSpPr>
          <p:cNvPr id="250" name="Google Shape;250;p35"/>
          <p:cNvSpPr txBox="1"/>
          <p:nvPr>
            <p:ph type="title"/>
          </p:nvPr>
        </p:nvSpPr>
        <p:spPr>
          <a:xfrm>
            <a:off x="158039" y="78961"/>
            <a:ext cx="7938135" cy="12148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Spot Instances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36"/>
          <p:cNvSpPr txBox="1"/>
          <p:nvPr>
            <p:ph type="title"/>
          </p:nvPr>
        </p:nvSpPr>
        <p:spPr>
          <a:xfrm>
            <a:off x="158039" y="78961"/>
            <a:ext cx="7938135" cy="12148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Disk Optimization</a:t>
            </a:r>
            <a:endParaRPr/>
          </a:p>
        </p:txBody>
      </p:sp>
      <p:sp>
        <p:nvSpPr>
          <p:cNvPr id="256" name="Google Shape;256;p36"/>
          <p:cNvSpPr txBox="1"/>
          <p:nvPr/>
        </p:nvSpPr>
        <p:spPr>
          <a:xfrm>
            <a:off x="497966" y="1310639"/>
            <a:ext cx="6750844" cy="28998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050">
            <a:spAutoFit/>
          </a:bodyPr>
          <a:lstStyle/>
          <a:p>
            <a:pPr indent="-349250" lvl="0" marL="355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Char char="•"/>
            </a:pPr>
            <a:r>
              <a:rPr lang="en" sz="2100">
                <a:latin typeface="Arial"/>
                <a:ea typeface="Arial"/>
                <a:cs typeface="Arial"/>
                <a:sym typeface="Arial"/>
              </a:rPr>
              <a:t>Make sure to select the right disk for the machine</a:t>
            </a:r>
            <a:endParaRPr sz="2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2100"/>
              <a:buFont typeface="Arial"/>
              <a:buNone/>
            </a:pPr>
            <a:r>
              <a:t/>
            </a:r>
            <a:endParaRPr sz="2100">
              <a:latin typeface="Arial"/>
              <a:ea typeface="Arial"/>
              <a:cs typeface="Arial"/>
              <a:sym typeface="Arial"/>
            </a:endParaRPr>
          </a:p>
          <a:p>
            <a:pPr indent="-349250" lvl="0" marL="355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Char char="•"/>
            </a:pPr>
            <a:r>
              <a:rPr lang="en" sz="2100">
                <a:latin typeface="Arial"/>
                <a:ea typeface="Arial"/>
                <a:cs typeface="Arial"/>
                <a:sym typeface="Arial"/>
              </a:rPr>
              <a:t>Default is Premium SSD – the most expensive option</a:t>
            </a:r>
            <a:endParaRPr sz="2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2100"/>
              <a:buFont typeface="Arial"/>
              <a:buNone/>
            </a:pPr>
            <a:r>
              <a:t/>
            </a:r>
            <a:endParaRPr sz="2100">
              <a:latin typeface="Arial"/>
              <a:ea typeface="Arial"/>
              <a:cs typeface="Arial"/>
              <a:sym typeface="Arial"/>
            </a:endParaRPr>
          </a:p>
          <a:p>
            <a:pPr indent="-349250" lvl="0" marL="355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Char char="•"/>
            </a:pPr>
            <a:r>
              <a:rPr lang="en" sz="2100">
                <a:latin typeface="Arial"/>
                <a:ea typeface="Arial"/>
                <a:cs typeface="Arial"/>
                <a:sym typeface="Arial"/>
              </a:rPr>
              <a:t>Non IO-intensive machines can do with Standard SSD</a:t>
            </a:r>
            <a:endParaRPr sz="2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2100"/>
              <a:buFont typeface="Arial"/>
              <a:buNone/>
            </a:pPr>
            <a:r>
              <a:t/>
            </a:r>
            <a:endParaRPr sz="2100">
              <a:latin typeface="Arial"/>
              <a:ea typeface="Arial"/>
              <a:cs typeface="Arial"/>
              <a:sym typeface="Arial"/>
            </a:endParaRPr>
          </a:p>
          <a:p>
            <a:pPr indent="-349250" lvl="1" marL="6985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Char char="•"/>
            </a:pPr>
            <a:r>
              <a:rPr lang="en" sz="2100">
                <a:latin typeface="Arial"/>
                <a:ea typeface="Arial"/>
                <a:cs typeface="Arial"/>
                <a:sym typeface="Arial"/>
              </a:rPr>
              <a:t>ie. App servers, in-memory cache</a:t>
            </a:r>
            <a:endParaRPr sz="2100">
              <a:latin typeface="Arial"/>
              <a:ea typeface="Arial"/>
              <a:cs typeface="Arial"/>
              <a:sym typeface="Arial"/>
            </a:endParaRPr>
          </a:p>
          <a:p>
            <a:pPr indent="0" lvl="1" marL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2100"/>
              <a:buFont typeface="Arial"/>
              <a:buNone/>
            </a:pPr>
            <a:r>
              <a:t/>
            </a:r>
            <a:endParaRPr sz="2100">
              <a:latin typeface="Arial"/>
              <a:ea typeface="Arial"/>
              <a:cs typeface="Arial"/>
              <a:sym typeface="Arial"/>
            </a:endParaRPr>
          </a:p>
          <a:p>
            <a:pPr indent="-349250" lvl="0" marL="355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Char char="•"/>
            </a:pPr>
            <a:r>
              <a:rPr lang="en" sz="2100">
                <a:latin typeface="Arial"/>
                <a:ea typeface="Arial"/>
                <a:cs typeface="Arial"/>
                <a:sym typeface="Arial"/>
              </a:rPr>
              <a:t>Note: Disk type affects the SLA</a:t>
            </a:r>
            <a:endParaRPr sz="21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1" name="Google Shape;261;p37"/>
          <p:cNvGrpSpPr/>
          <p:nvPr/>
        </p:nvGrpSpPr>
        <p:grpSpPr>
          <a:xfrm>
            <a:off x="34266" y="1592061"/>
            <a:ext cx="7838741" cy="2701203"/>
            <a:chOff x="45688" y="2122748"/>
            <a:chExt cx="10451655" cy="3601604"/>
          </a:xfrm>
        </p:grpSpPr>
        <p:pic>
          <p:nvPicPr>
            <p:cNvPr id="262" name="Google Shape;262;p3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45688" y="2122748"/>
              <a:ext cx="10451655" cy="360160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63" name="Google Shape;263;p3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204216" y="2281427"/>
              <a:ext cx="9954768" cy="3104388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264" name="Google Shape;264;p3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000" y="814958"/>
            <a:ext cx="9021699" cy="145161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37"/>
          <p:cNvSpPr txBox="1"/>
          <p:nvPr>
            <p:ph type="title"/>
          </p:nvPr>
        </p:nvSpPr>
        <p:spPr>
          <a:xfrm>
            <a:off x="158039" y="78961"/>
            <a:ext cx="7938135" cy="12148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Disk Optimization</a:t>
            </a:r>
            <a:endParaRPr/>
          </a:p>
        </p:txBody>
      </p:sp>
      <p:sp>
        <p:nvSpPr>
          <p:cNvPr id="266" name="Google Shape;266;p37"/>
          <p:cNvSpPr/>
          <p:nvPr/>
        </p:nvSpPr>
        <p:spPr>
          <a:xfrm>
            <a:off x="274892" y="3371278"/>
            <a:ext cx="7233285" cy="600075"/>
          </a:xfrm>
          <a:custGeom>
            <a:rect b="b" l="l" r="r" t="t"/>
            <a:pathLst>
              <a:path extrusionOk="0" h="800100" w="9644380">
                <a:moveTo>
                  <a:pt x="0" y="800100"/>
                </a:moveTo>
                <a:lnTo>
                  <a:pt x="9643872" y="800100"/>
                </a:lnTo>
                <a:lnTo>
                  <a:pt x="9643872" y="0"/>
                </a:lnTo>
                <a:lnTo>
                  <a:pt x="0" y="0"/>
                </a:lnTo>
                <a:lnTo>
                  <a:pt x="0" y="800100"/>
                </a:lnTo>
                <a:close/>
              </a:path>
            </a:pathLst>
          </a:cu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38"/>
          <p:cNvSpPr txBox="1"/>
          <p:nvPr>
            <p:ph type="title"/>
          </p:nvPr>
        </p:nvSpPr>
        <p:spPr>
          <a:xfrm>
            <a:off x="158039" y="78961"/>
            <a:ext cx="7938135" cy="12148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More Cost Saving Techniques</a:t>
            </a:r>
            <a:endParaRPr/>
          </a:p>
        </p:txBody>
      </p:sp>
      <p:sp>
        <p:nvSpPr>
          <p:cNvPr id="272" name="Google Shape;272;p38"/>
          <p:cNvSpPr txBox="1"/>
          <p:nvPr/>
        </p:nvSpPr>
        <p:spPr>
          <a:xfrm>
            <a:off x="497966" y="1310639"/>
            <a:ext cx="5376863" cy="2259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050">
            <a:spAutoFit/>
          </a:bodyPr>
          <a:lstStyle/>
          <a:p>
            <a:pPr indent="-336550" lvl="0" marL="342900" marR="53340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Char char="•"/>
            </a:pPr>
            <a:r>
              <a:rPr lang="en" sz="2100">
                <a:latin typeface="Arial"/>
                <a:ea typeface="Arial"/>
                <a:cs typeface="Arial"/>
                <a:sym typeface="Arial"/>
              </a:rPr>
              <a:t>Select the right size for your machine</a:t>
            </a:r>
            <a:endParaRPr sz="2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2100"/>
              <a:buFont typeface="Arial"/>
              <a:buNone/>
            </a:pPr>
            <a:r>
              <a:t/>
            </a:r>
            <a:endParaRPr sz="2100">
              <a:latin typeface="Arial"/>
              <a:ea typeface="Arial"/>
              <a:cs typeface="Arial"/>
              <a:sym typeface="Arial"/>
            </a:endParaRPr>
          </a:p>
          <a:p>
            <a:pPr indent="-336550" lvl="1" marL="342900" marR="54610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Char char="•"/>
            </a:pPr>
            <a:r>
              <a:rPr lang="en" sz="2100">
                <a:latin typeface="Arial"/>
                <a:ea typeface="Arial"/>
                <a:cs typeface="Arial"/>
                <a:sym typeface="Arial"/>
              </a:rPr>
              <a:t>CPU shouldn’t rest, you pay for it</a:t>
            </a:r>
            <a:r>
              <a:rPr lang="en" sz="2100">
                <a:latin typeface="Noto Sans Symbols"/>
                <a:ea typeface="Noto Sans Symbols"/>
                <a:cs typeface="Noto Sans Symbols"/>
                <a:sym typeface="Noto Sans Symbols"/>
              </a:rPr>
              <a:t>☺</a:t>
            </a:r>
            <a:endParaRPr sz="2100"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indent="0" lvl="1" marL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2100"/>
              <a:buFont typeface="Arial"/>
              <a:buNone/>
            </a:pPr>
            <a:r>
              <a:t/>
            </a:r>
            <a:endParaRPr sz="2100"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indent="-349250" lvl="0" marL="355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Char char="•"/>
            </a:pPr>
            <a:r>
              <a:rPr lang="en" sz="2100">
                <a:latin typeface="Arial"/>
                <a:ea typeface="Arial"/>
                <a:cs typeface="Arial"/>
                <a:sym typeface="Arial"/>
              </a:rPr>
              <a:t>Select Linux over Windows when possible</a:t>
            </a:r>
            <a:endParaRPr sz="2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2100"/>
              <a:buFont typeface="Arial"/>
              <a:buNone/>
            </a:pPr>
            <a:r>
              <a:t/>
            </a:r>
            <a:endParaRPr sz="2100">
              <a:latin typeface="Arial"/>
              <a:ea typeface="Arial"/>
              <a:cs typeface="Arial"/>
              <a:sym typeface="Arial"/>
            </a:endParaRPr>
          </a:p>
          <a:p>
            <a:pPr indent="-349250" lvl="0" marL="355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Char char="•"/>
            </a:pPr>
            <a:r>
              <a:rPr lang="en" sz="2100">
                <a:latin typeface="Arial"/>
                <a:ea typeface="Arial"/>
                <a:cs typeface="Arial"/>
                <a:sym typeface="Arial"/>
              </a:rPr>
              <a:t>Check price in nearby regions</a:t>
            </a:r>
            <a:endParaRPr sz="21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7" name="Google Shape;277;p39"/>
          <p:cNvGrpSpPr/>
          <p:nvPr/>
        </p:nvGrpSpPr>
        <p:grpSpPr>
          <a:xfrm>
            <a:off x="548639" y="925825"/>
            <a:ext cx="7558659" cy="4184523"/>
            <a:chOff x="731519" y="1234434"/>
            <a:chExt cx="10078212" cy="5579364"/>
          </a:xfrm>
        </p:grpSpPr>
        <p:pic>
          <p:nvPicPr>
            <p:cNvPr id="278" name="Google Shape;278;p3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31519" y="1234434"/>
              <a:ext cx="10078212" cy="557936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79" name="Google Shape;279;p3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926592" y="1429511"/>
              <a:ext cx="9508236" cy="5009388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80" name="Google Shape;280;p39"/>
          <p:cNvSpPr txBox="1"/>
          <p:nvPr>
            <p:ph type="title"/>
          </p:nvPr>
        </p:nvSpPr>
        <p:spPr>
          <a:xfrm>
            <a:off x="158053" y="78950"/>
            <a:ext cx="5073900" cy="117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Availability of a VM</a:t>
            </a:r>
            <a:endParaRPr/>
          </a:p>
        </p:txBody>
      </p:sp>
      <p:sp>
        <p:nvSpPr>
          <p:cNvPr id="281" name="Google Shape;281;p39"/>
          <p:cNvSpPr txBox="1"/>
          <p:nvPr/>
        </p:nvSpPr>
        <p:spPr>
          <a:xfrm>
            <a:off x="1646492" y="4885258"/>
            <a:ext cx="4623911" cy="1795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Calibri"/>
                <a:ea typeface="Calibri"/>
                <a:cs typeface="Calibri"/>
                <a:sym typeface="Calibri"/>
              </a:rPr>
              <a:t>Source: </a:t>
            </a:r>
            <a:r>
              <a:rPr lang="en" sz="11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5"/>
              </a:rPr>
              <a:t>https://azure.microsoft.com/en-us/support/legal/sla/virtual-machines/v1_9/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82" name="Google Shape;282;p39"/>
          <p:cNvGrpSpPr/>
          <p:nvPr/>
        </p:nvGrpSpPr>
        <p:grpSpPr>
          <a:xfrm>
            <a:off x="952690" y="1897951"/>
            <a:ext cx="6240780" cy="2668143"/>
            <a:chOff x="1270253" y="2530601"/>
            <a:chExt cx="8321040" cy="3557524"/>
          </a:xfrm>
        </p:grpSpPr>
        <p:sp>
          <p:nvSpPr>
            <p:cNvPr id="283" name="Google Shape;283;p39"/>
            <p:cNvSpPr/>
            <p:nvPr/>
          </p:nvSpPr>
          <p:spPr>
            <a:xfrm>
              <a:off x="7792973" y="2530601"/>
              <a:ext cx="1798320" cy="579120"/>
            </a:xfrm>
            <a:custGeom>
              <a:rect b="b" l="l" r="r" t="t"/>
              <a:pathLst>
                <a:path extrusionOk="0" h="579119" w="1798320">
                  <a:moveTo>
                    <a:pt x="0" y="304800"/>
                  </a:moveTo>
                  <a:lnTo>
                    <a:pt x="1362455" y="304800"/>
                  </a:lnTo>
                  <a:lnTo>
                    <a:pt x="1362455" y="0"/>
                  </a:lnTo>
                  <a:lnTo>
                    <a:pt x="0" y="0"/>
                  </a:lnTo>
                  <a:lnTo>
                    <a:pt x="0" y="304800"/>
                  </a:lnTo>
                  <a:close/>
                </a:path>
                <a:path extrusionOk="0" h="579119" w="1798320">
                  <a:moveTo>
                    <a:pt x="609600" y="579120"/>
                  </a:moveTo>
                  <a:lnTo>
                    <a:pt x="1798320" y="579120"/>
                  </a:lnTo>
                  <a:lnTo>
                    <a:pt x="1798320" y="274320"/>
                  </a:lnTo>
                  <a:lnTo>
                    <a:pt x="609600" y="274320"/>
                  </a:lnTo>
                  <a:lnTo>
                    <a:pt x="609600" y="579120"/>
                  </a:lnTo>
                  <a:close/>
                </a:path>
              </a:pathLst>
            </a:custGeom>
            <a:noFill/>
            <a:ln cap="flat" cmpd="sng" w="28575">
              <a:solidFill>
                <a:srgbClr val="6FAC4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00"/>
            </a:p>
          </p:txBody>
        </p:sp>
        <p:sp>
          <p:nvSpPr>
            <p:cNvPr id="284" name="Google Shape;284;p39"/>
            <p:cNvSpPr/>
            <p:nvPr/>
          </p:nvSpPr>
          <p:spPr>
            <a:xfrm>
              <a:off x="1270253" y="3464813"/>
              <a:ext cx="7123430" cy="772795"/>
            </a:xfrm>
            <a:custGeom>
              <a:rect b="b" l="l" r="r" t="t"/>
              <a:pathLst>
                <a:path extrusionOk="0" h="772795" w="7123430">
                  <a:moveTo>
                    <a:pt x="5934456" y="274319"/>
                  </a:moveTo>
                  <a:lnTo>
                    <a:pt x="7123176" y="274319"/>
                  </a:lnTo>
                  <a:lnTo>
                    <a:pt x="7123176" y="0"/>
                  </a:lnTo>
                  <a:lnTo>
                    <a:pt x="5934456" y="0"/>
                  </a:lnTo>
                  <a:lnTo>
                    <a:pt x="5934456" y="274319"/>
                  </a:lnTo>
                  <a:close/>
                </a:path>
                <a:path extrusionOk="0" h="772795" w="7123430">
                  <a:moveTo>
                    <a:pt x="0" y="772668"/>
                  </a:moveTo>
                  <a:lnTo>
                    <a:pt x="630935" y="772668"/>
                  </a:lnTo>
                  <a:lnTo>
                    <a:pt x="630935" y="457200"/>
                  </a:lnTo>
                  <a:lnTo>
                    <a:pt x="0" y="457200"/>
                  </a:lnTo>
                  <a:lnTo>
                    <a:pt x="0" y="772668"/>
                  </a:lnTo>
                  <a:close/>
                </a:path>
              </a:pathLst>
            </a:custGeom>
            <a:noFill/>
            <a:ln cap="flat" cmpd="sng" w="28575">
              <a:solidFill>
                <a:srgbClr val="5B9BD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00"/>
            </a:p>
          </p:txBody>
        </p:sp>
        <p:sp>
          <p:nvSpPr>
            <p:cNvPr id="285" name="Google Shape;285;p39"/>
            <p:cNvSpPr/>
            <p:nvPr/>
          </p:nvSpPr>
          <p:spPr>
            <a:xfrm>
              <a:off x="1908809" y="4342637"/>
              <a:ext cx="5474335" cy="485140"/>
            </a:xfrm>
            <a:custGeom>
              <a:rect b="b" l="l" r="r" t="t"/>
              <a:pathLst>
                <a:path extrusionOk="0" h="485139" w="5474334">
                  <a:moveTo>
                    <a:pt x="0" y="256031"/>
                  </a:moveTo>
                  <a:lnTo>
                    <a:pt x="3912108" y="256031"/>
                  </a:lnTo>
                  <a:lnTo>
                    <a:pt x="3912108" y="0"/>
                  </a:lnTo>
                  <a:lnTo>
                    <a:pt x="0" y="0"/>
                  </a:lnTo>
                  <a:lnTo>
                    <a:pt x="0" y="256031"/>
                  </a:lnTo>
                  <a:close/>
                </a:path>
                <a:path extrusionOk="0" h="485139" w="5474334">
                  <a:moveTo>
                    <a:pt x="4357116" y="484631"/>
                  </a:moveTo>
                  <a:lnTo>
                    <a:pt x="5474208" y="484631"/>
                  </a:lnTo>
                  <a:lnTo>
                    <a:pt x="5474208" y="275844"/>
                  </a:lnTo>
                  <a:lnTo>
                    <a:pt x="4357116" y="275844"/>
                  </a:lnTo>
                  <a:lnTo>
                    <a:pt x="4357116" y="484631"/>
                  </a:lnTo>
                  <a:close/>
                </a:path>
              </a:pathLst>
            </a:custGeom>
            <a:noFill/>
            <a:ln cap="flat" cmpd="sng" w="28575">
              <a:solidFill>
                <a:srgbClr val="6F2F9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00"/>
            </a:p>
          </p:txBody>
        </p:sp>
        <p:sp>
          <p:nvSpPr>
            <p:cNvPr id="286" name="Google Shape;286;p39"/>
            <p:cNvSpPr/>
            <p:nvPr/>
          </p:nvSpPr>
          <p:spPr>
            <a:xfrm>
              <a:off x="1892045" y="4969001"/>
              <a:ext cx="5474335" cy="485140"/>
            </a:xfrm>
            <a:custGeom>
              <a:rect b="b" l="l" r="r" t="t"/>
              <a:pathLst>
                <a:path extrusionOk="0" h="485139" w="5474334">
                  <a:moveTo>
                    <a:pt x="0" y="256031"/>
                  </a:moveTo>
                  <a:lnTo>
                    <a:pt x="3912107" y="256031"/>
                  </a:lnTo>
                  <a:lnTo>
                    <a:pt x="3912107" y="0"/>
                  </a:lnTo>
                  <a:lnTo>
                    <a:pt x="0" y="0"/>
                  </a:lnTo>
                  <a:lnTo>
                    <a:pt x="0" y="256031"/>
                  </a:lnTo>
                  <a:close/>
                </a:path>
                <a:path extrusionOk="0" h="485139" w="5474334">
                  <a:moveTo>
                    <a:pt x="4357116" y="484632"/>
                  </a:moveTo>
                  <a:lnTo>
                    <a:pt x="5474208" y="484632"/>
                  </a:lnTo>
                  <a:lnTo>
                    <a:pt x="5474208" y="275844"/>
                  </a:lnTo>
                  <a:lnTo>
                    <a:pt x="4357116" y="275844"/>
                  </a:lnTo>
                  <a:lnTo>
                    <a:pt x="4357116" y="484632"/>
                  </a:lnTo>
                  <a:close/>
                </a:path>
              </a:pathLst>
            </a:custGeom>
            <a:noFill/>
            <a:ln cap="flat" cmpd="sng" w="28575">
              <a:solidFill>
                <a:srgbClr val="C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00"/>
            </a:p>
          </p:txBody>
        </p:sp>
        <p:sp>
          <p:nvSpPr>
            <p:cNvPr id="287" name="Google Shape;287;p39"/>
            <p:cNvSpPr/>
            <p:nvPr/>
          </p:nvSpPr>
          <p:spPr>
            <a:xfrm>
              <a:off x="1892045" y="5602985"/>
              <a:ext cx="5390515" cy="485140"/>
            </a:xfrm>
            <a:custGeom>
              <a:rect b="b" l="l" r="r" t="t"/>
              <a:pathLst>
                <a:path extrusionOk="0" h="485139" w="5390515">
                  <a:moveTo>
                    <a:pt x="0" y="256031"/>
                  </a:moveTo>
                  <a:lnTo>
                    <a:pt x="3985259" y="256031"/>
                  </a:lnTo>
                  <a:lnTo>
                    <a:pt x="3985259" y="0"/>
                  </a:lnTo>
                  <a:lnTo>
                    <a:pt x="0" y="0"/>
                  </a:lnTo>
                  <a:lnTo>
                    <a:pt x="0" y="256031"/>
                  </a:lnTo>
                  <a:close/>
                </a:path>
                <a:path extrusionOk="0" h="485139" w="5390515">
                  <a:moveTo>
                    <a:pt x="4357116" y="484631"/>
                  </a:moveTo>
                  <a:lnTo>
                    <a:pt x="5390387" y="484631"/>
                  </a:lnTo>
                  <a:lnTo>
                    <a:pt x="5390387" y="277368"/>
                  </a:lnTo>
                  <a:lnTo>
                    <a:pt x="4357116" y="277368"/>
                  </a:lnTo>
                  <a:lnTo>
                    <a:pt x="4357116" y="484631"/>
                  </a:lnTo>
                  <a:close/>
                </a:path>
              </a:pathLst>
            </a:custGeom>
            <a:noFill/>
            <a:ln cap="flat" cmpd="sng" w="2857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00"/>
            </a:p>
          </p:txBody>
        </p:sp>
      </p:grpSp>
      <p:graphicFrame>
        <p:nvGraphicFramePr>
          <p:cNvPr id="288" name="Google Shape;288;p39"/>
          <p:cNvGraphicFramePr/>
          <p:nvPr/>
        </p:nvGraphicFramePr>
        <p:xfrm>
          <a:off x="5340381" y="9982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{D0DB2865-2146-4867-8C3A-9EC84B4651C1}</a:tableStyleId>
              </a:tblPr>
              <a:tblGrid>
                <a:gridCol w="1026775"/>
                <a:gridCol w="2014050"/>
              </a:tblGrid>
              <a:tr h="277650">
                <a:tc>
                  <a:txBody>
                    <a:bodyPr/>
                    <a:lstStyle/>
                    <a:p>
                      <a:pPr indent="0" lvl="0" marL="635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SLA (%)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380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471C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635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Yearly Downtime Allowed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380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471C4"/>
                    </a:solidFill>
                  </a:tcPr>
                </a:tc>
              </a:tr>
              <a:tr h="277650">
                <a:tc>
                  <a:txBody>
                    <a:bodyPr/>
                    <a:lstStyle/>
                    <a:p>
                      <a:pPr indent="0" lvl="0" marL="635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u="none" cap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95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380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635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u="none" cap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18d 6h 17m 27s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380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D4EA"/>
                    </a:solidFill>
                  </a:tcPr>
                </a:tc>
              </a:tr>
              <a:tr h="277650">
                <a:tc>
                  <a:txBody>
                    <a:bodyPr/>
                    <a:lstStyle/>
                    <a:p>
                      <a:pPr indent="0" lvl="0" marL="635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u="none" cap="none" strike="noStrike">
                          <a:solidFill>
                            <a:srgbClr val="C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99.5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635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u="none" cap="none" strike="noStrike">
                          <a:solidFill>
                            <a:srgbClr val="C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1d 19h 49m 44s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BF5"/>
                    </a:solidFill>
                  </a:tcPr>
                </a:tc>
              </a:tr>
              <a:tr h="277650">
                <a:tc>
                  <a:txBody>
                    <a:bodyPr/>
                    <a:lstStyle/>
                    <a:p>
                      <a:pPr indent="0" lvl="0" marL="635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u="none" cap="none" strike="noStrike">
                          <a:solidFill>
                            <a:srgbClr val="6F2F9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99.9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635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u="none" cap="none" strike="noStrike">
                          <a:solidFill>
                            <a:srgbClr val="6F2F9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8h 45m 56s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D4EA"/>
                    </a:solidFill>
                  </a:tcPr>
                </a:tc>
              </a:tr>
              <a:tr h="278125">
                <a:tc>
                  <a:txBody>
                    <a:bodyPr/>
                    <a:lstStyle/>
                    <a:p>
                      <a:pPr indent="0" lvl="0" marL="635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u="none" cap="none" strike="noStrike">
                          <a:solidFill>
                            <a:srgbClr val="5B9BD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99.95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635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u="none" cap="none" strike="noStrike">
                          <a:solidFill>
                            <a:srgbClr val="5B9BD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4h 22m 44s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BF5"/>
                    </a:solidFill>
                  </a:tcPr>
                </a:tc>
              </a:tr>
              <a:tr h="277650">
                <a:tc>
                  <a:txBody>
                    <a:bodyPr/>
                    <a:lstStyle/>
                    <a:p>
                      <a:pPr indent="0" lvl="0" marL="635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u="none" cap="none" strike="noStrike">
                          <a:solidFill>
                            <a:srgbClr val="6FAC4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99.99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635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u="none" cap="none" strike="noStrike">
                          <a:solidFill>
                            <a:srgbClr val="6FAC4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52m 35s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D4E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40"/>
          <p:cNvSpPr txBox="1"/>
          <p:nvPr>
            <p:ph type="title"/>
          </p:nvPr>
        </p:nvSpPr>
        <p:spPr>
          <a:xfrm>
            <a:off x="158039" y="78961"/>
            <a:ext cx="7938135" cy="12148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Availability Concepts in Azure</a:t>
            </a:r>
            <a:endParaRPr/>
          </a:p>
        </p:txBody>
      </p:sp>
      <p:sp>
        <p:nvSpPr>
          <p:cNvPr id="294" name="Google Shape;294;p40"/>
          <p:cNvSpPr txBox="1"/>
          <p:nvPr/>
        </p:nvSpPr>
        <p:spPr>
          <a:xfrm>
            <a:off x="3251834" y="1604771"/>
            <a:ext cx="2533174" cy="548640"/>
          </a:xfrm>
          <a:prstGeom prst="rect">
            <a:avLst/>
          </a:prstGeom>
          <a:solidFill>
            <a:srgbClr val="6F2F9F"/>
          </a:solidFill>
          <a:ln cap="flat" cmpd="sng" w="12700">
            <a:solidFill>
              <a:srgbClr val="2E52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124300">
            <a:spAutoFit/>
          </a:bodyPr>
          <a:lstStyle/>
          <a:p>
            <a:pPr indent="0" lvl="0" marL="533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Fault Domain</a:t>
            </a:r>
            <a:endParaRPr sz="2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" name="Google Shape;295;p40"/>
          <p:cNvSpPr txBox="1"/>
          <p:nvPr/>
        </p:nvSpPr>
        <p:spPr>
          <a:xfrm>
            <a:off x="3251834" y="2339720"/>
            <a:ext cx="2533174" cy="548640"/>
          </a:xfrm>
          <a:prstGeom prst="rect">
            <a:avLst/>
          </a:prstGeom>
          <a:solidFill>
            <a:srgbClr val="6F2F9F"/>
          </a:solidFill>
          <a:ln cap="flat" cmpd="sng" w="12700">
            <a:solidFill>
              <a:srgbClr val="2E52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124775">
            <a:spAutoFit/>
          </a:bodyPr>
          <a:lstStyle/>
          <a:p>
            <a:pPr indent="0" lvl="0" marL="419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Update Domain</a:t>
            </a:r>
            <a:endParaRPr sz="2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" name="Google Shape;296;p40"/>
          <p:cNvSpPr txBox="1"/>
          <p:nvPr/>
        </p:nvSpPr>
        <p:spPr>
          <a:xfrm>
            <a:off x="3251834" y="3074669"/>
            <a:ext cx="2533174" cy="548640"/>
          </a:xfrm>
          <a:prstGeom prst="rect">
            <a:avLst/>
          </a:prstGeom>
          <a:solidFill>
            <a:srgbClr val="6F2F9F"/>
          </a:solidFill>
          <a:ln cap="flat" cmpd="sng" w="12700">
            <a:solidFill>
              <a:srgbClr val="2E52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124775">
            <a:spAutoFit/>
          </a:bodyPr>
          <a:lstStyle/>
          <a:p>
            <a:pPr indent="0" lvl="0" marL="4445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Availability Set</a:t>
            </a:r>
            <a:endParaRPr sz="2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7" name="Google Shape;297;p40"/>
          <p:cNvSpPr txBox="1"/>
          <p:nvPr/>
        </p:nvSpPr>
        <p:spPr>
          <a:xfrm>
            <a:off x="3251834" y="3809618"/>
            <a:ext cx="2533174" cy="548640"/>
          </a:xfrm>
          <a:prstGeom prst="rect">
            <a:avLst/>
          </a:prstGeom>
          <a:solidFill>
            <a:srgbClr val="6F2F9F"/>
          </a:solidFill>
          <a:ln cap="flat" cmpd="sng" w="12700">
            <a:solidFill>
              <a:srgbClr val="2E52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124775">
            <a:spAutoFit/>
          </a:bodyPr>
          <a:lstStyle/>
          <a:p>
            <a:pPr indent="0" lvl="0" marL="355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Availability Zone</a:t>
            </a:r>
            <a:endParaRPr sz="20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41"/>
          <p:cNvSpPr txBox="1"/>
          <p:nvPr>
            <p:ph type="title"/>
          </p:nvPr>
        </p:nvSpPr>
        <p:spPr>
          <a:xfrm>
            <a:off x="158039" y="78961"/>
            <a:ext cx="7938135" cy="12148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Fault Domain</a:t>
            </a:r>
            <a:endParaRPr/>
          </a:p>
        </p:txBody>
      </p:sp>
      <p:sp>
        <p:nvSpPr>
          <p:cNvPr id="303" name="Google Shape;303;p41"/>
          <p:cNvSpPr txBox="1"/>
          <p:nvPr/>
        </p:nvSpPr>
        <p:spPr>
          <a:xfrm>
            <a:off x="497966" y="1310639"/>
            <a:ext cx="8001953" cy="1619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050">
            <a:spAutoFit/>
          </a:bodyPr>
          <a:lstStyle/>
          <a:p>
            <a:pPr indent="-349250" lvl="0" marL="355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Char char="•"/>
            </a:pPr>
            <a:r>
              <a:rPr lang="en" sz="2100">
                <a:latin typeface="Arial"/>
                <a:ea typeface="Arial"/>
                <a:cs typeface="Arial"/>
                <a:sym typeface="Arial"/>
              </a:rPr>
              <a:t>Logical group of physical hardware that share a common power</a:t>
            </a:r>
            <a:endParaRPr sz="2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2100"/>
              <a:buFont typeface="Arial"/>
              <a:buNone/>
            </a:pPr>
            <a:r>
              <a:t/>
            </a:r>
            <a:endParaRPr sz="2100">
              <a:latin typeface="Arial"/>
              <a:ea typeface="Arial"/>
              <a:cs typeface="Arial"/>
              <a:sym typeface="Arial"/>
            </a:endParaRPr>
          </a:p>
          <a:p>
            <a:pPr indent="0" lvl="0" marL="355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latin typeface="Arial"/>
                <a:ea typeface="Arial"/>
                <a:cs typeface="Arial"/>
                <a:sym typeface="Arial"/>
              </a:rPr>
              <a:t>source and network switch</a:t>
            </a:r>
            <a:endParaRPr sz="2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Arial"/>
              <a:ea typeface="Arial"/>
              <a:cs typeface="Arial"/>
              <a:sym typeface="Arial"/>
            </a:endParaRPr>
          </a:p>
          <a:p>
            <a:pPr indent="-349250" lvl="0" marL="355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Char char="•"/>
            </a:pPr>
            <a:r>
              <a:rPr lang="en" sz="2100">
                <a:latin typeface="Arial"/>
                <a:ea typeface="Arial"/>
                <a:cs typeface="Arial"/>
                <a:sym typeface="Arial"/>
              </a:rPr>
              <a:t>Similar to rack in a traditional data center</a:t>
            </a:r>
            <a:endParaRPr sz="21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42"/>
          <p:cNvSpPr txBox="1"/>
          <p:nvPr>
            <p:ph type="title"/>
          </p:nvPr>
        </p:nvSpPr>
        <p:spPr>
          <a:xfrm>
            <a:off x="158039" y="78961"/>
            <a:ext cx="7938135" cy="12148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Fault Domain</a:t>
            </a:r>
            <a:endParaRPr/>
          </a:p>
        </p:txBody>
      </p:sp>
      <p:pic>
        <p:nvPicPr>
          <p:cNvPr id="309" name="Google Shape;309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274438"/>
            <a:ext cx="3150698" cy="3869059"/>
          </a:xfrm>
          <a:prstGeom prst="rect">
            <a:avLst/>
          </a:prstGeom>
          <a:noFill/>
          <a:ln>
            <a:noFill/>
          </a:ln>
        </p:spPr>
      </p:pic>
      <p:sp>
        <p:nvSpPr>
          <p:cNvPr id="310" name="Google Shape;310;p42"/>
          <p:cNvSpPr txBox="1"/>
          <p:nvPr/>
        </p:nvSpPr>
        <p:spPr>
          <a:xfrm>
            <a:off x="2882265" y="1310639"/>
            <a:ext cx="5954078" cy="9791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If there’s a problem with the power or networking</a:t>
            </a:r>
            <a:endParaRPr sz="2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Arial"/>
              <a:ea typeface="Arial"/>
              <a:cs typeface="Arial"/>
              <a:sym typeface="Arial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in the domain (=rack) – all servers in it shut down</a:t>
            </a:r>
            <a:endParaRPr sz="21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1" name="Google Shape;311;p42"/>
          <p:cNvSpPr txBox="1"/>
          <p:nvPr/>
        </p:nvSpPr>
        <p:spPr>
          <a:xfrm>
            <a:off x="2903505" y="3093682"/>
            <a:ext cx="5717857" cy="9796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rgbClr val="538235"/>
                </a:solidFill>
                <a:latin typeface="Arial"/>
                <a:ea typeface="Arial"/>
                <a:cs typeface="Arial"/>
                <a:sym typeface="Arial"/>
              </a:rPr>
              <a:t>You want to make sure your servers are spread</a:t>
            </a:r>
            <a:endParaRPr sz="2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Arial"/>
              <a:ea typeface="Arial"/>
              <a:cs typeface="Arial"/>
              <a:sym typeface="Arial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rgbClr val="538235"/>
                </a:solidFill>
                <a:latin typeface="Arial"/>
                <a:ea typeface="Arial"/>
                <a:cs typeface="Arial"/>
                <a:sym typeface="Arial"/>
              </a:rPr>
              <a:t>across more than one fault domain (=rack)</a:t>
            </a:r>
            <a:endParaRPr sz="21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2" name="Google Shape;312;p42"/>
          <p:cNvSpPr/>
          <p:nvPr/>
        </p:nvSpPr>
        <p:spPr>
          <a:xfrm>
            <a:off x="5647562" y="2471166"/>
            <a:ext cx="171450" cy="488633"/>
          </a:xfrm>
          <a:custGeom>
            <a:rect b="b" l="l" r="r" t="t"/>
            <a:pathLst>
              <a:path extrusionOk="0" h="651510" w="228600">
                <a:moveTo>
                  <a:pt x="76200" y="422656"/>
                </a:moveTo>
                <a:lnTo>
                  <a:pt x="0" y="422656"/>
                </a:lnTo>
                <a:lnTo>
                  <a:pt x="114300" y="651256"/>
                </a:lnTo>
                <a:lnTo>
                  <a:pt x="209550" y="460756"/>
                </a:lnTo>
                <a:lnTo>
                  <a:pt x="76200" y="460756"/>
                </a:lnTo>
                <a:lnTo>
                  <a:pt x="76200" y="422656"/>
                </a:lnTo>
                <a:close/>
              </a:path>
              <a:path extrusionOk="0" h="651510" w="228600">
                <a:moveTo>
                  <a:pt x="152400" y="0"/>
                </a:moveTo>
                <a:lnTo>
                  <a:pt x="76200" y="0"/>
                </a:lnTo>
                <a:lnTo>
                  <a:pt x="76200" y="460756"/>
                </a:lnTo>
                <a:lnTo>
                  <a:pt x="152400" y="460756"/>
                </a:lnTo>
                <a:lnTo>
                  <a:pt x="152400" y="0"/>
                </a:lnTo>
                <a:close/>
              </a:path>
              <a:path extrusionOk="0" h="651510" w="228600">
                <a:moveTo>
                  <a:pt x="228600" y="422656"/>
                </a:moveTo>
                <a:lnTo>
                  <a:pt x="152400" y="422656"/>
                </a:lnTo>
                <a:lnTo>
                  <a:pt x="152400" y="460756"/>
                </a:lnTo>
                <a:lnTo>
                  <a:pt x="209550" y="460756"/>
                </a:lnTo>
                <a:lnTo>
                  <a:pt x="228600" y="422656"/>
                </a:lnTo>
                <a:close/>
              </a:path>
            </a:pathLst>
          </a:custGeom>
          <a:solidFill>
            <a:srgbClr val="538235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43"/>
          <p:cNvSpPr txBox="1"/>
          <p:nvPr>
            <p:ph type="title"/>
          </p:nvPr>
        </p:nvSpPr>
        <p:spPr>
          <a:xfrm>
            <a:off x="158039" y="78961"/>
            <a:ext cx="7938135" cy="12148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Update Domain</a:t>
            </a:r>
            <a:endParaRPr/>
          </a:p>
        </p:txBody>
      </p:sp>
      <p:sp>
        <p:nvSpPr>
          <p:cNvPr id="318" name="Google Shape;318;p43"/>
          <p:cNvSpPr txBox="1"/>
          <p:nvPr/>
        </p:nvSpPr>
        <p:spPr>
          <a:xfrm>
            <a:off x="497966" y="1310639"/>
            <a:ext cx="8261509" cy="1619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050">
            <a:spAutoFit/>
          </a:bodyPr>
          <a:lstStyle/>
          <a:p>
            <a:pPr indent="-349250" lvl="0" marL="355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Char char="•"/>
            </a:pPr>
            <a:r>
              <a:rPr lang="en" sz="2100">
                <a:latin typeface="Arial"/>
                <a:ea typeface="Arial"/>
                <a:cs typeface="Arial"/>
                <a:sym typeface="Arial"/>
              </a:rPr>
              <a:t>Logical group of physical hardware that can undergo maintenance</a:t>
            </a:r>
            <a:endParaRPr sz="2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2100"/>
              <a:buFont typeface="Arial"/>
              <a:buNone/>
            </a:pPr>
            <a:r>
              <a:t/>
            </a:r>
            <a:endParaRPr sz="2100">
              <a:latin typeface="Arial"/>
              <a:ea typeface="Arial"/>
              <a:cs typeface="Arial"/>
              <a:sym typeface="Arial"/>
            </a:endParaRPr>
          </a:p>
          <a:p>
            <a:pPr indent="0" lvl="0" marL="355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latin typeface="Arial"/>
                <a:ea typeface="Arial"/>
                <a:cs typeface="Arial"/>
                <a:sym typeface="Arial"/>
              </a:rPr>
              <a:t>and be rebooted at the same time</a:t>
            </a:r>
            <a:endParaRPr sz="2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Arial"/>
              <a:ea typeface="Arial"/>
              <a:cs typeface="Arial"/>
              <a:sym typeface="Arial"/>
            </a:endParaRPr>
          </a:p>
          <a:p>
            <a:pPr indent="-349250" lvl="0" marL="355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Char char="•"/>
            </a:pPr>
            <a:r>
              <a:rPr lang="en" sz="2100">
                <a:latin typeface="Arial"/>
                <a:ea typeface="Arial"/>
                <a:cs typeface="Arial"/>
                <a:sym typeface="Arial"/>
              </a:rPr>
              <a:t>Maintenance is done by Azure at its own discretion</a:t>
            </a:r>
            <a:endParaRPr sz="21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44"/>
          <p:cNvSpPr txBox="1"/>
          <p:nvPr>
            <p:ph type="title"/>
          </p:nvPr>
        </p:nvSpPr>
        <p:spPr>
          <a:xfrm>
            <a:off x="158039" y="78961"/>
            <a:ext cx="7938135" cy="12148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Update Domain</a:t>
            </a:r>
            <a:endParaRPr/>
          </a:p>
        </p:txBody>
      </p:sp>
      <p:sp>
        <p:nvSpPr>
          <p:cNvPr id="324" name="Google Shape;324;p44"/>
          <p:cNvSpPr txBox="1"/>
          <p:nvPr/>
        </p:nvSpPr>
        <p:spPr>
          <a:xfrm>
            <a:off x="1805558" y="1310639"/>
            <a:ext cx="6128385" cy="9791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If all your servers are in the same update domain –</a:t>
            </a:r>
            <a:endParaRPr sz="2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Arial"/>
              <a:ea typeface="Arial"/>
              <a:cs typeface="Arial"/>
              <a:sym typeface="Arial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they’ll reboot at the same time during maintenance</a:t>
            </a:r>
            <a:endParaRPr sz="21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5" name="Google Shape;325;p44"/>
          <p:cNvSpPr txBox="1"/>
          <p:nvPr/>
        </p:nvSpPr>
        <p:spPr>
          <a:xfrm>
            <a:off x="1826799" y="3093682"/>
            <a:ext cx="5717857" cy="9796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rgbClr val="538235"/>
                </a:solidFill>
                <a:latin typeface="Arial"/>
                <a:ea typeface="Arial"/>
                <a:cs typeface="Arial"/>
                <a:sym typeface="Arial"/>
              </a:rPr>
              <a:t>You want to make sure your servers are spread</a:t>
            </a:r>
            <a:endParaRPr sz="2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Arial"/>
              <a:ea typeface="Arial"/>
              <a:cs typeface="Arial"/>
              <a:sym typeface="Arial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rgbClr val="538235"/>
                </a:solidFill>
                <a:latin typeface="Arial"/>
                <a:ea typeface="Arial"/>
                <a:cs typeface="Arial"/>
                <a:sym typeface="Arial"/>
              </a:rPr>
              <a:t>across more than one update domain</a:t>
            </a:r>
            <a:endParaRPr sz="21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6" name="Google Shape;326;p44"/>
          <p:cNvSpPr/>
          <p:nvPr/>
        </p:nvSpPr>
        <p:spPr>
          <a:xfrm>
            <a:off x="4570857" y="2471166"/>
            <a:ext cx="171450" cy="488633"/>
          </a:xfrm>
          <a:custGeom>
            <a:rect b="b" l="l" r="r" t="t"/>
            <a:pathLst>
              <a:path extrusionOk="0" h="651510" w="228600">
                <a:moveTo>
                  <a:pt x="76200" y="422656"/>
                </a:moveTo>
                <a:lnTo>
                  <a:pt x="0" y="422656"/>
                </a:lnTo>
                <a:lnTo>
                  <a:pt x="114300" y="651256"/>
                </a:lnTo>
                <a:lnTo>
                  <a:pt x="209550" y="460756"/>
                </a:lnTo>
                <a:lnTo>
                  <a:pt x="76200" y="460756"/>
                </a:lnTo>
                <a:lnTo>
                  <a:pt x="76200" y="422656"/>
                </a:lnTo>
                <a:close/>
              </a:path>
              <a:path extrusionOk="0" h="651510" w="228600">
                <a:moveTo>
                  <a:pt x="152400" y="0"/>
                </a:moveTo>
                <a:lnTo>
                  <a:pt x="76200" y="0"/>
                </a:lnTo>
                <a:lnTo>
                  <a:pt x="76200" y="460756"/>
                </a:lnTo>
                <a:lnTo>
                  <a:pt x="152400" y="460756"/>
                </a:lnTo>
                <a:lnTo>
                  <a:pt x="152400" y="0"/>
                </a:lnTo>
                <a:close/>
              </a:path>
              <a:path extrusionOk="0" h="651510" w="228600">
                <a:moveTo>
                  <a:pt x="228600" y="422656"/>
                </a:moveTo>
                <a:lnTo>
                  <a:pt x="152400" y="422656"/>
                </a:lnTo>
                <a:lnTo>
                  <a:pt x="152400" y="460756"/>
                </a:lnTo>
                <a:lnTo>
                  <a:pt x="209550" y="460756"/>
                </a:lnTo>
                <a:lnTo>
                  <a:pt x="228600" y="422656"/>
                </a:lnTo>
                <a:close/>
              </a:path>
            </a:pathLst>
          </a:custGeom>
          <a:solidFill>
            <a:srgbClr val="538235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45"/>
          <p:cNvSpPr txBox="1"/>
          <p:nvPr>
            <p:ph type="title"/>
          </p:nvPr>
        </p:nvSpPr>
        <p:spPr>
          <a:xfrm>
            <a:off x="158038" y="78961"/>
            <a:ext cx="3183731" cy="5910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Availability Set</a:t>
            </a:r>
            <a:endParaRPr/>
          </a:p>
        </p:txBody>
      </p:sp>
      <p:sp>
        <p:nvSpPr>
          <p:cNvPr id="332" name="Google Shape;332;p45"/>
          <p:cNvSpPr txBox="1"/>
          <p:nvPr/>
        </p:nvSpPr>
        <p:spPr>
          <a:xfrm>
            <a:off x="497966" y="1310639"/>
            <a:ext cx="8422005" cy="2259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050">
            <a:spAutoFit/>
          </a:bodyPr>
          <a:lstStyle/>
          <a:p>
            <a:pPr indent="-349250" lvl="0" marL="355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Char char="•"/>
            </a:pPr>
            <a:r>
              <a:rPr lang="en" sz="2100">
                <a:latin typeface="Arial"/>
                <a:ea typeface="Arial"/>
                <a:cs typeface="Arial"/>
                <a:sym typeface="Arial"/>
              </a:rPr>
              <a:t>A collection of Fault Domains and Update Domains your VMs will be</a:t>
            </a:r>
            <a:endParaRPr sz="2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2100"/>
              <a:buFont typeface="Arial"/>
              <a:buNone/>
            </a:pPr>
            <a:r>
              <a:t/>
            </a:r>
            <a:endParaRPr sz="2100">
              <a:latin typeface="Arial"/>
              <a:ea typeface="Arial"/>
              <a:cs typeface="Arial"/>
              <a:sym typeface="Arial"/>
            </a:endParaRPr>
          </a:p>
          <a:p>
            <a:pPr indent="0" lvl="0" marL="355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latin typeface="Arial"/>
                <a:ea typeface="Arial"/>
                <a:cs typeface="Arial"/>
                <a:sym typeface="Arial"/>
              </a:rPr>
              <a:t>spread across</a:t>
            </a:r>
            <a:endParaRPr sz="2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Arial"/>
              <a:ea typeface="Arial"/>
              <a:cs typeface="Arial"/>
              <a:sym typeface="Arial"/>
            </a:endParaRPr>
          </a:p>
          <a:p>
            <a:pPr indent="-349250" lvl="0" marL="355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Char char="•"/>
            </a:pPr>
            <a:r>
              <a:rPr lang="en" sz="2100">
                <a:latin typeface="Arial"/>
                <a:ea typeface="Arial"/>
                <a:cs typeface="Arial"/>
                <a:sym typeface="Arial"/>
              </a:rPr>
              <a:t>Can contain up to 3 Fault Domains and up to 20 Update Domains</a:t>
            </a:r>
            <a:endParaRPr sz="2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2100"/>
              <a:buFont typeface="Arial"/>
              <a:buNone/>
            </a:pPr>
            <a:r>
              <a:t/>
            </a:r>
            <a:endParaRPr sz="2100">
              <a:latin typeface="Arial"/>
              <a:ea typeface="Arial"/>
              <a:cs typeface="Arial"/>
              <a:sym typeface="Arial"/>
            </a:endParaRPr>
          </a:p>
          <a:p>
            <a:pPr indent="-349250" lvl="0" marL="355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Char char="•"/>
            </a:pPr>
            <a:r>
              <a:rPr lang="en" sz="2100">
                <a:latin typeface="Arial"/>
                <a:ea typeface="Arial"/>
                <a:cs typeface="Arial"/>
                <a:sym typeface="Arial"/>
              </a:rPr>
              <a:t>All domains (Fault &amp; Update) are in the same Zone (=datacenter)</a:t>
            </a:r>
            <a:endParaRPr sz="21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46"/>
          <p:cNvSpPr txBox="1"/>
          <p:nvPr>
            <p:ph type="title"/>
          </p:nvPr>
        </p:nvSpPr>
        <p:spPr>
          <a:xfrm>
            <a:off x="158039" y="78961"/>
            <a:ext cx="7938135" cy="12148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Availability Set Example</a:t>
            </a:r>
            <a:endParaRPr/>
          </a:p>
        </p:txBody>
      </p:sp>
      <p:grpSp>
        <p:nvGrpSpPr>
          <p:cNvPr id="338" name="Google Shape;338;p46"/>
          <p:cNvGrpSpPr/>
          <p:nvPr/>
        </p:nvGrpSpPr>
        <p:grpSpPr>
          <a:xfrm>
            <a:off x="2338550" y="1149729"/>
            <a:ext cx="4494331" cy="3329835"/>
            <a:chOff x="3118067" y="1532972"/>
            <a:chExt cx="5992441" cy="4439780"/>
          </a:xfrm>
        </p:grpSpPr>
        <p:pic>
          <p:nvPicPr>
            <p:cNvPr id="339" name="Google Shape;339;p4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118067" y="1532972"/>
              <a:ext cx="5992441" cy="443978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40" name="Google Shape;340;p4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3276599" y="1691639"/>
              <a:ext cx="5495544" cy="394258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47"/>
          <p:cNvSpPr txBox="1"/>
          <p:nvPr>
            <p:ph type="title"/>
          </p:nvPr>
        </p:nvSpPr>
        <p:spPr>
          <a:xfrm>
            <a:off x="158039" y="78961"/>
            <a:ext cx="7938135" cy="12148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Availability Set Example</a:t>
            </a:r>
            <a:endParaRPr/>
          </a:p>
        </p:txBody>
      </p:sp>
      <p:grpSp>
        <p:nvGrpSpPr>
          <p:cNvPr id="346" name="Google Shape;346;p47"/>
          <p:cNvGrpSpPr/>
          <p:nvPr/>
        </p:nvGrpSpPr>
        <p:grpSpPr>
          <a:xfrm>
            <a:off x="591502" y="1795081"/>
            <a:ext cx="4247674" cy="3014186"/>
            <a:chOff x="788669" y="2393442"/>
            <a:chExt cx="5663565" cy="4018915"/>
          </a:xfrm>
        </p:grpSpPr>
        <p:sp>
          <p:nvSpPr>
            <p:cNvPr id="347" name="Google Shape;347;p47"/>
            <p:cNvSpPr/>
            <p:nvPr/>
          </p:nvSpPr>
          <p:spPr>
            <a:xfrm>
              <a:off x="1064513" y="2393442"/>
              <a:ext cx="2243455" cy="4018915"/>
            </a:xfrm>
            <a:custGeom>
              <a:rect b="b" l="l" r="r" t="t"/>
              <a:pathLst>
                <a:path extrusionOk="0" h="4018915" w="2243454">
                  <a:moveTo>
                    <a:pt x="0" y="4018788"/>
                  </a:moveTo>
                  <a:lnTo>
                    <a:pt x="2243328" y="4018788"/>
                  </a:lnTo>
                  <a:lnTo>
                    <a:pt x="2243328" y="0"/>
                  </a:lnTo>
                  <a:lnTo>
                    <a:pt x="0" y="0"/>
                  </a:lnTo>
                  <a:lnTo>
                    <a:pt x="0" y="4018788"/>
                  </a:lnTo>
                  <a:close/>
                </a:path>
              </a:pathLst>
            </a:custGeom>
            <a:noFill/>
            <a:ln cap="flat" cmpd="sng" w="3810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00"/>
            </a:p>
          </p:txBody>
        </p:sp>
        <p:sp>
          <p:nvSpPr>
            <p:cNvPr id="348" name="Google Shape;348;p47"/>
            <p:cNvSpPr/>
            <p:nvPr/>
          </p:nvSpPr>
          <p:spPr>
            <a:xfrm>
              <a:off x="1265681" y="2701290"/>
              <a:ext cx="1839595" cy="3187065"/>
            </a:xfrm>
            <a:custGeom>
              <a:rect b="b" l="l" r="r" t="t"/>
              <a:pathLst>
                <a:path extrusionOk="0" h="3187065" w="1839595">
                  <a:moveTo>
                    <a:pt x="32004" y="818388"/>
                  </a:moveTo>
                  <a:lnTo>
                    <a:pt x="1839468" y="818388"/>
                  </a:lnTo>
                  <a:lnTo>
                    <a:pt x="1839468" y="0"/>
                  </a:lnTo>
                  <a:lnTo>
                    <a:pt x="32004" y="0"/>
                  </a:lnTo>
                  <a:lnTo>
                    <a:pt x="32004" y="818388"/>
                  </a:lnTo>
                  <a:close/>
                </a:path>
                <a:path extrusionOk="0" h="3187065" w="1839595">
                  <a:moveTo>
                    <a:pt x="135636" y="155448"/>
                  </a:moveTo>
                  <a:lnTo>
                    <a:pt x="184404" y="155448"/>
                  </a:lnTo>
                  <a:lnTo>
                    <a:pt x="184404" y="109727"/>
                  </a:lnTo>
                  <a:lnTo>
                    <a:pt x="135636" y="109727"/>
                  </a:lnTo>
                  <a:lnTo>
                    <a:pt x="135636" y="155448"/>
                  </a:lnTo>
                  <a:close/>
                </a:path>
                <a:path extrusionOk="0" h="3187065" w="1839595">
                  <a:moveTo>
                    <a:pt x="135636" y="307848"/>
                  </a:moveTo>
                  <a:lnTo>
                    <a:pt x="184404" y="307848"/>
                  </a:lnTo>
                  <a:lnTo>
                    <a:pt x="184404" y="262127"/>
                  </a:lnTo>
                  <a:lnTo>
                    <a:pt x="135636" y="262127"/>
                  </a:lnTo>
                  <a:lnTo>
                    <a:pt x="135636" y="307848"/>
                  </a:lnTo>
                  <a:close/>
                </a:path>
                <a:path extrusionOk="0" h="3187065" w="1839595">
                  <a:moveTo>
                    <a:pt x="137159" y="460248"/>
                  </a:moveTo>
                  <a:lnTo>
                    <a:pt x="187451" y="460248"/>
                  </a:lnTo>
                  <a:lnTo>
                    <a:pt x="187451" y="414527"/>
                  </a:lnTo>
                  <a:lnTo>
                    <a:pt x="137159" y="414527"/>
                  </a:lnTo>
                  <a:lnTo>
                    <a:pt x="137159" y="460248"/>
                  </a:lnTo>
                  <a:close/>
                </a:path>
                <a:path extrusionOk="0" h="3187065" w="1839595">
                  <a:moveTo>
                    <a:pt x="16764" y="2002536"/>
                  </a:moveTo>
                  <a:lnTo>
                    <a:pt x="1824228" y="2002536"/>
                  </a:lnTo>
                  <a:lnTo>
                    <a:pt x="1824228" y="1184148"/>
                  </a:lnTo>
                  <a:lnTo>
                    <a:pt x="16764" y="1184148"/>
                  </a:lnTo>
                  <a:lnTo>
                    <a:pt x="16764" y="2002536"/>
                  </a:lnTo>
                  <a:close/>
                </a:path>
                <a:path extrusionOk="0" h="3187065" w="1839595">
                  <a:moveTo>
                    <a:pt x="118872" y="1339596"/>
                  </a:moveTo>
                  <a:lnTo>
                    <a:pt x="169163" y="1339596"/>
                  </a:lnTo>
                  <a:lnTo>
                    <a:pt x="169163" y="1293876"/>
                  </a:lnTo>
                  <a:lnTo>
                    <a:pt x="118872" y="1293876"/>
                  </a:lnTo>
                  <a:lnTo>
                    <a:pt x="118872" y="1339596"/>
                  </a:lnTo>
                  <a:close/>
                </a:path>
                <a:path extrusionOk="0" h="3187065" w="1839595">
                  <a:moveTo>
                    <a:pt x="118872" y="1491996"/>
                  </a:moveTo>
                  <a:lnTo>
                    <a:pt x="169163" y="1491996"/>
                  </a:lnTo>
                  <a:lnTo>
                    <a:pt x="169163" y="1446276"/>
                  </a:lnTo>
                  <a:lnTo>
                    <a:pt x="118872" y="1446276"/>
                  </a:lnTo>
                  <a:lnTo>
                    <a:pt x="118872" y="1491996"/>
                  </a:lnTo>
                  <a:close/>
                </a:path>
                <a:path extrusionOk="0" h="3187065" w="1839595">
                  <a:moveTo>
                    <a:pt x="120396" y="1644396"/>
                  </a:moveTo>
                  <a:lnTo>
                    <a:pt x="170687" y="1644396"/>
                  </a:lnTo>
                  <a:lnTo>
                    <a:pt x="170687" y="1598676"/>
                  </a:lnTo>
                  <a:lnTo>
                    <a:pt x="120396" y="1598676"/>
                  </a:lnTo>
                  <a:lnTo>
                    <a:pt x="120396" y="1644396"/>
                  </a:lnTo>
                  <a:close/>
                </a:path>
                <a:path extrusionOk="0" h="3187065" w="1839595">
                  <a:moveTo>
                    <a:pt x="0" y="3186684"/>
                  </a:moveTo>
                  <a:lnTo>
                    <a:pt x="1807464" y="3186684"/>
                  </a:lnTo>
                  <a:lnTo>
                    <a:pt x="1807464" y="2368296"/>
                  </a:lnTo>
                  <a:lnTo>
                    <a:pt x="0" y="2368296"/>
                  </a:lnTo>
                  <a:lnTo>
                    <a:pt x="0" y="3186684"/>
                  </a:lnTo>
                  <a:close/>
                </a:path>
                <a:path extrusionOk="0" h="3187065" w="1839595">
                  <a:moveTo>
                    <a:pt x="103631" y="2523744"/>
                  </a:moveTo>
                  <a:lnTo>
                    <a:pt x="152400" y="2523744"/>
                  </a:lnTo>
                  <a:lnTo>
                    <a:pt x="152400" y="2478024"/>
                  </a:lnTo>
                  <a:lnTo>
                    <a:pt x="103631" y="2478024"/>
                  </a:lnTo>
                  <a:lnTo>
                    <a:pt x="103631" y="2523744"/>
                  </a:lnTo>
                  <a:close/>
                </a:path>
                <a:path extrusionOk="0" h="3187065" w="1839595">
                  <a:moveTo>
                    <a:pt x="103631" y="2676144"/>
                  </a:moveTo>
                  <a:lnTo>
                    <a:pt x="152400" y="2676144"/>
                  </a:lnTo>
                  <a:lnTo>
                    <a:pt x="152400" y="2630424"/>
                  </a:lnTo>
                  <a:lnTo>
                    <a:pt x="103631" y="2630424"/>
                  </a:lnTo>
                  <a:lnTo>
                    <a:pt x="103631" y="2676144"/>
                  </a:lnTo>
                  <a:close/>
                </a:path>
                <a:path extrusionOk="0" h="3187065" w="1839595">
                  <a:moveTo>
                    <a:pt x="105156" y="2828544"/>
                  </a:moveTo>
                  <a:lnTo>
                    <a:pt x="155447" y="2828544"/>
                  </a:lnTo>
                  <a:lnTo>
                    <a:pt x="155447" y="2782824"/>
                  </a:lnTo>
                  <a:lnTo>
                    <a:pt x="105156" y="2782824"/>
                  </a:lnTo>
                  <a:lnTo>
                    <a:pt x="105156" y="2828544"/>
                  </a:lnTo>
                  <a:close/>
                </a:path>
              </a:pathLst>
            </a:custGeom>
            <a:noFill/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00"/>
            </a:p>
          </p:txBody>
        </p:sp>
        <p:sp>
          <p:nvSpPr>
            <p:cNvPr id="349" name="Google Shape;349;p47"/>
            <p:cNvSpPr/>
            <p:nvPr/>
          </p:nvSpPr>
          <p:spPr>
            <a:xfrm>
              <a:off x="3941825" y="2393442"/>
              <a:ext cx="2243455" cy="4018915"/>
            </a:xfrm>
            <a:custGeom>
              <a:rect b="b" l="l" r="r" t="t"/>
              <a:pathLst>
                <a:path extrusionOk="0" h="4018915" w="2243454">
                  <a:moveTo>
                    <a:pt x="0" y="4018788"/>
                  </a:moveTo>
                  <a:lnTo>
                    <a:pt x="2243328" y="4018788"/>
                  </a:lnTo>
                  <a:lnTo>
                    <a:pt x="2243328" y="0"/>
                  </a:lnTo>
                  <a:lnTo>
                    <a:pt x="0" y="0"/>
                  </a:lnTo>
                  <a:lnTo>
                    <a:pt x="0" y="4018788"/>
                  </a:lnTo>
                  <a:close/>
                </a:path>
              </a:pathLst>
            </a:custGeom>
            <a:noFill/>
            <a:ln cap="flat" cmpd="sng" w="3810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00"/>
            </a:p>
          </p:txBody>
        </p:sp>
        <p:sp>
          <p:nvSpPr>
            <p:cNvPr id="350" name="Google Shape;350;p47"/>
            <p:cNvSpPr/>
            <p:nvPr/>
          </p:nvSpPr>
          <p:spPr>
            <a:xfrm>
              <a:off x="4142993" y="2701290"/>
              <a:ext cx="1839595" cy="3187065"/>
            </a:xfrm>
            <a:custGeom>
              <a:rect b="b" l="l" r="r" t="t"/>
              <a:pathLst>
                <a:path extrusionOk="0" h="3187065" w="1839595">
                  <a:moveTo>
                    <a:pt x="32003" y="818388"/>
                  </a:moveTo>
                  <a:lnTo>
                    <a:pt x="1839467" y="818388"/>
                  </a:lnTo>
                  <a:lnTo>
                    <a:pt x="1839467" y="0"/>
                  </a:lnTo>
                  <a:lnTo>
                    <a:pt x="32003" y="0"/>
                  </a:lnTo>
                  <a:lnTo>
                    <a:pt x="32003" y="818388"/>
                  </a:lnTo>
                  <a:close/>
                </a:path>
                <a:path extrusionOk="0" h="3187065" w="1839595">
                  <a:moveTo>
                    <a:pt x="135635" y="155448"/>
                  </a:moveTo>
                  <a:lnTo>
                    <a:pt x="184403" y="155448"/>
                  </a:lnTo>
                  <a:lnTo>
                    <a:pt x="184403" y="109727"/>
                  </a:lnTo>
                  <a:lnTo>
                    <a:pt x="135635" y="109727"/>
                  </a:lnTo>
                  <a:lnTo>
                    <a:pt x="135635" y="155448"/>
                  </a:lnTo>
                  <a:close/>
                </a:path>
                <a:path extrusionOk="0" h="3187065" w="1839595">
                  <a:moveTo>
                    <a:pt x="135635" y="307848"/>
                  </a:moveTo>
                  <a:lnTo>
                    <a:pt x="184403" y="307848"/>
                  </a:lnTo>
                  <a:lnTo>
                    <a:pt x="184403" y="262127"/>
                  </a:lnTo>
                  <a:lnTo>
                    <a:pt x="135635" y="262127"/>
                  </a:lnTo>
                  <a:lnTo>
                    <a:pt x="135635" y="307848"/>
                  </a:lnTo>
                  <a:close/>
                </a:path>
                <a:path extrusionOk="0" h="3187065" w="1839595">
                  <a:moveTo>
                    <a:pt x="137159" y="460248"/>
                  </a:moveTo>
                  <a:lnTo>
                    <a:pt x="187451" y="460248"/>
                  </a:lnTo>
                  <a:lnTo>
                    <a:pt x="187451" y="414527"/>
                  </a:lnTo>
                  <a:lnTo>
                    <a:pt x="137159" y="414527"/>
                  </a:lnTo>
                  <a:lnTo>
                    <a:pt x="137159" y="460248"/>
                  </a:lnTo>
                  <a:close/>
                </a:path>
                <a:path extrusionOk="0" h="3187065" w="1839595">
                  <a:moveTo>
                    <a:pt x="16763" y="2002536"/>
                  </a:moveTo>
                  <a:lnTo>
                    <a:pt x="1824227" y="2002536"/>
                  </a:lnTo>
                  <a:lnTo>
                    <a:pt x="1824227" y="1184148"/>
                  </a:lnTo>
                  <a:lnTo>
                    <a:pt x="16763" y="1184148"/>
                  </a:lnTo>
                  <a:lnTo>
                    <a:pt x="16763" y="2002536"/>
                  </a:lnTo>
                  <a:close/>
                </a:path>
                <a:path extrusionOk="0" h="3187065" w="1839595">
                  <a:moveTo>
                    <a:pt x="118871" y="1339596"/>
                  </a:moveTo>
                  <a:lnTo>
                    <a:pt x="169163" y="1339596"/>
                  </a:lnTo>
                  <a:lnTo>
                    <a:pt x="169163" y="1293876"/>
                  </a:lnTo>
                  <a:lnTo>
                    <a:pt x="118871" y="1293876"/>
                  </a:lnTo>
                  <a:lnTo>
                    <a:pt x="118871" y="1339596"/>
                  </a:lnTo>
                  <a:close/>
                </a:path>
                <a:path extrusionOk="0" h="3187065" w="1839595">
                  <a:moveTo>
                    <a:pt x="118871" y="1491996"/>
                  </a:moveTo>
                  <a:lnTo>
                    <a:pt x="169163" y="1491996"/>
                  </a:lnTo>
                  <a:lnTo>
                    <a:pt x="169163" y="1446276"/>
                  </a:lnTo>
                  <a:lnTo>
                    <a:pt x="118871" y="1446276"/>
                  </a:lnTo>
                  <a:lnTo>
                    <a:pt x="118871" y="1491996"/>
                  </a:lnTo>
                  <a:close/>
                </a:path>
                <a:path extrusionOk="0" h="3187065" w="1839595">
                  <a:moveTo>
                    <a:pt x="121919" y="1644396"/>
                  </a:moveTo>
                  <a:lnTo>
                    <a:pt x="170687" y="1644396"/>
                  </a:lnTo>
                  <a:lnTo>
                    <a:pt x="170687" y="1598676"/>
                  </a:lnTo>
                  <a:lnTo>
                    <a:pt x="121919" y="1598676"/>
                  </a:lnTo>
                  <a:lnTo>
                    <a:pt x="121919" y="1644396"/>
                  </a:lnTo>
                  <a:close/>
                </a:path>
                <a:path extrusionOk="0" h="3187065" w="1839595">
                  <a:moveTo>
                    <a:pt x="0" y="3186684"/>
                  </a:moveTo>
                  <a:lnTo>
                    <a:pt x="1807464" y="3186684"/>
                  </a:lnTo>
                  <a:lnTo>
                    <a:pt x="1807464" y="2368296"/>
                  </a:lnTo>
                  <a:lnTo>
                    <a:pt x="0" y="2368296"/>
                  </a:lnTo>
                  <a:lnTo>
                    <a:pt x="0" y="3186684"/>
                  </a:lnTo>
                  <a:close/>
                </a:path>
                <a:path extrusionOk="0" h="3187065" w="1839595">
                  <a:moveTo>
                    <a:pt x="103631" y="2523744"/>
                  </a:moveTo>
                  <a:lnTo>
                    <a:pt x="152399" y="2523744"/>
                  </a:lnTo>
                  <a:lnTo>
                    <a:pt x="152399" y="2478024"/>
                  </a:lnTo>
                  <a:lnTo>
                    <a:pt x="103631" y="2478024"/>
                  </a:lnTo>
                  <a:lnTo>
                    <a:pt x="103631" y="2523744"/>
                  </a:lnTo>
                  <a:close/>
                </a:path>
                <a:path extrusionOk="0" h="3187065" w="1839595">
                  <a:moveTo>
                    <a:pt x="103631" y="2676144"/>
                  </a:moveTo>
                  <a:lnTo>
                    <a:pt x="152399" y="2676144"/>
                  </a:lnTo>
                  <a:lnTo>
                    <a:pt x="152399" y="2630424"/>
                  </a:lnTo>
                  <a:lnTo>
                    <a:pt x="103631" y="2630424"/>
                  </a:lnTo>
                  <a:lnTo>
                    <a:pt x="103631" y="2676144"/>
                  </a:lnTo>
                  <a:close/>
                </a:path>
                <a:path extrusionOk="0" h="3187065" w="1839595">
                  <a:moveTo>
                    <a:pt x="105155" y="2828544"/>
                  </a:moveTo>
                  <a:lnTo>
                    <a:pt x="155447" y="2828544"/>
                  </a:lnTo>
                  <a:lnTo>
                    <a:pt x="155447" y="2782824"/>
                  </a:lnTo>
                  <a:lnTo>
                    <a:pt x="105155" y="2782824"/>
                  </a:lnTo>
                  <a:lnTo>
                    <a:pt x="105155" y="2828544"/>
                  </a:lnTo>
                  <a:close/>
                </a:path>
              </a:pathLst>
            </a:custGeom>
            <a:noFill/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00"/>
            </a:p>
          </p:txBody>
        </p:sp>
        <p:sp>
          <p:nvSpPr>
            <p:cNvPr id="351" name="Google Shape;351;p47"/>
            <p:cNvSpPr/>
            <p:nvPr/>
          </p:nvSpPr>
          <p:spPr>
            <a:xfrm>
              <a:off x="788669" y="2586990"/>
              <a:ext cx="5663565" cy="3418840"/>
            </a:xfrm>
            <a:custGeom>
              <a:rect b="b" l="l" r="r" t="t"/>
              <a:pathLst>
                <a:path extrusionOk="0" h="3418840" w="5663565">
                  <a:moveTo>
                    <a:pt x="0" y="1034796"/>
                  </a:moveTo>
                  <a:lnTo>
                    <a:pt x="5663184" y="1034796"/>
                  </a:lnTo>
                  <a:lnTo>
                    <a:pt x="5663184" y="0"/>
                  </a:lnTo>
                  <a:lnTo>
                    <a:pt x="0" y="0"/>
                  </a:lnTo>
                  <a:lnTo>
                    <a:pt x="0" y="1034796"/>
                  </a:lnTo>
                  <a:close/>
                </a:path>
                <a:path extrusionOk="0" h="3418840" w="5663565">
                  <a:moveTo>
                    <a:pt x="0" y="2226564"/>
                  </a:moveTo>
                  <a:lnTo>
                    <a:pt x="5663184" y="2226564"/>
                  </a:lnTo>
                  <a:lnTo>
                    <a:pt x="5663184" y="1191768"/>
                  </a:lnTo>
                  <a:lnTo>
                    <a:pt x="0" y="1191768"/>
                  </a:lnTo>
                  <a:lnTo>
                    <a:pt x="0" y="2226564"/>
                  </a:lnTo>
                  <a:close/>
                </a:path>
                <a:path extrusionOk="0" h="3418840" w="5663565">
                  <a:moveTo>
                    <a:pt x="0" y="3418332"/>
                  </a:moveTo>
                  <a:lnTo>
                    <a:pt x="5663184" y="3418332"/>
                  </a:lnTo>
                  <a:lnTo>
                    <a:pt x="5663184" y="2385060"/>
                  </a:lnTo>
                  <a:lnTo>
                    <a:pt x="0" y="2385060"/>
                  </a:lnTo>
                  <a:lnTo>
                    <a:pt x="0" y="3418332"/>
                  </a:lnTo>
                  <a:close/>
                </a:path>
              </a:pathLst>
            </a:custGeom>
            <a:noFill/>
            <a:ln cap="flat" cmpd="sng" w="38100">
              <a:solidFill>
                <a:srgbClr val="5382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00"/>
            </a:p>
          </p:txBody>
        </p:sp>
        <p:sp>
          <p:nvSpPr>
            <p:cNvPr id="352" name="Google Shape;352;p47"/>
            <p:cNvSpPr/>
            <p:nvPr/>
          </p:nvSpPr>
          <p:spPr>
            <a:xfrm>
              <a:off x="1565147" y="3934968"/>
              <a:ext cx="1295400" cy="742315"/>
            </a:xfrm>
            <a:custGeom>
              <a:rect b="b" l="l" r="r" t="t"/>
              <a:pathLst>
                <a:path extrusionOk="0" h="742314" w="1295400">
                  <a:moveTo>
                    <a:pt x="1295400" y="0"/>
                  </a:moveTo>
                  <a:lnTo>
                    <a:pt x="0" y="0"/>
                  </a:lnTo>
                  <a:lnTo>
                    <a:pt x="0" y="742187"/>
                  </a:lnTo>
                  <a:lnTo>
                    <a:pt x="1295400" y="742187"/>
                  </a:lnTo>
                  <a:lnTo>
                    <a:pt x="1295400" y="0"/>
                  </a:lnTo>
                  <a:close/>
                </a:path>
              </a:pathLst>
            </a:custGeom>
            <a:solidFill>
              <a:srgbClr val="4471C4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00"/>
            </a:p>
          </p:txBody>
        </p:sp>
        <p:sp>
          <p:nvSpPr>
            <p:cNvPr id="353" name="Google Shape;353;p47"/>
            <p:cNvSpPr/>
            <p:nvPr/>
          </p:nvSpPr>
          <p:spPr>
            <a:xfrm>
              <a:off x="1565147" y="3934968"/>
              <a:ext cx="1295400" cy="742315"/>
            </a:xfrm>
            <a:custGeom>
              <a:rect b="b" l="l" r="r" t="t"/>
              <a:pathLst>
                <a:path extrusionOk="0" h="742314" w="1295400">
                  <a:moveTo>
                    <a:pt x="0" y="742187"/>
                  </a:moveTo>
                  <a:lnTo>
                    <a:pt x="1295400" y="742187"/>
                  </a:lnTo>
                  <a:lnTo>
                    <a:pt x="1295400" y="0"/>
                  </a:lnTo>
                  <a:lnTo>
                    <a:pt x="0" y="0"/>
                  </a:lnTo>
                  <a:lnTo>
                    <a:pt x="0" y="742187"/>
                  </a:lnTo>
                  <a:close/>
                </a:path>
              </a:pathLst>
            </a:custGeom>
            <a:noFill/>
            <a:ln cap="flat" cmpd="sng" w="12700">
              <a:solidFill>
                <a:srgbClr val="2E528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00"/>
            </a:p>
          </p:txBody>
        </p:sp>
      </p:grpSp>
      <p:pic>
        <p:nvPicPr>
          <p:cNvPr id="354" name="Google Shape;354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70892" y="1435799"/>
            <a:ext cx="116681" cy="150019"/>
          </a:xfrm>
          <a:prstGeom prst="rect">
            <a:avLst/>
          </a:prstGeom>
          <a:noFill/>
          <a:ln>
            <a:noFill/>
          </a:ln>
        </p:spPr>
      </p:pic>
      <p:sp>
        <p:nvSpPr>
          <p:cNvPr id="355" name="Google Shape;355;p47"/>
          <p:cNvSpPr txBox="1"/>
          <p:nvPr/>
        </p:nvSpPr>
        <p:spPr>
          <a:xfrm>
            <a:off x="856640" y="1367122"/>
            <a:ext cx="1517809" cy="2705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Fault Domain	1</a:t>
            </a:r>
            <a:endParaRPr sz="17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6" name="Google Shape;356;p47"/>
          <p:cNvSpPr txBox="1"/>
          <p:nvPr/>
        </p:nvSpPr>
        <p:spPr>
          <a:xfrm>
            <a:off x="2981039" y="1367122"/>
            <a:ext cx="1555432" cy="2705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Fault Domain	2</a:t>
            </a:r>
            <a:endParaRPr sz="17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57" name="Google Shape;357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95290" y="1435799"/>
            <a:ext cx="116681" cy="150019"/>
          </a:xfrm>
          <a:prstGeom prst="rect">
            <a:avLst/>
          </a:prstGeom>
          <a:noFill/>
          <a:ln>
            <a:noFill/>
          </a:ln>
        </p:spPr>
      </p:pic>
      <p:sp>
        <p:nvSpPr>
          <p:cNvPr id="358" name="Google Shape;358;p47"/>
          <p:cNvSpPr txBox="1"/>
          <p:nvPr/>
        </p:nvSpPr>
        <p:spPr>
          <a:xfrm>
            <a:off x="5105209" y="2214943"/>
            <a:ext cx="1700213" cy="2705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538235"/>
                </a:solidFill>
                <a:latin typeface="Arial"/>
                <a:ea typeface="Arial"/>
                <a:cs typeface="Arial"/>
                <a:sym typeface="Arial"/>
              </a:rPr>
              <a:t>Update Domain	1</a:t>
            </a:r>
            <a:endParaRPr sz="17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59" name="Google Shape;359;p4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02729" y="2283619"/>
            <a:ext cx="116681" cy="150019"/>
          </a:xfrm>
          <a:prstGeom prst="rect">
            <a:avLst/>
          </a:prstGeom>
          <a:noFill/>
          <a:ln>
            <a:noFill/>
          </a:ln>
        </p:spPr>
      </p:pic>
      <p:sp>
        <p:nvSpPr>
          <p:cNvPr id="360" name="Google Shape;360;p47"/>
          <p:cNvSpPr txBox="1"/>
          <p:nvPr/>
        </p:nvSpPr>
        <p:spPr>
          <a:xfrm>
            <a:off x="5105209" y="3104197"/>
            <a:ext cx="1738789" cy="2705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538235"/>
                </a:solidFill>
                <a:latin typeface="Arial"/>
                <a:ea typeface="Arial"/>
                <a:cs typeface="Arial"/>
                <a:sym typeface="Arial"/>
              </a:rPr>
              <a:t>Update Domain	2</a:t>
            </a:r>
            <a:endParaRPr sz="17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61" name="Google Shape;361;p4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02729" y="3172872"/>
            <a:ext cx="116681" cy="150019"/>
          </a:xfrm>
          <a:prstGeom prst="rect">
            <a:avLst/>
          </a:prstGeom>
          <a:noFill/>
          <a:ln>
            <a:noFill/>
          </a:ln>
        </p:spPr>
      </p:pic>
      <p:pic>
        <p:nvPicPr>
          <p:cNvPr id="362" name="Google Shape;362;p4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02729" y="4078166"/>
            <a:ext cx="116681" cy="150019"/>
          </a:xfrm>
          <a:prstGeom prst="rect">
            <a:avLst/>
          </a:prstGeom>
          <a:noFill/>
          <a:ln>
            <a:noFill/>
          </a:ln>
        </p:spPr>
      </p:pic>
      <p:sp>
        <p:nvSpPr>
          <p:cNvPr id="363" name="Google Shape;363;p47"/>
          <p:cNvSpPr txBox="1"/>
          <p:nvPr/>
        </p:nvSpPr>
        <p:spPr>
          <a:xfrm>
            <a:off x="5105209" y="4009491"/>
            <a:ext cx="1741646" cy="2705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538235"/>
                </a:solidFill>
                <a:latin typeface="Arial"/>
                <a:ea typeface="Arial"/>
                <a:cs typeface="Arial"/>
                <a:sym typeface="Arial"/>
              </a:rPr>
              <a:t>Update Domain	3</a:t>
            </a:r>
            <a:endParaRPr sz="17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4" name="Google Shape;364;p47"/>
          <p:cNvSpPr txBox="1"/>
          <p:nvPr/>
        </p:nvSpPr>
        <p:spPr>
          <a:xfrm>
            <a:off x="1178623" y="3116771"/>
            <a:ext cx="962025" cy="2247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254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VM	1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65" name="Google Shape;365;p47"/>
          <p:cNvGrpSpPr/>
          <p:nvPr/>
        </p:nvGrpSpPr>
        <p:grpSpPr>
          <a:xfrm>
            <a:off x="1724835" y="2056257"/>
            <a:ext cx="2578560" cy="1241489"/>
            <a:chOff x="2299780" y="2741676"/>
            <a:chExt cx="3438080" cy="1655318"/>
          </a:xfrm>
        </p:grpSpPr>
        <p:pic>
          <p:nvPicPr>
            <p:cNvPr id="366" name="Google Shape;366;p47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2299780" y="4231894"/>
              <a:ext cx="127000" cy="1651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67" name="Google Shape;367;p47"/>
            <p:cNvSpPr/>
            <p:nvPr/>
          </p:nvSpPr>
          <p:spPr>
            <a:xfrm>
              <a:off x="4442460" y="2741676"/>
              <a:ext cx="1295400" cy="742315"/>
            </a:xfrm>
            <a:custGeom>
              <a:rect b="b" l="l" r="r" t="t"/>
              <a:pathLst>
                <a:path extrusionOk="0" h="742314" w="1295400">
                  <a:moveTo>
                    <a:pt x="1295400" y="0"/>
                  </a:moveTo>
                  <a:lnTo>
                    <a:pt x="0" y="0"/>
                  </a:lnTo>
                  <a:lnTo>
                    <a:pt x="0" y="742188"/>
                  </a:lnTo>
                  <a:lnTo>
                    <a:pt x="1295400" y="742188"/>
                  </a:lnTo>
                  <a:lnTo>
                    <a:pt x="1295400" y="0"/>
                  </a:lnTo>
                  <a:close/>
                </a:path>
              </a:pathLst>
            </a:custGeom>
            <a:solidFill>
              <a:srgbClr val="4471C4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00"/>
            </a:p>
          </p:txBody>
        </p:sp>
        <p:pic>
          <p:nvPicPr>
            <p:cNvPr id="368" name="Google Shape;368;p47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5157280" y="3038348"/>
              <a:ext cx="127000" cy="1651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69" name="Google Shape;369;p47"/>
          <p:cNvSpPr txBox="1"/>
          <p:nvPr/>
        </p:nvSpPr>
        <p:spPr>
          <a:xfrm>
            <a:off x="3331844" y="2056257"/>
            <a:ext cx="971550" cy="556736"/>
          </a:xfrm>
          <a:prstGeom prst="rect">
            <a:avLst/>
          </a:prstGeom>
          <a:noFill/>
          <a:ln cap="flat" cmpd="sng" w="12700">
            <a:solidFill>
              <a:srgbClr val="2E52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174775">
            <a:spAutoFit/>
          </a:bodyPr>
          <a:lstStyle/>
          <a:p>
            <a:pPr indent="0" lvl="0" marL="254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VM	2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48"/>
          <p:cNvSpPr txBox="1"/>
          <p:nvPr>
            <p:ph type="title"/>
          </p:nvPr>
        </p:nvSpPr>
        <p:spPr>
          <a:xfrm>
            <a:off x="158038" y="78961"/>
            <a:ext cx="3261836" cy="5910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Update Domain</a:t>
            </a:r>
            <a:endParaRPr/>
          </a:p>
        </p:txBody>
      </p:sp>
      <p:sp>
        <p:nvSpPr>
          <p:cNvPr id="375" name="Google Shape;375;p48"/>
          <p:cNvSpPr txBox="1"/>
          <p:nvPr/>
        </p:nvSpPr>
        <p:spPr>
          <a:xfrm>
            <a:off x="3824847" y="78961"/>
            <a:ext cx="2143125" cy="5910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800">
                <a:solidFill>
                  <a:srgbClr val="532708"/>
                </a:solidFill>
                <a:latin typeface="Lucida Sans"/>
                <a:ea typeface="Lucida Sans"/>
                <a:cs typeface="Lucida Sans"/>
                <a:sym typeface="Lucida Sans"/>
              </a:rPr>
              <a:t>2 Reboots</a:t>
            </a:r>
            <a:endParaRPr sz="3800">
              <a:latin typeface="Lucida Sans"/>
              <a:ea typeface="Lucida Sans"/>
              <a:cs typeface="Lucida Sans"/>
              <a:sym typeface="Lucida Sans"/>
            </a:endParaRPr>
          </a:p>
        </p:txBody>
      </p:sp>
      <p:pic>
        <p:nvPicPr>
          <p:cNvPr id="376" name="Google Shape;376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55802" y="224599"/>
            <a:ext cx="264319" cy="34051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77" name="Google Shape;377;p48"/>
          <p:cNvGrpSpPr/>
          <p:nvPr/>
        </p:nvGrpSpPr>
        <p:grpSpPr>
          <a:xfrm>
            <a:off x="591502" y="1795081"/>
            <a:ext cx="4247674" cy="3014186"/>
            <a:chOff x="788669" y="2393442"/>
            <a:chExt cx="5663565" cy="4018915"/>
          </a:xfrm>
        </p:grpSpPr>
        <p:sp>
          <p:nvSpPr>
            <p:cNvPr id="378" name="Google Shape;378;p48"/>
            <p:cNvSpPr/>
            <p:nvPr/>
          </p:nvSpPr>
          <p:spPr>
            <a:xfrm>
              <a:off x="1064513" y="2393442"/>
              <a:ext cx="2243455" cy="4018915"/>
            </a:xfrm>
            <a:custGeom>
              <a:rect b="b" l="l" r="r" t="t"/>
              <a:pathLst>
                <a:path extrusionOk="0" h="4018915" w="2243454">
                  <a:moveTo>
                    <a:pt x="0" y="4018788"/>
                  </a:moveTo>
                  <a:lnTo>
                    <a:pt x="2243328" y="4018788"/>
                  </a:lnTo>
                  <a:lnTo>
                    <a:pt x="2243328" y="0"/>
                  </a:lnTo>
                  <a:lnTo>
                    <a:pt x="0" y="0"/>
                  </a:lnTo>
                  <a:lnTo>
                    <a:pt x="0" y="4018788"/>
                  </a:lnTo>
                  <a:close/>
                </a:path>
              </a:pathLst>
            </a:custGeom>
            <a:noFill/>
            <a:ln cap="flat" cmpd="sng" w="3810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00"/>
            </a:p>
          </p:txBody>
        </p:sp>
        <p:sp>
          <p:nvSpPr>
            <p:cNvPr id="379" name="Google Shape;379;p48"/>
            <p:cNvSpPr/>
            <p:nvPr/>
          </p:nvSpPr>
          <p:spPr>
            <a:xfrm>
              <a:off x="1265681" y="2701290"/>
              <a:ext cx="1839595" cy="3187065"/>
            </a:xfrm>
            <a:custGeom>
              <a:rect b="b" l="l" r="r" t="t"/>
              <a:pathLst>
                <a:path extrusionOk="0" h="3187065" w="1839595">
                  <a:moveTo>
                    <a:pt x="32004" y="818388"/>
                  </a:moveTo>
                  <a:lnTo>
                    <a:pt x="1839468" y="818388"/>
                  </a:lnTo>
                  <a:lnTo>
                    <a:pt x="1839468" y="0"/>
                  </a:lnTo>
                  <a:lnTo>
                    <a:pt x="32004" y="0"/>
                  </a:lnTo>
                  <a:lnTo>
                    <a:pt x="32004" y="818388"/>
                  </a:lnTo>
                  <a:close/>
                </a:path>
                <a:path extrusionOk="0" h="3187065" w="1839595">
                  <a:moveTo>
                    <a:pt x="135636" y="155448"/>
                  </a:moveTo>
                  <a:lnTo>
                    <a:pt x="184404" y="155448"/>
                  </a:lnTo>
                  <a:lnTo>
                    <a:pt x="184404" y="109727"/>
                  </a:lnTo>
                  <a:lnTo>
                    <a:pt x="135636" y="109727"/>
                  </a:lnTo>
                  <a:lnTo>
                    <a:pt x="135636" y="155448"/>
                  </a:lnTo>
                  <a:close/>
                </a:path>
                <a:path extrusionOk="0" h="3187065" w="1839595">
                  <a:moveTo>
                    <a:pt x="135636" y="307848"/>
                  </a:moveTo>
                  <a:lnTo>
                    <a:pt x="184404" y="307848"/>
                  </a:lnTo>
                  <a:lnTo>
                    <a:pt x="184404" y="262127"/>
                  </a:lnTo>
                  <a:lnTo>
                    <a:pt x="135636" y="262127"/>
                  </a:lnTo>
                  <a:lnTo>
                    <a:pt x="135636" y="307848"/>
                  </a:lnTo>
                  <a:close/>
                </a:path>
                <a:path extrusionOk="0" h="3187065" w="1839595">
                  <a:moveTo>
                    <a:pt x="137159" y="460248"/>
                  </a:moveTo>
                  <a:lnTo>
                    <a:pt x="187451" y="460248"/>
                  </a:lnTo>
                  <a:lnTo>
                    <a:pt x="187451" y="414527"/>
                  </a:lnTo>
                  <a:lnTo>
                    <a:pt x="137159" y="414527"/>
                  </a:lnTo>
                  <a:lnTo>
                    <a:pt x="137159" y="460248"/>
                  </a:lnTo>
                  <a:close/>
                </a:path>
                <a:path extrusionOk="0" h="3187065" w="1839595">
                  <a:moveTo>
                    <a:pt x="16764" y="2002536"/>
                  </a:moveTo>
                  <a:lnTo>
                    <a:pt x="1824228" y="2002536"/>
                  </a:lnTo>
                  <a:lnTo>
                    <a:pt x="1824228" y="1184148"/>
                  </a:lnTo>
                  <a:lnTo>
                    <a:pt x="16764" y="1184148"/>
                  </a:lnTo>
                  <a:lnTo>
                    <a:pt x="16764" y="2002536"/>
                  </a:lnTo>
                  <a:close/>
                </a:path>
                <a:path extrusionOk="0" h="3187065" w="1839595">
                  <a:moveTo>
                    <a:pt x="118872" y="1339596"/>
                  </a:moveTo>
                  <a:lnTo>
                    <a:pt x="169163" y="1339596"/>
                  </a:lnTo>
                  <a:lnTo>
                    <a:pt x="169163" y="1293876"/>
                  </a:lnTo>
                  <a:lnTo>
                    <a:pt x="118872" y="1293876"/>
                  </a:lnTo>
                  <a:lnTo>
                    <a:pt x="118872" y="1339596"/>
                  </a:lnTo>
                  <a:close/>
                </a:path>
                <a:path extrusionOk="0" h="3187065" w="1839595">
                  <a:moveTo>
                    <a:pt x="118872" y="1491996"/>
                  </a:moveTo>
                  <a:lnTo>
                    <a:pt x="169163" y="1491996"/>
                  </a:lnTo>
                  <a:lnTo>
                    <a:pt x="169163" y="1446276"/>
                  </a:lnTo>
                  <a:lnTo>
                    <a:pt x="118872" y="1446276"/>
                  </a:lnTo>
                  <a:lnTo>
                    <a:pt x="118872" y="1491996"/>
                  </a:lnTo>
                  <a:close/>
                </a:path>
                <a:path extrusionOk="0" h="3187065" w="1839595">
                  <a:moveTo>
                    <a:pt x="120396" y="1644396"/>
                  </a:moveTo>
                  <a:lnTo>
                    <a:pt x="170687" y="1644396"/>
                  </a:lnTo>
                  <a:lnTo>
                    <a:pt x="170687" y="1598676"/>
                  </a:lnTo>
                  <a:lnTo>
                    <a:pt x="120396" y="1598676"/>
                  </a:lnTo>
                  <a:lnTo>
                    <a:pt x="120396" y="1644396"/>
                  </a:lnTo>
                  <a:close/>
                </a:path>
                <a:path extrusionOk="0" h="3187065" w="1839595">
                  <a:moveTo>
                    <a:pt x="0" y="3186684"/>
                  </a:moveTo>
                  <a:lnTo>
                    <a:pt x="1807464" y="3186684"/>
                  </a:lnTo>
                  <a:lnTo>
                    <a:pt x="1807464" y="2368296"/>
                  </a:lnTo>
                  <a:lnTo>
                    <a:pt x="0" y="2368296"/>
                  </a:lnTo>
                  <a:lnTo>
                    <a:pt x="0" y="3186684"/>
                  </a:lnTo>
                  <a:close/>
                </a:path>
                <a:path extrusionOk="0" h="3187065" w="1839595">
                  <a:moveTo>
                    <a:pt x="103631" y="2523744"/>
                  </a:moveTo>
                  <a:lnTo>
                    <a:pt x="152400" y="2523744"/>
                  </a:lnTo>
                  <a:lnTo>
                    <a:pt x="152400" y="2478024"/>
                  </a:lnTo>
                  <a:lnTo>
                    <a:pt x="103631" y="2478024"/>
                  </a:lnTo>
                  <a:lnTo>
                    <a:pt x="103631" y="2523744"/>
                  </a:lnTo>
                  <a:close/>
                </a:path>
                <a:path extrusionOk="0" h="3187065" w="1839595">
                  <a:moveTo>
                    <a:pt x="103631" y="2676144"/>
                  </a:moveTo>
                  <a:lnTo>
                    <a:pt x="152400" y="2676144"/>
                  </a:lnTo>
                  <a:lnTo>
                    <a:pt x="152400" y="2630424"/>
                  </a:lnTo>
                  <a:lnTo>
                    <a:pt x="103631" y="2630424"/>
                  </a:lnTo>
                  <a:lnTo>
                    <a:pt x="103631" y="2676144"/>
                  </a:lnTo>
                  <a:close/>
                </a:path>
                <a:path extrusionOk="0" h="3187065" w="1839595">
                  <a:moveTo>
                    <a:pt x="105156" y="2828544"/>
                  </a:moveTo>
                  <a:lnTo>
                    <a:pt x="155447" y="2828544"/>
                  </a:lnTo>
                  <a:lnTo>
                    <a:pt x="155447" y="2782824"/>
                  </a:lnTo>
                  <a:lnTo>
                    <a:pt x="105156" y="2782824"/>
                  </a:lnTo>
                  <a:lnTo>
                    <a:pt x="105156" y="2828544"/>
                  </a:lnTo>
                  <a:close/>
                </a:path>
              </a:pathLst>
            </a:custGeom>
            <a:noFill/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00"/>
            </a:p>
          </p:txBody>
        </p:sp>
        <p:sp>
          <p:nvSpPr>
            <p:cNvPr id="380" name="Google Shape;380;p48"/>
            <p:cNvSpPr/>
            <p:nvPr/>
          </p:nvSpPr>
          <p:spPr>
            <a:xfrm>
              <a:off x="3941825" y="2393442"/>
              <a:ext cx="2243455" cy="4018915"/>
            </a:xfrm>
            <a:custGeom>
              <a:rect b="b" l="l" r="r" t="t"/>
              <a:pathLst>
                <a:path extrusionOk="0" h="4018915" w="2243454">
                  <a:moveTo>
                    <a:pt x="0" y="4018788"/>
                  </a:moveTo>
                  <a:lnTo>
                    <a:pt x="2243328" y="4018788"/>
                  </a:lnTo>
                  <a:lnTo>
                    <a:pt x="2243328" y="0"/>
                  </a:lnTo>
                  <a:lnTo>
                    <a:pt x="0" y="0"/>
                  </a:lnTo>
                  <a:lnTo>
                    <a:pt x="0" y="4018788"/>
                  </a:lnTo>
                  <a:close/>
                </a:path>
              </a:pathLst>
            </a:custGeom>
            <a:noFill/>
            <a:ln cap="flat" cmpd="sng" w="3810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00"/>
            </a:p>
          </p:txBody>
        </p:sp>
        <p:sp>
          <p:nvSpPr>
            <p:cNvPr id="381" name="Google Shape;381;p48"/>
            <p:cNvSpPr/>
            <p:nvPr/>
          </p:nvSpPr>
          <p:spPr>
            <a:xfrm>
              <a:off x="4142993" y="2701290"/>
              <a:ext cx="1839595" cy="3187065"/>
            </a:xfrm>
            <a:custGeom>
              <a:rect b="b" l="l" r="r" t="t"/>
              <a:pathLst>
                <a:path extrusionOk="0" h="3187065" w="1839595">
                  <a:moveTo>
                    <a:pt x="32003" y="818388"/>
                  </a:moveTo>
                  <a:lnTo>
                    <a:pt x="1839467" y="818388"/>
                  </a:lnTo>
                  <a:lnTo>
                    <a:pt x="1839467" y="0"/>
                  </a:lnTo>
                  <a:lnTo>
                    <a:pt x="32003" y="0"/>
                  </a:lnTo>
                  <a:lnTo>
                    <a:pt x="32003" y="818388"/>
                  </a:lnTo>
                  <a:close/>
                </a:path>
                <a:path extrusionOk="0" h="3187065" w="1839595">
                  <a:moveTo>
                    <a:pt x="135635" y="155448"/>
                  </a:moveTo>
                  <a:lnTo>
                    <a:pt x="184403" y="155448"/>
                  </a:lnTo>
                  <a:lnTo>
                    <a:pt x="184403" y="109727"/>
                  </a:lnTo>
                  <a:lnTo>
                    <a:pt x="135635" y="109727"/>
                  </a:lnTo>
                  <a:lnTo>
                    <a:pt x="135635" y="155448"/>
                  </a:lnTo>
                  <a:close/>
                </a:path>
                <a:path extrusionOk="0" h="3187065" w="1839595">
                  <a:moveTo>
                    <a:pt x="135635" y="307848"/>
                  </a:moveTo>
                  <a:lnTo>
                    <a:pt x="184403" y="307848"/>
                  </a:lnTo>
                  <a:lnTo>
                    <a:pt x="184403" y="262127"/>
                  </a:lnTo>
                  <a:lnTo>
                    <a:pt x="135635" y="262127"/>
                  </a:lnTo>
                  <a:lnTo>
                    <a:pt x="135635" y="307848"/>
                  </a:lnTo>
                  <a:close/>
                </a:path>
                <a:path extrusionOk="0" h="3187065" w="1839595">
                  <a:moveTo>
                    <a:pt x="137159" y="460248"/>
                  </a:moveTo>
                  <a:lnTo>
                    <a:pt x="187451" y="460248"/>
                  </a:lnTo>
                  <a:lnTo>
                    <a:pt x="187451" y="414527"/>
                  </a:lnTo>
                  <a:lnTo>
                    <a:pt x="137159" y="414527"/>
                  </a:lnTo>
                  <a:lnTo>
                    <a:pt x="137159" y="460248"/>
                  </a:lnTo>
                  <a:close/>
                </a:path>
                <a:path extrusionOk="0" h="3187065" w="1839595">
                  <a:moveTo>
                    <a:pt x="16763" y="2002536"/>
                  </a:moveTo>
                  <a:lnTo>
                    <a:pt x="1824227" y="2002536"/>
                  </a:lnTo>
                  <a:lnTo>
                    <a:pt x="1824227" y="1184148"/>
                  </a:lnTo>
                  <a:lnTo>
                    <a:pt x="16763" y="1184148"/>
                  </a:lnTo>
                  <a:lnTo>
                    <a:pt x="16763" y="2002536"/>
                  </a:lnTo>
                  <a:close/>
                </a:path>
                <a:path extrusionOk="0" h="3187065" w="1839595">
                  <a:moveTo>
                    <a:pt x="118871" y="1339596"/>
                  </a:moveTo>
                  <a:lnTo>
                    <a:pt x="169163" y="1339596"/>
                  </a:lnTo>
                  <a:lnTo>
                    <a:pt x="169163" y="1293876"/>
                  </a:lnTo>
                  <a:lnTo>
                    <a:pt x="118871" y="1293876"/>
                  </a:lnTo>
                  <a:lnTo>
                    <a:pt x="118871" y="1339596"/>
                  </a:lnTo>
                  <a:close/>
                </a:path>
                <a:path extrusionOk="0" h="3187065" w="1839595">
                  <a:moveTo>
                    <a:pt x="118871" y="1491996"/>
                  </a:moveTo>
                  <a:lnTo>
                    <a:pt x="169163" y="1491996"/>
                  </a:lnTo>
                  <a:lnTo>
                    <a:pt x="169163" y="1446276"/>
                  </a:lnTo>
                  <a:lnTo>
                    <a:pt x="118871" y="1446276"/>
                  </a:lnTo>
                  <a:lnTo>
                    <a:pt x="118871" y="1491996"/>
                  </a:lnTo>
                  <a:close/>
                </a:path>
                <a:path extrusionOk="0" h="3187065" w="1839595">
                  <a:moveTo>
                    <a:pt x="121919" y="1644396"/>
                  </a:moveTo>
                  <a:lnTo>
                    <a:pt x="170687" y="1644396"/>
                  </a:lnTo>
                  <a:lnTo>
                    <a:pt x="170687" y="1598676"/>
                  </a:lnTo>
                  <a:lnTo>
                    <a:pt x="121919" y="1598676"/>
                  </a:lnTo>
                  <a:lnTo>
                    <a:pt x="121919" y="1644396"/>
                  </a:lnTo>
                  <a:close/>
                </a:path>
                <a:path extrusionOk="0" h="3187065" w="1839595">
                  <a:moveTo>
                    <a:pt x="0" y="3186684"/>
                  </a:moveTo>
                  <a:lnTo>
                    <a:pt x="1807464" y="3186684"/>
                  </a:lnTo>
                  <a:lnTo>
                    <a:pt x="1807464" y="2368296"/>
                  </a:lnTo>
                  <a:lnTo>
                    <a:pt x="0" y="2368296"/>
                  </a:lnTo>
                  <a:lnTo>
                    <a:pt x="0" y="3186684"/>
                  </a:lnTo>
                  <a:close/>
                </a:path>
                <a:path extrusionOk="0" h="3187065" w="1839595">
                  <a:moveTo>
                    <a:pt x="103631" y="2523744"/>
                  </a:moveTo>
                  <a:lnTo>
                    <a:pt x="152399" y="2523744"/>
                  </a:lnTo>
                  <a:lnTo>
                    <a:pt x="152399" y="2478024"/>
                  </a:lnTo>
                  <a:lnTo>
                    <a:pt x="103631" y="2478024"/>
                  </a:lnTo>
                  <a:lnTo>
                    <a:pt x="103631" y="2523744"/>
                  </a:lnTo>
                  <a:close/>
                </a:path>
                <a:path extrusionOk="0" h="3187065" w="1839595">
                  <a:moveTo>
                    <a:pt x="103631" y="2676144"/>
                  </a:moveTo>
                  <a:lnTo>
                    <a:pt x="152399" y="2676144"/>
                  </a:lnTo>
                  <a:lnTo>
                    <a:pt x="152399" y="2630424"/>
                  </a:lnTo>
                  <a:lnTo>
                    <a:pt x="103631" y="2630424"/>
                  </a:lnTo>
                  <a:lnTo>
                    <a:pt x="103631" y="2676144"/>
                  </a:lnTo>
                  <a:close/>
                </a:path>
                <a:path extrusionOk="0" h="3187065" w="1839595">
                  <a:moveTo>
                    <a:pt x="105155" y="2828544"/>
                  </a:moveTo>
                  <a:lnTo>
                    <a:pt x="155447" y="2828544"/>
                  </a:lnTo>
                  <a:lnTo>
                    <a:pt x="155447" y="2782824"/>
                  </a:lnTo>
                  <a:lnTo>
                    <a:pt x="105155" y="2782824"/>
                  </a:lnTo>
                  <a:lnTo>
                    <a:pt x="105155" y="2828544"/>
                  </a:lnTo>
                  <a:close/>
                </a:path>
              </a:pathLst>
            </a:custGeom>
            <a:noFill/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00"/>
            </a:p>
          </p:txBody>
        </p:sp>
        <p:sp>
          <p:nvSpPr>
            <p:cNvPr id="382" name="Google Shape;382;p48"/>
            <p:cNvSpPr/>
            <p:nvPr/>
          </p:nvSpPr>
          <p:spPr>
            <a:xfrm>
              <a:off x="788669" y="2586990"/>
              <a:ext cx="5663565" cy="3418840"/>
            </a:xfrm>
            <a:custGeom>
              <a:rect b="b" l="l" r="r" t="t"/>
              <a:pathLst>
                <a:path extrusionOk="0" h="3418840" w="5663565">
                  <a:moveTo>
                    <a:pt x="0" y="1034796"/>
                  </a:moveTo>
                  <a:lnTo>
                    <a:pt x="5663184" y="1034796"/>
                  </a:lnTo>
                  <a:lnTo>
                    <a:pt x="5663184" y="0"/>
                  </a:lnTo>
                  <a:lnTo>
                    <a:pt x="0" y="0"/>
                  </a:lnTo>
                  <a:lnTo>
                    <a:pt x="0" y="1034796"/>
                  </a:lnTo>
                  <a:close/>
                </a:path>
                <a:path extrusionOk="0" h="3418840" w="5663565">
                  <a:moveTo>
                    <a:pt x="0" y="2226564"/>
                  </a:moveTo>
                  <a:lnTo>
                    <a:pt x="5663184" y="2226564"/>
                  </a:lnTo>
                  <a:lnTo>
                    <a:pt x="5663184" y="1191768"/>
                  </a:lnTo>
                  <a:lnTo>
                    <a:pt x="0" y="1191768"/>
                  </a:lnTo>
                  <a:lnTo>
                    <a:pt x="0" y="2226564"/>
                  </a:lnTo>
                  <a:close/>
                </a:path>
                <a:path extrusionOk="0" h="3418840" w="5663565">
                  <a:moveTo>
                    <a:pt x="0" y="3418332"/>
                  </a:moveTo>
                  <a:lnTo>
                    <a:pt x="5663184" y="3418332"/>
                  </a:lnTo>
                  <a:lnTo>
                    <a:pt x="5663184" y="2385060"/>
                  </a:lnTo>
                  <a:lnTo>
                    <a:pt x="0" y="2385060"/>
                  </a:lnTo>
                  <a:lnTo>
                    <a:pt x="0" y="3418332"/>
                  </a:lnTo>
                  <a:close/>
                </a:path>
              </a:pathLst>
            </a:custGeom>
            <a:noFill/>
            <a:ln cap="flat" cmpd="sng" w="38100">
              <a:solidFill>
                <a:srgbClr val="5382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00"/>
            </a:p>
          </p:txBody>
        </p:sp>
        <p:sp>
          <p:nvSpPr>
            <p:cNvPr id="383" name="Google Shape;383;p48"/>
            <p:cNvSpPr/>
            <p:nvPr/>
          </p:nvSpPr>
          <p:spPr>
            <a:xfrm>
              <a:off x="1565147" y="3934968"/>
              <a:ext cx="1295400" cy="742315"/>
            </a:xfrm>
            <a:custGeom>
              <a:rect b="b" l="l" r="r" t="t"/>
              <a:pathLst>
                <a:path extrusionOk="0" h="742314" w="1295400">
                  <a:moveTo>
                    <a:pt x="1295400" y="0"/>
                  </a:moveTo>
                  <a:lnTo>
                    <a:pt x="0" y="0"/>
                  </a:lnTo>
                  <a:lnTo>
                    <a:pt x="0" y="742187"/>
                  </a:lnTo>
                  <a:lnTo>
                    <a:pt x="1295400" y="742187"/>
                  </a:lnTo>
                  <a:lnTo>
                    <a:pt x="1295400" y="0"/>
                  </a:lnTo>
                  <a:close/>
                </a:path>
              </a:pathLst>
            </a:custGeom>
            <a:solidFill>
              <a:srgbClr val="4471C4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00"/>
            </a:p>
          </p:txBody>
        </p:sp>
        <p:sp>
          <p:nvSpPr>
            <p:cNvPr id="384" name="Google Shape;384;p48"/>
            <p:cNvSpPr/>
            <p:nvPr/>
          </p:nvSpPr>
          <p:spPr>
            <a:xfrm>
              <a:off x="1565147" y="3934968"/>
              <a:ext cx="1295400" cy="742315"/>
            </a:xfrm>
            <a:custGeom>
              <a:rect b="b" l="l" r="r" t="t"/>
              <a:pathLst>
                <a:path extrusionOk="0" h="742314" w="1295400">
                  <a:moveTo>
                    <a:pt x="0" y="742187"/>
                  </a:moveTo>
                  <a:lnTo>
                    <a:pt x="1295400" y="742187"/>
                  </a:lnTo>
                  <a:lnTo>
                    <a:pt x="1295400" y="0"/>
                  </a:lnTo>
                  <a:lnTo>
                    <a:pt x="0" y="0"/>
                  </a:lnTo>
                  <a:lnTo>
                    <a:pt x="0" y="742187"/>
                  </a:lnTo>
                  <a:close/>
                </a:path>
              </a:pathLst>
            </a:custGeom>
            <a:noFill/>
            <a:ln cap="flat" cmpd="sng" w="12700">
              <a:solidFill>
                <a:srgbClr val="2E528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00"/>
            </a:p>
          </p:txBody>
        </p:sp>
      </p:grpSp>
      <p:pic>
        <p:nvPicPr>
          <p:cNvPr id="385" name="Google Shape;385;p4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170892" y="1435799"/>
            <a:ext cx="116681" cy="150019"/>
          </a:xfrm>
          <a:prstGeom prst="rect">
            <a:avLst/>
          </a:prstGeom>
          <a:noFill/>
          <a:ln>
            <a:noFill/>
          </a:ln>
        </p:spPr>
      </p:pic>
      <p:sp>
        <p:nvSpPr>
          <p:cNvPr id="386" name="Google Shape;386;p48"/>
          <p:cNvSpPr txBox="1"/>
          <p:nvPr/>
        </p:nvSpPr>
        <p:spPr>
          <a:xfrm>
            <a:off x="856640" y="1367122"/>
            <a:ext cx="1517809" cy="2705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Fault Domain	1</a:t>
            </a:r>
            <a:endParaRPr sz="17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7" name="Google Shape;387;p48"/>
          <p:cNvSpPr txBox="1"/>
          <p:nvPr/>
        </p:nvSpPr>
        <p:spPr>
          <a:xfrm>
            <a:off x="2981039" y="1367122"/>
            <a:ext cx="1555432" cy="2705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Fault Domain	2</a:t>
            </a:r>
            <a:endParaRPr sz="17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88" name="Google Shape;388;p4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95290" y="1435799"/>
            <a:ext cx="116681" cy="150019"/>
          </a:xfrm>
          <a:prstGeom prst="rect">
            <a:avLst/>
          </a:prstGeom>
          <a:noFill/>
          <a:ln>
            <a:noFill/>
          </a:ln>
        </p:spPr>
      </p:pic>
      <p:sp>
        <p:nvSpPr>
          <p:cNvPr id="389" name="Google Shape;389;p48"/>
          <p:cNvSpPr txBox="1"/>
          <p:nvPr/>
        </p:nvSpPr>
        <p:spPr>
          <a:xfrm>
            <a:off x="5105209" y="2214943"/>
            <a:ext cx="1700213" cy="2705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538235"/>
                </a:solidFill>
                <a:latin typeface="Arial"/>
                <a:ea typeface="Arial"/>
                <a:cs typeface="Arial"/>
                <a:sym typeface="Arial"/>
              </a:rPr>
              <a:t>Update Domain	1</a:t>
            </a:r>
            <a:endParaRPr sz="17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90" name="Google Shape;390;p4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602729" y="2283619"/>
            <a:ext cx="116681" cy="150019"/>
          </a:xfrm>
          <a:prstGeom prst="rect">
            <a:avLst/>
          </a:prstGeom>
          <a:noFill/>
          <a:ln>
            <a:noFill/>
          </a:ln>
        </p:spPr>
      </p:pic>
      <p:sp>
        <p:nvSpPr>
          <p:cNvPr id="391" name="Google Shape;391;p48"/>
          <p:cNvSpPr txBox="1"/>
          <p:nvPr/>
        </p:nvSpPr>
        <p:spPr>
          <a:xfrm>
            <a:off x="5105209" y="3104197"/>
            <a:ext cx="1738789" cy="2705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538235"/>
                </a:solidFill>
                <a:latin typeface="Arial"/>
                <a:ea typeface="Arial"/>
                <a:cs typeface="Arial"/>
                <a:sym typeface="Arial"/>
              </a:rPr>
              <a:t>Update Domain	2</a:t>
            </a:r>
            <a:endParaRPr sz="17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92" name="Google Shape;392;p4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602729" y="3172872"/>
            <a:ext cx="116681" cy="150019"/>
          </a:xfrm>
          <a:prstGeom prst="rect">
            <a:avLst/>
          </a:prstGeom>
          <a:noFill/>
          <a:ln>
            <a:noFill/>
          </a:ln>
        </p:spPr>
      </p:pic>
      <p:pic>
        <p:nvPicPr>
          <p:cNvPr id="393" name="Google Shape;393;p4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602729" y="4078166"/>
            <a:ext cx="116681" cy="150019"/>
          </a:xfrm>
          <a:prstGeom prst="rect">
            <a:avLst/>
          </a:prstGeom>
          <a:noFill/>
          <a:ln>
            <a:noFill/>
          </a:ln>
        </p:spPr>
      </p:pic>
      <p:sp>
        <p:nvSpPr>
          <p:cNvPr id="394" name="Google Shape;394;p48"/>
          <p:cNvSpPr txBox="1"/>
          <p:nvPr/>
        </p:nvSpPr>
        <p:spPr>
          <a:xfrm>
            <a:off x="5105209" y="4009491"/>
            <a:ext cx="1741646" cy="2705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538235"/>
                </a:solidFill>
                <a:latin typeface="Arial"/>
                <a:ea typeface="Arial"/>
                <a:cs typeface="Arial"/>
                <a:sym typeface="Arial"/>
              </a:rPr>
              <a:t>Update Domain	3</a:t>
            </a:r>
            <a:endParaRPr sz="17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5" name="Google Shape;395;p48"/>
          <p:cNvSpPr txBox="1"/>
          <p:nvPr/>
        </p:nvSpPr>
        <p:spPr>
          <a:xfrm>
            <a:off x="1178623" y="3116771"/>
            <a:ext cx="962025" cy="2247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254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VM	1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96" name="Google Shape;396;p48"/>
          <p:cNvGrpSpPr/>
          <p:nvPr/>
        </p:nvGrpSpPr>
        <p:grpSpPr>
          <a:xfrm>
            <a:off x="1724835" y="2056257"/>
            <a:ext cx="2578560" cy="1241489"/>
            <a:chOff x="2299780" y="2741676"/>
            <a:chExt cx="3438080" cy="1655318"/>
          </a:xfrm>
        </p:grpSpPr>
        <p:pic>
          <p:nvPicPr>
            <p:cNvPr id="397" name="Google Shape;397;p48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2299780" y="4231894"/>
              <a:ext cx="127000" cy="1651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8" name="Google Shape;398;p48"/>
            <p:cNvSpPr/>
            <p:nvPr/>
          </p:nvSpPr>
          <p:spPr>
            <a:xfrm>
              <a:off x="4442460" y="2741676"/>
              <a:ext cx="1295400" cy="742315"/>
            </a:xfrm>
            <a:custGeom>
              <a:rect b="b" l="l" r="r" t="t"/>
              <a:pathLst>
                <a:path extrusionOk="0" h="742314" w="1295400">
                  <a:moveTo>
                    <a:pt x="1295400" y="0"/>
                  </a:moveTo>
                  <a:lnTo>
                    <a:pt x="0" y="0"/>
                  </a:lnTo>
                  <a:lnTo>
                    <a:pt x="0" y="742188"/>
                  </a:lnTo>
                  <a:lnTo>
                    <a:pt x="1295400" y="742188"/>
                  </a:lnTo>
                  <a:lnTo>
                    <a:pt x="1295400" y="0"/>
                  </a:lnTo>
                  <a:close/>
                </a:path>
              </a:pathLst>
            </a:custGeom>
            <a:solidFill>
              <a:srgbClr val="4471C4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00"/>
            </a:p>
          </p:txBody>
        </p:sp>
        <p:pic>
          <p:nvPicPr>
            <p:cNvPr id="399" name="Google Shape;399;p48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5157280" y="3038348"/>
              <a:ext cx="127000" cy="1651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00" name="Google Shape;400;p48"/>
          <p:cNvSpPr txBox="1"/>
          <p:nvPr/>
        </p:nvSpPr>
        <p:spPr>
          <a:xfrm>
            <a:off x="3331844" y="2056257"/>
            <a:ext cx="971550" cy="556736"/>
          </a:xfrm>
          <a:prstGeom prst="rect">
            <a:avLst/>
          </a:prstGeom>
          <a:noFill/>
          <a:ln cap="flat" cmpd="sng" w="12700">
            <a:solidFill>
              <a:srgbClr val="2E52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174775">
            <a:spAutoFit/>
          </a:bodyPr>
          <a:lstStyle/>
          <a:p>
            <a:pPr indent="0" lvl="0" marL="254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VM	2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49"/>
          <p:cNvSpPr txBox="1"/>
          <p:nvPr>
            <p:ph type="title"/>
          </p:nvPr>
        </p:nvSpPr>
        <p:spPr>
          <a:xfrm>
            <a:off x="158039" y="78961"/>
            <a:ext cx="2846070" cy="5910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Fault Domain</a:t>
            </a:r>
            <a:endParaRPr/>
          </a:p>
        </p:txBody>
      </p:sp>
      <p:sp>
        <p:nvSpPr>
          <p:cNvPr id="406" name="Google Shape;406;p49"/>
          <p:cNvSpPr txBox="1"/>
          <p:nvPr/>
        </p:nvSpPr>
        <p:spPr>
          <a:xfrm>
            <a:off x="3409027" y="78961"/>
            <a:ext cx="1332547" cy="5910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800">
                <a:solidFill>
                  <a:srgbClr val="532708"/>
                </a:solidFill>
                <a:latin typeface="Lucida Sans"/>
                <a:ea typeface="Lucida Sans"/>
                <a:cs typeface="Lucida Sans"/>
                <a:sym typeface="Lucida Sans"/>
              </a:rPr>
              <a:t>1 Fails</a:t>
            </a:r>
            <a:endParaRPr sz="3800">
              <a:latin typeface="Lucida Sans"/>
              <a:ea typeface="Lucida Sans"/>
              <a:cs typeface="Lucida Sans"/>
              <a:sym typeface="Lucida Sans"/>
            </a:endParaRPr>
          </a:p>
        </p:txBody>
      </p:sp>
      <p:pic>
        <p:nvPicPr>
          <p:cNvPr id="407" name="Google Shape;407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39944" y="224599"/>
            <a:ext cx="264319" cy="34051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08" name="Google Shape;408;p49"/>
          <p:cNvGrpSpPr/>
          <p:nvPr/>
        </p:nvGrpSpPr>
        <p:grpSpPr>
          <a:xfrm>
            <a:off x="591502" y="1795081"/>
            <a:ext cx="4247674" cy="3014186"/>
            <a:chOff x="788669" y="2393442"/>
            <a:chExt cx="5663565" cy="4018915"/>
          </a:xfrm>
        </p:grpSpPr>
        <p:sp>
          <p:nvSpPr>
            <p:cNvPr id="409" name="Google Shape;409;p49"/>
            <p:cNvSpPr/>
            <p:nvPr/>
          </p:nvSpPr>
          <p:spPr>
            <a:xfrm>
              <a:off x="1064513" y="2393442"/>
              <a:ext cx="2243455" cy="4018915"/>
            </a:xfrm>
            <a:custGeom>
              <a:rect b="b" l="l" r="r" t="t"/>
              <a:pathLst>
                <a:path extrusionOk="0" h="4018915" w="2243454">
                  <a:moveTo>
                    <a:pt x="0" y="4018788"/>
                  </a:moveTo>
                  <a:lnTo>
                    <a:pt x="2243328" y="4018788"/>
                  </a:lnTo>
                  <a:lnTo>
                    <a:pt x="2243328" y="0"/>
                  </a:lnTo>
                  <a:lnTo>
                    <a:pt x="0" y="0"/>
                  </a:lnTo>
                  <a:lnTo>
                    <a:pt x="0" y="4018788"/>
                  </a:lnTo>
                  <a:close/>
                </a:path>
              </a:pathLst>
            </a:custGeom>
            <a:noFill/>
            <a:ln cap="flat" cmpd="sng" w="3810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00"/>
            </a:p>
          </p:txBody>
        </p:sp>
        <p:sp>
          <p:nvSpPr>
            <p:cNvPr id="410" name="Google Shape;410;p49"/>
            <p:cNvSpPr/>
            <p:nvPr/>
          </p:nvSpPr>
          <p:spPr>
            <a:xfrm>
              <a:off x="1265681" y="2701290"/>
              <a:ext cx="1839595" cy="3187065"/>
            </a:xfrm>
            <a:custGeom>
              <a:rect b="b" l="l" r="r" t="t"/>
              <a:pathLst>
                <a:path extrusionOk="0" h="3187065" w="1839595">
                  <a:moveTo>
                    <a:pt x="32004" y="818388"/>
                  </a:moveTo>
                  <a:lnTo>
                    <a:pt x="1839468" y="818388"/>
                  </a:lnTo>
                  <a:lnTo>
                    <a:pt x="1839468" y="0"/>
                  </a:lnTo>
                  <a:lnTo>
                    <a:pt x="32004" y="0"/>
                  </a:lnTo>
                  <a:lnTo>
                    <a:pt x="32004" y="818388"/>
                  </a:lnTo>
                  <a:close/>
                </a:path>
                <a:path extrusionOk="0" h="3187065" w="1839595">
                  <a:moveTo>
                    <a:pt x="135636" y="155448"/>
                  </a:moveTo>
                  <a:lnTo>
                    <a:pt x="184404" y="155448"/>
                  </a:lnTo>
                  <a:lnTo>
                    <a:pt x="184404" y="109727"/>
                  </a:lnTo>
                  <a:lnTo>
                    <a:pt x="135636" y="109727"/>
                  </a:lnTo>
                  <a:lnTo>
                    <a:pt x="135636" y="155448"/>
                  </a:lnTo>
                  <a:close/>
                </a:path>
                <a:path extrusionOk="0" h="3187065" w="1839595">
                  <a:moveTo>
                    <a:pt x="135636" y="307848"/>
                  </a:moveTo>
                  <a:lnTo>
                    <a:pt x="184404" y="307848"/>
                  </a:lnTo>
                  <a:lnTo>
                    <a:pt x="184404" y="262127"/>
                  </a:lnTo>
                  <a:lnTo>
                    <a:pt x="135636" y="262127"/>
                  </a:lnTo>
                  <a:lnTo>
                    <a:pt x="135636" y="307848"/>
                  </a:lnTo>
                  <a:close/>
                </a:path>
                <a:path extrusionOk="0" h="3187065" w="1839595">
                  <a:moveTo>
                    <a:pt x="137159" y="460248"/>
                  </a:moveTo>
                  <a:lnTo>
                    <a:pt x="187451" y="460248"/>
                  </a:lnTo>
                  <a:lnTo>
                    <a:pt x="187451" y="414527"/>
                  </a:lnTo>
                  <a:lnTo>
                    <a:pt x="137159" y="414527"/>
                  </a:lnTo>
                  <a:lnTo>
                    <a:pt x="137159" y="460248"/>
                  </a:lnTo>
                  <a:close/>
                </a:path>
                <a:path extrusionOk="0" h="3187065" w="1839595">
                  <a:moveTo>
                    <a:pt x="16764" y="2002536"/>
                  </a:moveTo>
                  <a:lnTo>
                    <a:pt x="1824228" y="2002536"/>
                  </a:lnTo>
                  <a:lnTo>
                    <a:pt x="1824228" y="1184148"/>
                  </a:lnTo>
                  <a:lnTo>
                    <a:pt x="16764" y="1184148"/>
                  </a:lnTo>
                  <a:lnTo>
                    <a:pt x="16764" y="2002536"/>
                  </a:lnTo>
                  <a:close/>
                </a:path>
                <a:path extrusionOk="0" h="3187065" w="1839595">
                  <a:moveTo>
                    <a:pt x="118872" y="1339596"/>
                  </a:moveTo>
                  <a:lnTo>
                    <a:pt x="169163" y="1339596"/>
                  </a:lnTo>
                  <a:lnTo>
                    <a:pt x="169163" y="1293876"/>
                  </a:lnTo>
                  <a:lnTo>
                    <a:pt x="118872" y="1293876"/>
                  </a:lnTo>
                  <a:lnTo>
                    <a:pt x="118872" y="1339596"/>
                  </a:lnTo>
                  <a:close/>
                </a:path>
                <a:path extrusionOk="0" h="3187065" w="1839595">
                  <a:moveTo>
                    <a:pt x="118872" y="1491996"/>
                  </a:moveTo>
                  <a:lnTo>
                    <a:pt x="169163" y="1491996"/>
                  </a:lnTo>
                  <a:lnTo>
                    <a:pt x="169163" y="1446276"/>
                  </a:lnTo>
                  <a:lnTo>
                    <a:pt x="118872" y="1446276"/>
                  </a:lnTo>
                  <a:lnTo>
                    <a:pt x="118872" y="1491996"/>
                  </a:lnTo>
                  <a:close/>
                </a:path>
                <a:path extrusionOk="0" h="3187065" w="1839595">
                  <a:moveTo>
                    <a:pt x="120396" y="1644396"/>
                  </a:moveTo>
                  <a:lnTo>
                    <a:pt x="170687" y="1644396"/>
                  </a:lnTo>
                  <a:lnTo>
                    <a:pt x="170687" y="1598676"/>
                  </a:lnTo>
                  <a:lnTo>
                    <a:pt x="120396" y="1598676"/>
                  </a:lnTo>
                  <a:lnTo>
                    <a:pt x="120396" y="1644396"/>
                  </a:lnTo>
                  <a:close/>
                </a:path>
                <a:path extrusionOk="0" h="3187065" w="1839595">
                  <a:moveTo>
                    <a:pt x="0" y="3186684"/>
                  </a:moveTo>
                  <a:lnTo>
                    <a:pt x="1807464" y="3186684"/>
                  </a:lnTo>
                  <a:lnTo>
                    <a:pt x="1807464" y="2368296"/>
                  </a:lnTo>
                  <a:lnTo>
                    <a:pt x="0" y="2368296"/>
                  </a:lnTo>
                  <a:lnTo>
                    <a:pt x="0" y="3186684"/>
                  </a:lnTo>
                  <a:close/>
                </a:path>
                <a:path extrusionOk="0" h="3187065" w="1839595">
                  <a:moveTo>
                    <a:pt x="103631" y="2523744"/>
                  </a:moveTo>
                  <a:lnTo>
                    <a:pt x="152400" y="2523744"/>
                  </a:lnTo>
                  <a:lnTo>
                    <a:pt x="152400" y="2478024"/>
                  </a:lnTo>
                  <a:lnTo>
                    <a:pt x="103631" y="2478024"/>
                  </a:lnTo>
                  <a:lnTo>
                    <a:pt x="103631" y="2523744"/>
                  </a:lnTo>
                  <a:close/>
                </a:path>
                <a:path extrusionOk="0" h="3187065" w="1839595">
                  <a:moveTo>
                    <a:pt x="103631" y="2676144"/>
                  </a:moveTo>
                  <a:lnTo>
                    <a:pt x="152400" y="2676144"/>
                  </a:lnTo>
                  <a:lnTo>
                    <a:pt x="152400" y="2630424"/>
                  </a:lnTo>
                  <a:lnTo>
                    <a:pt x="103631" y="2630424"/>
                  </a:lnTo>
                  <a:lnTo>
                    <a:pt x="103631" y="2676144"/>
                  </a:lnTo>
                  <a:close/>
                </a:path>
                <a:path extrusionOk="0" h="3187065" w="1839595">
                  <a:moveTo>
                    <a:pt x="105156" y="2828544"/>
                  </a:moveTo>
                  <a:lnTo>
                    <a:pt x="155447" y="2828544"/>
                  </a:lnTo>
                  <a:lnTo>
                    <a:pt x="155447" y="2782824"/>
                  </a:lnTo>
                  <a:lnTo>
                    <a:pt x="105156" y="2782824"/>
                  </a:lnTo>
                  <a:lnTo>
                    <a:pt x="105156" y="2828544"/>
                  </a:lnTo>
                  <a:close/>
                </a:path>
              </a:pathLst>
            </a:custGeom>
            <a:noFill/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00"/>
            </a:p>
          </p:txBody>
        </p:sp>
        <p:sp>
          <p:nvSpPr>
            <p:cNvPr id="411" name="Google Shape;411;p49"/>
            <p:cNvSpPr/>
            <p:nvPr/>
          </p:nvSpPr>
          <p:spPr>
            <a:xfrm>
              <a:off x="3941825" y="2393442"/>
              <a:ext cx="2243455" cy="4018915"/>
            </a:xfrm>
            <a:custGeom>
              <a:rect b="b" l="l" r="r" t="t"/>
              <a:pathLst>
                <a:path extrusionOk="0" h="4018915" w="2243454">
                  <a:moveTo>
                    <a:pt x="0" y="4018788"/>
                  </a:moveTo>
                  <a:lnTo>
                    <a:pt x="2243328" y="4018788"/>
                  </a:lnTo>
                  <a:lnTo>
                    <a:pt x="2243328" y="0"/>
                  </a:lnTo>
                  <a:lnTo>
                    <a:pt x="0" y="0"/>
                  </a:lnTo>
                  <a:lnTo>
                    <a:pt x="0" y="4018788"/>
                  </a:lnTo>
                  <a:close/>
                </a:path>
              </a:pathLst>
            </a:custGeom>
            <a:noFill/>
            <a:ln cap="flat" cmpd="sng" w="3810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00"/>
            </a:p>
          </p:txBody>
        </p:sp>
        <p:sp>
          <p:nvSpPr>
            <p:cNvPr id="412" name="Google Shape;412;p49"/>
            <p:cNvSpPr/>
            <p:nvPr/>
          </p:nvSpPr>
          <p:spPr>
            <a:xfrm>
              <a:off x="4142993" y="2701290"/>
              <a:ext cx="1839595" cy="3187065"/>
            </a:xfrm>
            <a:custGeom>
              <a:rect b="b" l="l" r="r" t="t"/>
              <a:pathLst>
                <a:path extrusionOk="0" h="3187065" w="1839595">
                  <a:moveTo>
                    <a:pt x="32003" y="818388"/>
                  </a:moveTo>
                  <a:lnTo>
                    <a:pt x="1839467" y="818388"/>
                  </a:lnTo>
                  <a:lnTo>
                    <a:pt x="1839467" y="0"/>
                  </a:lnTo>
                  <a:lnTo>
                    <a:pt x="32003" y="0"/>
                  </a:lnTo>
                  <a:lnTo>
                    <a:pt x="32003" y="818388"/>
                  </a:lnTo>
                  <a:close/>
                </a:path>
                <a:path extrusionOk="0" h="3187065" w="1839595">
                  <a:moveTo>
                    <a:pt x="135635" y="155448"/>
                  </a:moveTo>
                  <a:lnTo>
                    <a:pt x="184403" y="155448"/>
                  </a:lnTo>
                  <a:lnTo>
                    <a:pt x="184403" y="109727"/>
                  </a:lnTo>
                  <a:lnTo>
                    <a:pt x="135635" y="109727"/>
                  </a:lnTo>
                  <a:lnTo>
                    <a:pt x="135635" y="155448"/>
                  </a:lnTo>
                  <a:close/>
                </a:path>
                <a:path extrusionOk="0" h="3187065" w="1839595">
                  <a:moveTo>
                    <a:pt x="135635" y="307848"/>
                  </a:moveTo>
                  <a:lnTo>
                    <a:pt x="184403" y="307848"/>
                  </a:lnTo>
                  <a:lnTo>
                    <a:pt x="184403" y="262127"/>
                  </a:lnTo>
                  <a:lnTo>
                    <a:pt x="135635" y="262127"/>
                  </a:lnTo>
                  <a:lnTo>
                    <a:pt x="135635" y="307848"/>
                  </a:lnTo>
                  <a:close/>
                </a:path>
                <a:path extrusionOk="0" h="3187065" w="1839595">
                  <a:moveTo>
                    <a:pt x="137159" y="460248"/>
                  </a:moveTo>
                  <a:lnTo>
                    <a:pt x="187451" y="460248"/>
                  </a:lnTo>
                  <a:lnTo>
                    <a:pt x="187451" y="414527"/>
                  </a:lnTo>
                  <a:lnTo>
                    <a:pt x="137159" y="414527"/>
                  </a:lnTo>
                  <a:lnTo>
                    <a:pt x="137159" y="460248"/>
                  </a:lnTo>
                  <a:close/>
                </a:path>
                <a:path extrusionOk="0" h="3187065" w="1839595">
                  <a:moveTo>
                    <a:pt x="16763" y="2002536"/>
                  </a:moveTo>
                  <a:lnTo>
                    <a:pt x="1824227" y="2002536"/>
                  </a:lnTo>
                  <a:lnTo>
                    <a:pt x="1824227" y="1184148"/>
                  </a:lnTo>
                  <a:lnTo>
                    <a:pt x="16763" y="1184148"/>
                  </a:lnTo>
                  <a:lnTo>
                    <a:pt x="16763" y="2002536"/>
                  </a:lnTo>
                  <a:close/>
                </a:path>
                <a:path extrusionOk="0" h="3187065" w="1839595">
                  <a:moveTo>
                    <a:pt x="118871" y="1339596"/>
                  </a:moveTo>
                  <a:lnTo>
                    <a:pt x="169163" y="1339596"/>
                  </a:lnTo>
                  <a:lnTo>
                    <a:pt x="169163" y="1293876"/>
                  </a:lnTo>
                  <a:lnTo>
                    <a:pt x="118871" y="1293876"/>
                  </a:lnTo>
                  <a:lnTo>
                    <a:pt x="118871" y="1339596"/>
                  </a:lnTo>
                  <a:close/>
                </a:path>
                <a:path extrusionOk="0" h="3187065" w="1839595">
                  <a:moveTo>
                    <a:pt x="118871" y="1491996"/>
                  </a:moveTo>
                  <a:lnTo>
                    <a:pt x="169163" y="1491996"/>
                  </a:lnTo>
                  <a:lnTo>
                    <a:pt x="169163" y="1446276"/>
                  </a:lnTo>
                  <a:lnTo>
                    <a:pt x="118871" y="1446276"/>
                  </a:lnTo>
                  <a:lnTo>
                    <a:pt x="118871" y="1491996"/>
                  </a:lnTo>
                  <a:close/>
                </a:path>
                <a:path extrusionOk="0" h="3187065" w="1839595">
                  <a:moveTo>
                    <a:pt x="121919" y="1644396"/>
                  </a:moveTo>
                  <a:lnTo>
                    <a:pt x="170687" y="1644396"/>
                  </a:lnTo>
                  <a:lnTo>
                    <a:pt x="170687" y="1598676"/>
                  </a:lnTo>
                  <a:lnTo>
                    <a:pt x="121919" y="1598676"/>
                  </a:lnTo>
                  <a:lnTo>
                    <a:pt x="121919" y="1644396"/>
                  </a:lnTo>
                  <a:close/>
                </a:path>
                <a:path extrusionOk="0" h="3187065" w="1839595">
                  <a:moveTo>
                    <a:pt x="0" y="3186684"/>
                  </a:moveTo>
                  <a:lnTo>
                    <a:pt x="1807464" y="3186684"/>
                  </a:lnTo>
                  <a:lnTo>
                    <a:pt x="1807464" y="2368296"/>
                  </a:lnTo>
                  <a:lnTo>
                    <a:pt x="0" y="2368296"/>
                  </a:lnTo>
                  <a:lnTo>
                    <a:pt x="0" y="3186684"/>
                  </a:lnTo>
                  <a:close/>
                </a:path>
                <a:path extrusionOk="0" h="3187065" w="1839595">
                  <a:moveTo>
                    <a:pt x="103631" y="2523744"/>
                  </a:moveTo>
                  <a:lnTo>
                    <a:pt x="152399" y="2523744"/>
                  </a:lnTo>
                  <a:lnTo>
                    <a:pt x="152399" y="2478024"/>
                  </a:lnTo>
                  <a:lnTo>
                    <a:pt x="103631" y="2478024"/>
                  </a:lnTo>
                  <a:lnTo>
                    <a:pt x="103631" y="2523744"/>
                  </a:lnTo>
                  <a:close/>
                </a:path>
                <a:path extrusionOk="0" h="3187065" w="1839595">
                  <a:moveTo>
                    <a:pt x="103631" y="2676144"/>
                  </a:moveTo>
                  <a:lnTo>
                    <a:pt x="152399" y="2676144"/>
                  </a:lnTo>
                  <a:lnTo>
                    <a:pt x="152399" y="2630424"/>
                  </a:lnTo>
                  <a:lnTo>
                    <a:pt x="103631" y="2630424"/>
                  </a:lnTo>
                  <a:lnTo>
                    <a:pt x="103631" y="2676144"/>
                  </a:lnTo>
                  <a:close/>
                </a:path>
                <a:path extrusionOk="0" h="3187065" w="1839595">
                  <a:moveTo>
                    <a:pt x="105155" y="2828544"/>
                  </a:moveTo>
                  <a:lnTo>
                    <a:pt x="155447" y="2828544"/>
                  </a:lnTo>
                  <a:lnTo>
                    <a:pt x="155447" y="2782824"/>
                  </a:lnTo>
                  <a:lnTo>
                    <a:pt x="105155" y="2782824"/>
                  </a:lnTo>
                  <a:lnTo>
                    <a:pt x="105155" y="2828544"/>
                  </a:lnTo>
                  <a:close/>
                </a:path>
              </a:pathLst>
            </a:custGeom>
            <a:noFill/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00"/>
            </a:p>
          </p:txBody>
        </p:sp>
        <p:sp>
          <p:nvSpPr>
            <p:cNvPr id="413" name="Google Shape;413;p49"/>
            <p:cNvSpPr/>
            <p:nvPr/>
          </p:nvSpPr>
          <p:spPr>
            <a:xfrm>
              <a:off x="788669" y="2586990"/>
              <a:ext cx="5663565" cy="3418840"/>
            </a:xfrm>
            <a:custGeom>
              <a:rect b="b" l="l" r="r" t="t"/>
              <a:pathLst>
                <a:path extrusionOk="0" h="3418840" w="5663565">
                  <a:moveTo>
                    <a:pt x="0" y="1034796"/>
                  </a:moveTo>
                  <a:lnTo>
                    <a:pt x="5663184" y="1034796"/>
                  </a:lnTo>
                  <a:lnTo>
                    <a:pt x="5663184" y="0"/>
                  </a:lnTo>
                  <a:lnTo>
                    <a:pt x="0" y="0"/>
                  </a:lnTo>
                  <a:lnTo>
                    <a:pt x="0" y="1034796"/>
                  </a:lnTo>
                  <a:close/>
                </a:path>
                <a:path extrusionOk="0" h="3418840" w="5663565">
                  <a:moveTo>
                    <a:pt x="0" y="2226564"/>
                  </a:moveTo>
                  <a:lnTo>
                    <a:pt x="5663184" y="2226564"/>
                  </a:lnTo>
                  <a:lnTo>
                    <a:pt x="5663184" y="1191768"/>
                  </a:lnTo>
                  <a:lnTo>
                    <a:pt x="0" y="1191768"/>
                  </a:lnTo>
                  <a:lnTo>
                    <a:pt x="0" y="2226564"/>
                  </a:lnTo>
                  <a:close/>
                </a:path>
                <a:path extrusionOk="0" h="3418840" w="5663565">
                  <a:moveTo>
                    <a:pt x="0" y="3418332"/>
                  </a:moveTo>
                  <a:lnTo>
                    <a:pt x="5663184" y="3418332"/>
                  </a:lnTo>
                  <a:lnTo>
                    <a:pt x="5663184" y="2385060"/>
                  </a:lnTo>
                  <a:lnTo>
                    <a:pt x="0" y="2385060"/>
                  </a:lnTo>
                  <a:lnTo>
                    <a:pt x="0" y="3418332"/>
                  </a:lnTo>
                  <a:close/>
                </a:path>
              </a:pathLst>
            </a:custGeom>
            <a:noFill/>
            <a:ln cap="flat" cmpd="sng" w="38100">
              <a:solidFill>
                <a:srgbClr val="5382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00"/>
            </a:p>
          </p:txBody>
        </p:sp>
        <p:sp>
          <p:nvSpPr>
            <p:cNvPr id="414" name="Google Shape;414;p49"/>
            <p:cNvSpPr/>
            <p:nvPr/>
          </p:nvSpPr>
          <p:spPr>
            <a:xfrm>
              <a:off x="1565147" y="3934968"/>
              <a:ext cx="1295400" cy="742315"/>
            </a:xfrm>
            <a:custGeom>
              <a:rect b="b" l="l" r="r" t="t"/>
              <a:pathLst>
                <a:path extrusionOk="0" h="742314" w="1295400">
                  <a:moveTo>
                    <a:pt x="1295400" y="0"/>
                  </a:moveTo>
                  <a:lnTo>
                    <a:pt x="0" y="0"/>
                  </a:lnTo>
                  <a:lnTo>
                    <a:pt x="0" y="742187"/>
                  </a:lnTo>
                  <a:lnTo>
                    <a:pt x="1295400" y="742187"/>
                  </a:lnTo>
                  <a:lnTo>
                    <a:pt x="1295400" y="0"/>
                  </a:lnTo>
                  <a:close/>
                </a:path>
              </a:pathLst>
            </a:custGeom>
            <a:solidFill>
              <a:srgbClr val="4471C4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00"/>
            </a:p>
          </p:txBody>
        </p:sp>
        <p:sp>
          <p:nvSpPr>
            <p:cNvPr id="415" name="Google Shape;415;p49"/>
            <p:cNvSpPr/>
            <p:nvPr/>
          </p:nvSpPr>
          <p:spPr>
            <a:xfrm>
              <a:off x="1565147" y="3934968"/>
              <a:ext cx="1295400" cy="742315"/>
            </a:xfrm>
            <a:custGeom>
              <a:rect b="b" l="l" r="r" t="t"/>
              <a:pathLst>
                <a:path extrusionOk="0" h="742314" w="1295400">
                  <a:moveTo>
                    <a:pt x="0" y="742187"/>
                  </a:moveTo>
                  <a:lnTo>
                    <a:pt x="1295400" y="742187"/>
                  </a:lnTo>
                  <a:lnTo>
                    <a:pt x="1295400" y="0"/>
                  </a:lnTo>
                  <a:lnTo>
                    <a:pt x="0" y="0"/>
                  </a:lnTo>
                  <a:lnTo>
                    <a:pt x="0" y="742187"/>
                  </a:lnTo>
                  <a:close/>
                </a:path>
              </a:pathLst>
            </a:custGeom>
            <a:noFill/>
            <a:ln cap="flat" cmpd="sng" w="12700">
              <a:solidFill>
                <a:srgbClr val="2E528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00"/>
            </a:p>
          </p:txBody>
        </p:sp>
      </p:grpSp>
      <p:pic>
        <p:nvPicPr>
          <p:cNvPr id="416" name="Google Shape;416;p4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170892" y="1435799"/>
            <a:ext cx="116681" cy="150019"/>
          </a:xfrm>
          <a:prstGeom prst="rect">
            <a:avLst/>
          </a:prstGeom>
          <a:noFill/>
          <a:ln>
            <a:noFill/>
          </a:ln>
        </p:spPr>
      </p:pic>
      <p:sp>
        <p:nvSpPr>
          <p:cNvPr id="417" name="Google Shape;417;p49"/>
          <p:cNvSpPr txBox="1"/>
          <p:nvPr/>
        </p:nvSpPr>
        <p:spPr>
          <a:xfrm>
            <a:off x="856640" y="1367122"/>
            <a:ext cx="1517809" cy="2705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Fault Domain	1</a:t>
            </a:r>
            <a:endParaRPr sz="17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8" name="Google Shape;418;p49"/>
          <p:cNvSpPr txBox="1"/>
          <p:nvPr/>
        </p:nvSpPr>
        <p:spPr>
          <a:xfrm>
            <a:off x="2981039" y="1367122"/>
            <a:ext cx="1555432" cy="2705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Fault Domain	2</a:t>
            </a:r>
            <a:endParaRPr sz="17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19" name="Google Shape;419;p4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95290" y="1435799"/>
            <a:ext cx="116681" cy="150019"/>
          </a:xfrm>
          <a:prstGeom prst="rect">
            <a:avLst/>
          </a:prstGeom>
          <a:noFill/>
          <a:ln>
            <a:noFill/>
          </a:ln>
        </p:spPr>
      </p:pic>
      <p:sp>
        <p:nvSpPr>
          <p:cNvPr id="420" name="Google Shape;420;p49"/>
          <p:cNvSpPr txBox="1"/>
          <p:nvPr/>
        </p:nvSpPr>
        <p:spPr>
          <a:xfrm>
            <a:off x="5105209" y="2214943"/>
            <a:ext cx="1700213" cy="2705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538235"/>
                </a:solidFill>
                <a:latin typeface="Arial"/>
                <a:ea typeface="Arial"/>
                <a:cs typeface="Arial"/>
                <a:sym typeface="Arial"/>
              </a:rPr>
              <a:t>Update Domain	1</a:t>
            </a:r>
            <a:endParaRPr sz="17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21" name="Google Shape;421;p4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602729" y="2283619"/>
            <a:ext cx="116681" cy="150019"/>
          </a:xfrm>
          <a:prstGeom prst="rect">
            <a:avLst/>
          </a:prstGeom>
          <a:noFill/>
          <a:ln>
            <a:noFill/>
          </a:ln>
        </p:spPr>
      </p:pic>
      <p:sp>
        <p:nvSpPr>
          <p:cNvPr id="422" name="Google Shape;422;p49"/>
          <p:cNvSpPr txBox="1"/>
          <p:nvPr/>
        </p:nvSpPr>
        <p:spPr>
          <a:xfrm>
            <a:off x="5105209" y="3104197"/>
            <a:ext cx="1738789" cy="2705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538235"/>
                </a:solidFill>
                <a:latin typeface="Arial"/>
                <a:ea typeface="Arial"/>
                <a:cs typeface="Arial"/>
                <a:sym typeface="Arial"/>
              </a:rPr>
              <a:t>Update Domain	2</a:t>
            </a:r>
            <a:endParaRPr sz="17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23" name="Google Shape;423;p4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602729" y="3172872"/>
            <a:ext cx="116681" cy="150019"/>
          </a:xfrm>
          <a:prstGeom prst="rect">
            <a:avLst/>
          </a:prstGeom>
          <a:noFill/>
          <a:ln>
            <a:noFill/>
          </a:ln>
        </p:spPr>
      </p:pic>
      <p:pic>
        <p:nvPicPr>
          <p:cNvPr id="424" name="Google Shape;424;p4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602729" y="4078166"/>
            <a:ext cx="116681" cy="150019"/>
          </a:xfrm>
          <a:prstGeom prst="rect">
            <a:avLst/>
          </a:prstGeom>
          <a:noFill/>
          <a:ln>
            <a:noFill/>
          </a:ln>
        </p:spPr>
      </p:pic>
      <p:sp>
        <p:nvSpPr>
          <p:cNvPr id="425" name="Google Shape;425;p49"/>
          <p:cNvSpPr txBox="1"/>
          <p:nvPr/>
        </p:nvSpPr>
        <p:spPr>
          <a:xfrm>
            <a:off x="5105209" y="4009491"/>
            <a:ext cx="1741646" cy="2705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538235"/>
                </a:solidFill>
                <a:latin typeface="Arial"/>
                <a:ea typeface="Arial"/>
                <a:cs typeface="Arial"/>
                <a:sym typeface="Arial"/>
              </a:rPr>
              <a:t>Update Domain	3</a:t>
            </a:r>
            <a:endParaRPr sz="17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6" name="Google Shape;426;p49"/>
          <p:cNvSpPr txBox="1"/>
          <p:nvPr/>
        </p:nvSpPr>
        <p:spPr>
          <a:xfrm>
            <a:off x="1178623" y="3116771"/>
            <a:ext cx="962025" cy="2247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254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VM	1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27" name="Google Shape;427;p49"/>
          <p:cNvGrpSpPr/>
          <p:nvPr/>
        </p:nvGrpSpPr>
        <p:grpSpPr>
          <a:xfrm>
            <a:off x="1724835" y="2056257"/>
            <a:ext cx="2578560" cy="1241489"/>
            <a:chOff x="2299780" y="2741676"/>
            <a:chExt cx="3438080" cy="1655318"/>
          </a:xfrm>
        </p:grpSpPr>
        <p:pic>
          <p:nvPicPr>
            <p:cNvPr id="428" name="Google Shape;428;p49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2299780" y="4231894"/>
              <a:ext cx="127000" cy="1651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9" name="Google Shape;429;p49"/>
            <p:cNvSpPr/>
            <p:nvPr/>
          </p:nvSpPr>
          <p:spPr>
            <a:xfrm>
              <a:off x="4442460" y="2741676"/>
              <a:ext cx="1295400" cy="742315"/>
            </a:xfrm>
            <a:custGeom>
              <a:rect b="b" l="l" r="r" t="t"/>
              <a:pathLst>
                <a:path extrusionOk="0" h="742314" w="1295400">
                  <a:moveTo>
                    <a:pt x="1295400" y="0"/>
                  </a:moveTo>
                  <a:lnTo>
                    <a:pt x="0" y="0"/>
                  </a:lnTo>
                  <a:lnTo>
                    <a:pt x="0" y="742188"/>
                  </a:lnTo>
                  <a:lnTo>
                    <a:pt x="1295400" y="742188"/>
                  </a:lnTo>
                  <a:lnTo>
                    <a:pt x="1295400" y="0"/>
                  </a:lnTo>
                  <a:close/>
                </a:path>
              </a:pathLst>
            </a:custGeom>
            <a:solidFill>
              <a:srgbClr val="4471C4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00"/>
            </a:p>
          </p:txBody>
        </p:sp>
        <p:pic>
          <p:nvPicPr>
            <p:cNvPr id="430" name="Google Shape;430;p49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5157280" y="3038348"/>
              <a:ext cx="127000" cy="1651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31" name="Google Shape;431;p49"/>
          <p:cNvSpPr txBox="1"/>
          <p:nvPr/>
        </p:nvSpPr>
        <p:spPr>
          <a:xfrm>
            <a:off x="3331844" y="2056257"/>
            <a:ext cx="971550" cy="556736"/>
          </a:xfrm>
          <a:prstGeom prst="rect">
            <a:avLst/>
          </a:prstGeom>
          <a:noFill/>
          <a:ln cap="flat" cmpd="sng" w="12700">
            <a:solidFill>
              <a:srgbClr val="2E52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174775">
            <a:spAutoFit/>
          </a:bodyPr>
          <a:lstStyle/>
          <a:p>
            <a:pPr indent="0" lvl="0" marL="254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VM	2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50"/>
          <p:cNvSpPr txBox="1"/>
          <p:nvPr>
            <p:ph type="title"/>
          </p:nvPr>
        </p:nvSpPr>
        <p:spPr>
          <a:xfrm>
            <a:off x="158039" y="78961"/>
            <a:ext cx="7938135" cy="12148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Without Availability Set…</a:t>
            </a:r>
            <a:endParaRPr/>
          </a:p>
        </p:txBody>
      </p:sp>
      <p:grpSp>
        <p:nvGrpSpPr>
          <p:cNvPr id="437" name="Google Shape;437;p50"/>
          <p:cNvGrpSpPr/>
          <p:nvPr/>
        </p:nvGrpSpPr>
        <p:grpSpPr>
          <a:xfrm>
            <a:off x="591502" y="1795081"/>
            <a:ext cx="4247674" cy="3014186"/>
            <a:chOff x="788669" y="2393442"/>
            <a:chExt cx="5663565" cy="4018915"/>
          </a:xfrm>
        </p:grpSpPr>
        <p:sp>
          <p:nvSpPr>
            <p:cNvPr id="438" name="Google Shape;438;p50"/>
            <p:cNvSpPr/>
            <p:nvPr/>
          </p:nvSpPr>
          <p:spPr>
            <a:xfrm>
              <a:off x="1064513" y="2393442"/>
              <a:ext cx="2243455" cy="4018915"/>
            </a:xfrm>
            <a:custGeom>
              <a:rect b="b" l="l" r="r" t="t"/>
              <a:pathLst>
                <a:path extrusionOk="0" h="4018915" w="2243454">
                  <a:moveTo>
                    <a:pt x="0" y="4018788"/>
                  </a:moveTo>
                  <a:lnTo>
                    <a:pt x="2243328" y="4018788"/>
                  </a:lnTo>
                  <a:lnTo>
                    <a:pt x="2243328" y="0"/>
                  </a:lnTo>
                  <a:lnTo>
                    <a:pt x="0" y="0"/>
                  </a:lnTo>
                  <a:lnTo>
                    <a:pt x="0" y="4018788"/>
                  </a:lnTo>
                  <a:close/>
                </a:path>
              </a:pathLst>
            </a:custGeom>
            <a:noFill/>
            <a:ln cap="flat" cmpd="sng" w="3810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00"/>
            </a:p>
          </p:txBody>
        </p:sp>
        <p:sp>
          <p:nvSpPr>
            <p:cNvPr id="439" name="Google Shape;439;p50"/>
            <p:cNvSpPr/>
            <p:nvPr/>
          </p:nvSpPr>
          <p:spPr>
            <a:xfrm>
              <a:off x="1265681" y="2701290"/>
              <a:ext cx="1839595" cy="3187065"/>
            </a:xfrm>
            <a:custGeom>
              <a:rect b="b" l="l" r="r" t="t"/>
              <a:pathLst>
                <a:path extrusionOk="0" h="3187065" w="1839595">
                  <a:moveTo>
                    <a:pt x="32004" y="818388"/>
                  </a:moveTo>
                  <a:lnTo>
                    <a:pt x="1839468" y="818388"/>
                  </a:lnTo>
                  <a:lnTo>
                    <a:pt x="1839468" y="0"/>
                  </a:lnTo>
                  <a:lnTo>
                    <a:pt x="32004" y="0"/>
                  </a:lnTo>
                  <a:lnTo>
                    <a:pt x="32004" y="818388"/>
                  </a:lnTo>
                  <a:close/>
                </a:path>
                <a:path extrusionOk="0" h="3187065" w="1839595">
                  <a:moveTo>
                    <a:pt x="135636" y="155448"/>
                  </a:moveTo>
                  <a:lnTo>
                    <a:pt x="184404" y="155448"/>
                  </a:lnTo>
                  <a:lnTo>
                    <a:pt x="184404" y="109727"/>
                  </a:lnTo>
                  <a:lnTo>
                    <a:pt x="135636" y="109727"/>
                  </a:lnTo>
                  <a:lnTo>
                    <a:pt x="135636" y="155448"/>
                  </a:lnTo>
                  <a:close/>
                </a:path>
                <a:path extrusionOk="0" h="3187065" w="1839595">
                  <a:moveTo>
                    <a:pt x="135636" y="307848"/>
                  </a:moveTo>
                  <a:lnTo>
                    <a:pt x="184404" y="307848"/>
                  </a:lnTo>
                  <a:lnTo>
                    <a:pt x="184404" y="262127"/>
                  </a:lnTo>
                  <a:lnTo>
                    <a:pt x="135636" y="262127"/>
                  </a:lnTo>
                  <a:lnTo>
                    <a:pt x="135636" y="307848"/>
                  </a:lnTo>
                  <a:close/>
                </a:path>
                <a:path extrusionOk="0" h="3187065" w="1839595">
                  <a:moveTo>
                    <a:pt x="137159" y="460248"/>
                  </a:moveTo>
                  <a:lnTo>
                    <a:pt x="187451" y="460248"/>
                  </a:lnTo>
                  <a:lnTo>
                    <a:pt x="187451" y="414527"/>
                  </a:lnTo>
                  <a:lnTo>
                    <a:pt x="137159" y="414527"/>
                  </a:lnTo>
                  <a:lnTo>
                    <a:pt x="137159" y="460248"/>
                  </a:lnTo>
                  <a:close/>
                </a:path>
                <a:path extrusionOk="0" h="3187065" w="1839595">
                  <a:moveTo>
                    <a:pt x="16764" y="2002536"/>
                  </a:moveTo>
                  <a:lnTo>
                    <a:pt x="1824228" y="2002536"/>
                  </a:lnTo>
                  <a:lnTo>
                    <a:pt x="1824228" y="1184148"/>
                  </a:lnTo>
                  <a:lnTo>
                    <a:pt x="16764" y="1184148"/>
                  </a:lnTo>
                  <a:lnTo>
                    <a:pt x="16764" y="2002536"/>
                  </a:lnTo>
                  <a:close/>
                </a:path>
                <a:path extrusionOk="0" h="3187065" w="1839595">
                  <a:moveTo>
                    <a:pt x="118872" y="1339596"/>
                  </a:moveTo>
                  <a:lnTo>
                    <a:pt x="169163" y="1339596"/>
                  </a:lnTo>
                  <a:lnTo>
                    <a:pt x="169163" y="1293876"/>
                  </a:lnTo>
                  <a:lnTo>
                    <a:pt x="118872" y="1293876"/>
                  </a:lnTo>
                  <a:lnTo>
                    <a:pt x="118872" y="1339596"/>
                  </a:lnTo>
                  <a:close/>
                </a:path>
                <a:path extrusionOk="0" h="3187065" w="1839595">
                  <a:moveTo>
                    <a:pt x="118872" y="1491996"/>
                  </a:moveTo>
                  <a:lnTo>
                    <a:pt x="169163" y="1491996"/>
                  </a:lnTo>
                  <a:lnTo>
                    <a:pt x="169163" y="1446276"/>
                  </a:lnTo>
                  <a:lnTo>
                    <a:pt x="118872" y="1446276"/>
                  </a:lnTo>
                  <a:lnTo>
                    <a:pt x="118872" y="1491996"/>
                  </a:lnTo>
                  <a:close/>
                </a:path>
                <a:path extrusionOk="0" h="3187065" w="1839595">
                  <a:moveTo>
                    <a:pt x="120396" y="1644396"/>
                  </a:moveTo>
                  <a:lnTo>
                    <a:pt x="170687" y="1644396"/>
                  </a:lnTo>
                  <a:lnTo>
                    <a:pt x="170687" y="1598676"/>
                  </a:lnTo>
                  <a:lnTo>
                    <a:pt x="120396" y="1598676"/>
                  </a:lnTo>
                  <a:lnTo>
                    <a:pt x="120396" y="1644396"/>
                  </a:lnTo>
                  <a:close/>
                </a:path>
                <a:path extrusionOk="0" h="3187065" w="1839595">
                  <a:moveTo>
                    <a:pt x="0" y="3186684"/>
                  </a:moveTo>
                  <a:lnTo>
                    <a:pt x="1807464" y="3186684"/>
                  </a:lnTo>
                  <a:lnTo>
                    <a:pt x="1807464" y="2368296"/>
                  </a:lnTo>
                  <a:lnTo>
                    <a:pt x="0" y="2368296"/>
                  </a:lnTo>
                  <a:lnTo>
                    <a:pt x="0" y="3186684"/>
                  </a:lnTo>
                  <a:close/>
                </a:path>
                <a:path extrusionOk="0" h="3187065" w="1839595">
                  <a:moveTo>
                    <a:pt x="103631" y="2523744"/>
                  </a:moveTo>
                  <a:lnTo>
                    <a:pt x="152400" y="2523744"/>
                  </a:lnTo>
                  <a:lnTo>
                    <a:pt x="152400" y="2478024"/>
                  </a:lnTo>
                  <a:lnTo>
                    <a:pt x="103631" y="2478024"/>
                  </a:lnTo>
                  <a:lnTo>
                    <a:pt x="103631" y="2523744"/>
                  </a:lnTo>
                  <a:close/>
                </a:path>
                <a:path extrusionOk="0" h="3187065" w="1839595">
                  <a:moveTo>
                    <a:pt x="103631" y="2676144"/>
                  </a:moveTo>
                  <a:lnTo>
                    <a:pt x="152400" y="2676144"/>
                  </a:lnTo>
                  <a:lnTo>
                    <a:pt x="152400" y="2630424"/>
                  </a:lnTo>
                  <a:lnTo>
                    <a:pt x="103631" y="2630424"/>
                  </a:lnTo>
                  <a:lnTo>
                    <a:pt x="103631" y="2676144"/>
                  </a:lnTo>
                  <a:close/>
                </a:path>
                <a:path extrusionOk="0" h="3187065" w="1839595">
                  <a:moveTo>
                    <a:pt x="105156" y="2828544"/>
                  </a:moveTo>
                  <a:lnTo>
                    <a:pt x="155447" y="2828544"/>
                  </a:lnTo>
                  <a:lnTo>
                    <a:pt x="155447" y="2782824"/>
                  </a:lnTo>
                  <a:lnTo>
                    <a:pt x="105156" y="2782824"/>
                  </a:lnTo>
                  <a:lnTo>
                    <a:pt x="105156" y="2828544"/>
                  </a:lnTo>
                  <a:close/>
                </a:path>
              </a:pathLst>
            </a:custGeom>
            <a:noFill/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00"/>
            </a:p>
          </p:txBody>
        </p:sp>
        <p:sp>
          <p:nvSpPr>
            <p:cNvPr id="440" name="Google Shape;440;p50"/>
            <p:cNvSpPr/>
            <p:nvPr/>
          </p:nvSpPr>
          <p:spPr>
            <a:xfrm>
              <a:off x="3941825" y="2393442"/>
              <a:ext cx="2243455" cy="4018915"/>
            </a:xfrm>
            <a:custGeom>
              <a:rect b="b" l="l" r="r" t="t"/>
              <a:pathLst>
                <a:path extrusionOk="0" h="4018915" w="2243454">
                  <a:moveTo>
                    <a:pt x="0" y="4018788"/>
                  </a:moveTo>
                  <a:lnTo>
                    <a:pt x="2243328" y="4018788"/>
                  </a:lnTo>
                  <a:lnTo>
                    <a:pt x="2243328" y="0"/>
                  </a:lnTo>
                  <a:lnTo>
                    <a:pt x="0" y="0"/>
                  </a:lnTo>
                  <a:lnTo>
                    <a:pt x="0" y="4018788"/>
                  </a:lnTo>
                  <a:close/>
                </a:path>
              </a:pathLst>
            </a:custGeom>
            <a:noFill/>
            <a:ln cap="flat" cmpd="sng" w="3810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00"/>
            </a:p>
          </p:txBody>
        </p:sp>
        <p:sp>
          <p:nvSpPr>
            <p:cNvPr id="441" name="Google Shape;441;p50"/>
            <p:cNvSpPr/>
            <p:nvPr/>
          </p:nvSpPr>
          <p:spPr>
            <a:xfrm>
              <a:off x="4142993" y="2701290"/>
              <a:ext cx="1839595" cy="3187065"/>
            </a:xfrm>
            <a:custGeom>
              <a:rect b="b" l="l" r="r" t="t"/>
              <a:pathLst>
                <a:path extrusionOk="0" h="3187065" w="1839595">
                  <a:moveTo>
                    <a:pt x="32003" y="818388"/>
                  </a:moveTo>
                  <a:lnTo>
                    <a:pt x="1839467" y="818388"/>
                  </a:lnTo>
                  <a:lnTo>
                    <a:pt x="1839467" y="0"/>
                  </a:lnTo>
                  <a:lnTo>
                    <a:pt x="32003" y="0"/>
                  </a:lnTo>
                  <a:lnTo>
                    <a:pt x="32003" y="818388"/>
                  </a:lnTo>
                  <a:close/>
                </a:path>
                <a:path extrusionOk="0" h="3187065" w="1839595">
                  <a:moveTo>
                    <a:pt x="135635" y="155448"/>
                  </a:moveTo>
                  <a:lnTo>
                    <a:pt x="184403" y="155448"/>
                  </a:lnTo>
                  <a:lnTo>
                    <a:pt x="184403" y="109727"/>
                  </a:lnTo>
                  <a:lnTo>
                    <a:pt x="135635" y="109727"/>
                  </a:lnTo>
                  <a:lnTo>
                    <a:pt x="135635" y="155448"/>
                  </a:lnTo>
                  <a:close/>
                </a:path>
                <a:path extrusionOk="0" h="3187065" w="1839595">
                  <a:moveTo>
                    <a:pt x="135635" y="307848"/>
                  </a:moveTo>
                  <a:lnTo>
                    <a:pt x="184403" y="307848"/>
                  </a:lnTo>
                  <a:lnTo>
                    <a:pt x="184403" y="262127"/>
                  </a:lnTo>
                  <a:lnTo>
                    <a:pt x="135635" y="262127"/>
                  </a:lnTo>
                  <a:lnTo>
                    <a:pt x="135635" y="307848"/>
                  </a:lnTo>
                  <a:close/>
                </a:path>
                <a:path extrusionOk="0" h="3187065" w="1839595">
                  <a:moveTo>
                    <a:pt x="137159" y="460248"/>
                  </a:moveTo>
                  <a:lnTo>
                    <a:pt x="187451" y="460248"/>
                  </a:lnTo>
                  <a:lnTo>
                    <a:pt x="187451" y="414527"/>
                  </a:lnTo>
                  <a:lnTo>
                    <a:pt x="137159" y="414527"/>
                  </a:lnTo>
                  <a:lnTo>
                    <a:pt x="137159" y="460248"/>
                  </a:lnTo>
                  <a:close/>
                </a:path>
                <a:path extrusionOk="0" h="3187065" w="1839595">
                  <a:moveTo>
                    <a:pt x="16763" y="2002536"/>
                  </a:moveTo>
                  <a:lnTo>
                    <a:pt x="1824227" y="2002536"/>
                  </a:lnTo>
                  <a:lnTo>
                    <a:pt x="1824227" y="1184148"/>
                  </a:lnTo>
                  <a:lnTo>
                    <a:pt x="16763" y="1184148"/>
                  </a:lnTo>
                  <a:lnTo>
                    <a:pt x="16763" y="2002536"/>
                  </a:lnTo>
                  <a:close/>
                </a:path>
                <a:path extrusionOk="0" h="3187065" w="1839595">
                  <a:moveTo>
                    <a:pt x="118871" y="1339596"/>
                  </a:moveTo>
                  <a:lnTo>
                    <a:pt x="169163" y="1339596"/>
                  </a:lnTo>
                  <a:lnTo>
                    <a:pt x="169163" y="1293876"/>
                  </a:lnTo>
                  <a:lnTo>
                    <a:pt x="118871" y="1293876"/>
                  </a:lnTo>
                  <a:lnTo>
                    <a:pt x="118871" y="1339596"/>
                  </a:lnTo>
                  <a:close/>
                </a:path>
                <a:path extrusionOk="0" h="3187065" w="1839595">
                  <a:moveTo>
                    <a:pt x="118871" y="1491996"/>
                  </a:moveTo>
                  <a:lnTo>
                    <a:pt x="169163" y="1491996"/>
                  </a:lnTo>
                  <a:lnTo>
                    <a:pt x="169163" y="1446276"/>
                  </a:lnTo>
                  <a:lnTo>
                    <a:pt x="118871" y="1446276"/>
                  </a:lnTo>
                  <a:lnTo>
                    <a:pt x="118871" y="1491996"/>
                  </a:lnTo>
                  <a:close/>
                </a:path>
                <a:path extrusionOk="0" h="3187065" w="1839595">
                  <a:moveTo>
                    <a:pt x="121919" y="1644396"/>
                  </a:moveTo>
                  <a:lnTo>
                    <a:pt x="170687" y="1644396"/>
                  </a:lnTo>
                  <a:lnTo>
                    <a:pt x="170687" y="1598676"/>
                  </a:lnTo>
                  <a:lnTo>
                    <a:pt x="121919" y="1598676"/>
                  </a:lnTo>
                  <a:lnTo>
                    <a:pt x="121919" y="1644396"/>
                  </a:lnTo>
                  <a:close/>
                </a:path>
                <a:path extrusionOk="0" h="3187065" w="1839595">
                  <a:moveTo>
                    <a:pt x="0" y="3186684"/>
                  </a:moveTo>
                  <a:lnTo>
                    <a:pt x="1807464" y="3186684"/>
                  </a:lnTo>
                  <a:lnTo>
                    <a:pt x="1807464" y="2368296"/>
                  </a:lnTo>
                  <a:lnTo>
                    <a:pt x="0" y="2368296"/>
                  </a:lnTo>
                  <a:lnTo>
                    <a:pt x="0" y="3186684"/>
                  </a:lnTo>
                  <a:close/>
                </a:path>
                <a:path extrusionOk="0" h="3187065" w="1839595">
                  <a:moveTo>
                    <a:pt x="103631" y="2523744"/>
                  </a:moveTo>
                  <a:lnTo>
                    <a:pt x="152399" y="2523744"/>
                  </a:lnTo>
                  <a:lnTo>
                    <a:pt x="152399" y="2478024"/>
                  </a:lnTo>
                  <a:lnTo>
                    <a:pt x="103631" y="2478024"/>
                  </a:lnTo>
                  <a:lnTo>
                    <a:pt x="103631" y="2523744"/>
                  </a:lnTo>
                  <a:close/>
                </a:path>
                <a:path extrusionOk="0" h="3187065" w="1839595">
                  <a:moveTo>
                    <a:pt x="103631" y="2676144"/>
                  </a:moveTo>
                  <a:lnTo>
                    <a:pt x="152399" y="2676144"/>
                  </a:lnTo>
                  <a:lnTo>
                    <a:pt x="152399" y="2630424"/>
                  </a:lnTo>
                  <a:lnTo>
                    <a:pt x="103631" y="2630424"/>
                  </a:lnTo>
                  <a:lnTo>
                    <a:pt x="103631" y="2676144"/>
                  </a:lnTo>
                  <a:close/>
                </a:path>
                <a:path extrusionOk="0" h="3187065" w="1839595">
                  <a:moveTo>
                    <a:pt x="105155" y="2828544"/>
                  </a:moveTo>
                  <a:lnTo>
                    <a:pt x="155447" y="2828544"/>
                  </a:lnTo>
                  <a:lnTo>
                    <a:pt x="155447" y="2782824"/>
                  </a:lnTo>
                  <a:lnTo>
                    <a:pt x="105155" y="2782824"/>
                  </a:lnTo>
                  <a:lnTo>
                    <a:pt x="105155" y="2828544"/>
                  </a:lnTo>
                  <a:close/>
                </a:path>
              </a:pathLst>
            </a:custGeom>
            <a:noFill/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00"/>
            </a:p>
          </p:txBody>
        </p:sp>
        <p:sp>
          <p:nvSpPr>
            <p:cNvPr id="442" name="Google Shape;442;p50"/>
            <p:cNvSpPr/>
            <p:nvPr/>
          </p:nvSpPr>
          <p:spPr>
            <a:xfrm>
              <a:off x="788669" y="2586990"/>
              <a:ext cx="5663565" cy="3418840"/>
            </a:xfrm>
            <a:custGeom>
              <a:rect b="b" l="l" r="r" t="t"/>
              <a:pathLst>
                <a:path extrusionOk="0" h="3418840" w="5663565">
                  <a:moveTo>
                    <a:pt x="0" y="1034796"/>
                  </a:moveTo>
                  <a:lnTo>
                    <a:pt x="5663184" y="1034796"/>
                  </a:lnTo>
                  <a:lnTo>
                    <a:pt x="5663184" y="0"/>
                  </a:lnTo>
                  <a:lnTo>
                    <a:pt x="0" y="0"/>
                  </a:lnTo>
                  <a:lnTo>
                    <a:pt x="0" y="1034796"/>
                  </a:lnTo>
                  <a:close/>
                </a:path>
                <a:path extrusionOk="0" h="3418840" w="5663565">
                  <a:moveTo>
                    <a:pt x="0" y="2226564"/>
                  </a:moveTo>
                  <a:lnTo>
                    <a:pt x="5663184" y="2226564"/>
                  </a:lnTo>
                  <a:lnTo>
                    <a:pt x="5663184" y="1191768"/>
                  </a:lnTo>
                  <a:lnTo>
                    <a:pt x="0" y="1191768"/>
                  </a:lnTo>
                  <a:lnTo>
                    <a:pt x="0" y="2226564"/>
                  </a:lnTo>
                  <a:close/>
                </a:path>
                <a:path extrusionOk="0" h="3418840" w="5663565">
                  <a:moveTo>
                    <a:pt x="0" y="3418332"/>
                  </a:moveTo>
                  <a:lnTo>
                    <a:pt x="5663184" y="3418332"/>
                  </a:lnTo>
                  <a:lnTo>
                    <a:pt x="5663184" y="2385060"/>
                  </a:lnTo>
                  <a:lnTo>
                    <a:pt x="0" y="2385060"/>
                  </a:lnTo>
                  <a:lnTo>
                    <a:pt x="0" y="3418332"/>
                  </a:lnTo>
                  <a:close/>
                </a:path>
              </a:pathLst>
            </a:custGeom>
            <a:noFill/>
            <a:ln cap="flat" cmpd="sng" w="38100">
              <a:solidFill>
                <a:srgbClr val="5382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00"/>
            </a:p>
          </p:txBody>
        </p:sp>
        <p:sp>
          <p:nvSpPr>
            <p:cNvPr id="443" name="Google Shape;443;p50"/>
            <p:cNvSpPr/>
            <p:nvPr/>
          </p:nvSpPr>
          <p:spPr>
            <a:xfrm>
              <a:off x="1565147" y="3934968"/>
              <a:ext cx="1295400" cy="742315"/>
            </a:xfrm>
            <a:custGeom>
              <a:rect b="b" l="l" r="r" t="t"/>
              <a:pathLst>
                <a:path extrusionOk="0" h="742314" w="1295400">
                  <a:moveTo>
                    <a:pt x="1295400" y="0"/>
                  </a:moveTo>
                  <a:lnTo>
                    <a:pt x="0" y="0"/>
                  </a:lnTo>
                  <a:lnTo>
                    <a:pt x="0" y="742187"/>
                  </a:lnTo>
                  <a:lnTo>
                    <a:pt x="1295400" y="742187"/>
                  </a:lnTo>
                  <a:lnTo>
                    <a:pt x="1295400" y="0"/>
                  </a:lnTo>
                  <a:close/>
                </a:path>
              </a:pathLst>
            </a:custGeom>
            <a:solidFill>
              <a:srgbClr val="4471C4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00"/>
            </a:p>
          </p:txBody>
        </p:sp>
        <p:sp>
          <p:nvSpPr>
            <p:cNvPr id="444" name="Google Shape;444;p50"/>
            <p:cNvSpPr/>
            <p:nvPr/>
          </p:nvSpPr>
          <p:spPr>
            <a:xfrm>
              <a:off x="1565147" y="3934968"/>
              <a:ext cx="1295400" cy="742315"/>
            </a:xfrm>
            <a:custGeom>
              <a:rect b="b" l="l" r="r" t="t"/>
              <a:pathLst>
                <a:path extrusionOk="0" h="742314" w="1295400">
                  <a:moveTo>
                    <a:pt x="0" y="742187"/>
                  </a:moveTo>
                  <a:lnTo>
                    <a:pt x="1295400" y="742187"/>
                  </a:lnTo>
                  <a:lnTo>
                    <a:pt x="1295400" y="0"/>
                  </a:lnTo>
                  <a:lnTo>
                    <a:pt x="0" y="0"/>
                  </a:lnTo>
                  <a:lnTo>
                    <a:pt x="0" y="742187"/>
                  </a:lnTo>
                  <a:close/>
                </a:path>
              </a:pathLst>
            </a:custGeom>
            <a:noFill/>
            <a:ln cap="flat" cmpd="sng" w="12700">
              <a:solidFill>
                <a:srgbClr val="2E528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00"/>
            </a:p>
          </p:txBody>
        </p:sp>
      </p:grpSp>
      <p:pic>
        <p:nvPicPr>
          <p:cNvPr id="445" name="Google Shape;445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70892" y="1435799"/>
            <a:ext cx="116681" cy="150019"/>
          </a:xfrm>
          <a:prstGeom prst="rect">
            <a:avLst/>
          </a:prstGeom>
          <a:noFill/>
          <a:ln>
            <a:noFill/>
          </a:ln>
        </p:spPr>
      </p:pic>
      <p:sp>
        <p:nvSpPr>
          <p:cNvPr id="446" name="Google Shape;446;p50"/>
          <p:cNvSpPr txBox="1"/>
          <p:nvPr/>
        </p:nvSpPr>
        <p:spPr>
          <a:xfrm>
            <a:off x="856640" y="1367122"/>
            <a:ext cx="1517809" cy="2705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Fault Domain	1</a:t>
            </a:r>
            <a:endParaRPr sz="17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7" name="Google Shape;447;p50"/>
          <p:cNvSpPr txBox="1"/>
          <p:nvPr/>
        </p:nvSpPr>
        <p:spPr>
          <a:xfrm>
            <a:off x="2981039" y="1367122"/>
            <a:ext cx="1555432" cy="2705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Fault Domain	2</a:t>
            </a:r>
            <a:endParaRPr sz="17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48" name="Google Shape;448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95290" y="1435799"/>
            <a:ext cx="116681" cy="150019"/>
          </a:xfrm>
          <a:prstGeom prst="rect">
            <a:avLst/>
          </a:prstGeom>
          <a:noFill/>
          <a:ln>
            <a:noFill/>
          </a:ln>
        </p:spPr>
      </p:pic>
      <p:sp>
        <p:nvSpPr>
          <p:cNvPr id="449" name="Google Shape;449;p50"/>
          <p:cNvSpPr txBox="1"/>
          <p:nvPr/>
        </p:nvSpPr>
        <p:spPr>
          <a:xfrm>
            <a:off x="5105209" y="2214943"/>
            <a:ext cx="1700213" cy="2705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538235"/>
                </a:solidFill>
                <a:latin typeface="Arial"/>
                <a:ea typeface="Arial"/>
                <a:cs typeface="Arial"/>
                <a:sym typeface="Arial"/>
              </a:rPr>
              <a:t>Update Domain	1</a:t>
            </a:r>
            <a:endParaRPr sz="17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50" name="Google Shape;450;p5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02729" y="2283619"/>
            <a:ext cx="116681" cy="150019"/>
          </a:xfrm>
          <a:prstGeom prst="rect">
            <a:avLst/>
          </a:prstGeom>
          <a:noFill/>
          <a:ln>
            <a:noFill/>
          </a:ln>
        </p:spPr>
      </p:pic>
      <p:sp>
        <p:nvSpPr>
          <p:cNvPr id="451" name="Google Shape;451;p50"/>
          <p:cNvSpPr txBox="1"/>
          <p:nvPr/>
        </p:nvSpPr>
        <p:spPr>
          <a:xfrm>
            <a:off x="5105209" y="3104197"/>
            <a:ext cx="1738789" cy="2705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538235"/>
                </a:solidFill>
                <a:latin typeface="Arial"/>
                <a:ea typeface="Arial"/>
                <a:cs typeface="Arial"/>
                <a:sym typeface="Arial"/>
              </a:rPr>
              <a:t>Update Domain	2</a:t>
            </a:r>
            <a:endParaRPr sz="17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52" name="Google Shape;452;p5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02729" y="3172872"/>
            <a:ext cx="116681" cy="150019"/>
          </a:xfrm>
          <a:prstGeom prst="rect">
            <a:avLst/>
          </a:prstGeom>
          <a:noFill/>
          <a:ln>
            <a:noFill/>
          </a:ln>
        </p:spPr>
      </p:pic>
      <p:pic>
        <p:nvPicPr>
          <p:cNvPr id="453" name="Google Shape;453;p5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02729" y="4078166"/>
            <a:ext cx="116681" cy="150019"/>
          </a:xfrm>
          <a:prstGeom prst="rect">
            <a:avLst/>
          </a:prstGeom>
          <a:noFill/>
          <a:ln>
            <a:noFill/>
          </a:ln>
        </p:spPr>
      </p:pic>
      <p:sp>
        <p:nvSpPr>
          <p:cNvPr id="454" name="Google Shape;454;p50"/>
          <p:cNvSpPr txBox="1"/>
          <p:nvPr/>
        </p:nvSpPr>
        <p:spPr>
          <a:xfrm>
            <a:off x="5105209" y="4009491"/>
            <a:ext cx="1741646" cy="2705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538235"/>
                </a:solidFill>
                <a:latin typeface="Arial"/>
                <a:ea typeface="Arial"/>
                <a:cs typeface="Arial"/>
                <a:sym typeface="Arial"/>
              </a:rPr>
              <a:t>Update Domain	3</a:t>
            </a:r>
            <a:endParaRPr sz="17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5" name="Google Shape;455;p50"/>
          <p:cNvSpPr txBox="1"/>
          <p:nvPr/>
        </p:nvSpPr>
        <p:spPr>
          <a:xfrm>
            <a:off x="1178623" y="3116771"/>
            <a:ext cx="962025" cy="2247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254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VM	1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56" name="Google Shape;456;p50"/>
          <p:cNvGrpSpPr/>
          <p:nvPr/>
        </p:nvGrpSpPr>
        <p:grpSpPr>
          <a:xfrm>
            <a:off x="1164716" y="3173920"/>
            <a:ext cx="971550" cy="1223485"/>
            <a:chOff x="1552955" y="4231894"/>
            <a:chExt cx="1295400" cy="1631314"/>
          </a:xfrm>
        </p:grpSpPr>
        <p:pic>
          <p:nvPicPr>
            <p:cNvPr id="457" name="Google Shape;457;p50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2299780" y="4231894"/>
              <a:ext cx="127000" cy="1651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8" name="Google Shape;458;p50"/>
            <p:cNvSpPr/>
            <p:nvPr/>
          </p:nvSpPr>
          <p:spPr>
            <a:xfrm>
              <a:off x="1552955" y="5122163"/>
              <a:ext cx="1295400" cy="741045"/>
            </a:xfrm>
            <a:custGeom>
              <a:rect b="b" l="l" r="r" t="t"/>
              <a:pathLst>
                <a:path extrusionOk="0" h="741045" w="1295400">
                  <a:moveTo>
                    <a:pt x="1295400" y="0"/>
                  </a:moveTo>
                  <a:lnTo>
                    <a:pt x="0" y="0"/>
                  </a:lnTo>
                  <a:lnTo>
                    <a:pt x="0" y="740664"/>
                  </a:lnTo>
                  <a:lnTo>
                    <a:pt x="1295400" y="740664"/>
                  </a:lnTo>
                  <a:lnTo>
                    <a:pt x="1295400" y="0"/>
                  </a:lnTo>
                  <a:close/>
                </a:path>
              </a:pathLst>
            </a:custGeom>
            <a:solidFill>
              <a:srgbClr val="4471C4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00"/>
            </a:p>
          </p:txBody>
        </p:sp>
        <p:sp>
          <p:nvSpPr>
            <p:cNvPr id="459" name="Google Shape;459;p50"/>
            <p:cNvSpPr/>
            <p:nvPr/>
          </p:nvSpPr>
          <p:spPr>
            <a:xfrm>
              <a:off x="1552955" y="5122163"/>
              <a:ext cx="1295400" cy="741045"/>
            </a:xfrm>
            <a:custGeom>
              <a:rect b="b" l="l" r="r" t="t"/>
              <a:pathLst>
                <a:path extrusionOk="0" h="741045" w="1295400">
                  <a:moveTo>
                    <a:pt x="0" y="740664"/>
                  </a:moveTo>
                  <a:lnTo>
                    <a:pt x="1295400" y="740664"/>
                  </a:lnTo>
                  <a:lnTo>
                    <a:pt x="1295400" y="0"/>
                  </a:lnTo>
                  <a:lnTo>
                    <a:pt x="0" y="0"/>
                  </a:lnTo>
                  <a:lnTo>
                    <a:pt x="0" y="740664"/>
                  </a:lnTo>
                  <a:close/>
                </a:path>
              </a:pathLst>
            </a:custGeom>
            <a:noFill/>
            <a:ln cap="flat" cmpd="sng" w="12700">
              <a:solidFill>
                <a:srgbClr val="2E528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00"/>
            </a:p>
          </p:txBody>
        </p:sp>
        <p:pic>
          <p:nvPicPr>
            <p:cNvPr id="460" name="Google Shape;460;p50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2267106" y="5418201"/>
              <a:ext cx="127000" cy="1651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61" name="Google Shape;461;p50"/>
          <p:cNvSpPr txBox="1"/>
          <p:nvPr/>
        </p:nvSpPr>
        <p:spPr>
          <a:xfrm>
            <a:off x="1169479" y="4006272"/>
            <a:ext cx="962025" cy="2252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2413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VM	2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51"/>
          <p:cNvSpPr txBox="1"/>
          <p:nvPr>
            <p:ph type="title"/>
          </p:nvPr>
        </p:nvSpPr>
        <p:spPr>
          <a:xfrm>
            <a:off x="158039" y="78961"/>
            <a:ext cx="7938135" cy="12148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Taking Advantage of Availability Set</a:t>
            </a:r>
            <a:endParaRPr/>
          </a:p>
        </p:txBody>
      </p:sp>
      <p:sp>
        <p:nvSpPr>
          <p:cNvPr id="467" name="Google Shape;467;p51"/>
          <p:cNvSpPr txBox="1"/>
          <p:nvPr/>
        </p:nvSpPr>
        <p:spPr>
          <a:xfrm>
            <a:off x="497966" y="1310639"/>
            <a:ext cx="7922419" cy="28998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050">
            <a:spAutoFit/>
          </a:bodyPr>
          <a:lstStyle/>
          <a:p>
            <a:pPr indent="-349250" lvl="0" marL="355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Char char="•"/>
            </a:pPr>
            <a:r>
              <a:rPr lang="en" sz="2100">
                <a:latin typeface="Arial"/>
                <a:ea typeface="Arial"/>
                <a:cs typeface="Arial"/>
                <a:sym typeface="Arial"/>
              </a:rPr>
              <a:t>Deploy identical VMs into the same Availability Set</a:t>
            </a:r>
            <a:endParaRPr sz="2100">
              <a:latin typeface="Arial"/>
              <a:ea typeface="Arial"/>
              <a:cs typeface="Arial"/>
              <a:sym typeface="Arial"/>
            </a:endParaRPr>
          </a:p>
          <a:p>
            <a:pPr indent="-349250" lvl="0" marL="355600" marR="0" rtl="0" algn="l">
              <a:lnSpc>
                <a:spcPct val="240000"/>
              </a:lnSpc>
              <a:spcBef>
                <a:spcPts val="600"/>
              </a:spcBef>
              <a:spcAft>
                <a:spcPts val="0"/>
              </a:spcAft>
              <a:buSzPts val="2100"/>
              <a:buFont typeface="Arial"/>
              <a:buChar char="•"/>
            </a:pPr>
            <a:r>
              <a:rPr lang="en" sz="2100">
                <a:latin typeface="Arial"/>
                <a:ea typeface="Arial"/>
                <a:cs typeface="Arial"/>
                <a:sym typeface="Arial"/>
              </a:rPr>
              <a:t>Ensures they won’t be shut down simultaneously when a single fault domain shuts down or an update domain reboots</a:t>
            </a:r>
            <a:endParaRPr sz="2100">
              <a:latin typeface="Arial"/>
              <a:ea typeface="Arial"/>
              <a:cs typeface="Arial"/>
              <a:sym typeface="Arial"/>
            </a:endParaRPr>
          </a:p>
          <a:p>
            <a:pPr indent="-349250" lvl="0" marL="355600" rtl="0" algn="l">
              <a:lnSpc>
                <a:spcPct val="100000"/>
              </a:lnSpc>
              <a:spcBef>
                <a:spcPts val="1900"/>
              </a:spcBef>
              <a:spcAft>
                <a:spcPts val="0"/>
              </a:spcAft>
              <a:buSzPts val="2100"/>
              <a:buFont typeface="Arial"/>
              <a:buChar char="•"/>
            </a:pPr>
            <a:r>
              <a:rPr lang="en" sz="2100">
                <a:latin typeface="Arial"/>
                <a:ea typeface="Arial"/>
                <a:cs typeface="Arial"/>
                <a:sym typeface="Arial"/>
              </a:rPr>
              <a:t>If needed – deploy load balancer to route between the VMs</a:t>
            </a:r>
            <a:endParaRPr sz="2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2100"/>
              <a:buFont typeface="Arial"/>
              <a:buNone/>
            </a:pPr>
            <a:r>
              <a:t/>
            </a:r>
            <a:endParaRPr sz="2100">
              <a:latin typeface="Arial"/>
              <a:ea typeface="Arial"/>
              <a:cs typeface="Arial"/>
              <a:sym typeface="Arial"/>
            </a:endParaRPr>
          </a:p>
          <a:p>
            <a:pPr indent="-349250" lvl="0" marL="355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Char char="•"/>
            </a:pPr>
            <a:r>
              <a:rPr lang="en" sz="2100">
                <a:latin typeface="Arial"/>
                <a:ea typeface="Arial"/>
                <a:cs typeface="Arial"/>
                <a:sym typeface="Arial"/>
              </a:rPr>
              <a:t>Availability Set is free, you pay only for the additional VMs</a:t>
            </a:r>
            <a:endParaRPr sz="21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p52"/>
          <p:cNvSpPr txBox="1"/>
          <p:nvPr>
            <p:ph type="title"/>
          </p:nvPr>
        </p:nvSpPr>
        <p:spPr>
          <a:xfrm>
            <a:off x="158039" y="78961"/>
            <a:ext cx="7938135" cy="12148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Availability Zone</a:t>
            </a:r>
            <a:endParaRPr/>
          </a:p>
        </p:txBody>
      </p:sp>
      <p:sp>
        <p:nvSpPr>
          <p:cNvPr id="473" name="Google Shape;473;p52"/>
          <p:cNvSpPr txBox="1"/>
          <p:nvPr/>
        </p:nvSpPr>
        <p:spPr>
          <a:xfrm>
            <a:off x="497966" y="1310639"/>
            <a:ext cx="7776686" cy="28998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050">
            <a:spAutoFit/>
          </a:bodyPr>
          <a:lstStyle/>
          <a:p>
            <a:pPr indent="-349250" lvl="0" marL="355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Char char="•"/>
            </a:pPr>
            <a:r>
              <a:rPr lang="en" sz="2100">
                <a:latin typeface="Arial"/>
                <a:ea typeface="Arial"/>
                <a:cs typeface="Arial"/>
                <a:sym typeface="Arial"/>
              </a:rPr>
              <a:t>A physically separate zone within an Azure region</a:t>
            </a:r>
            <a:endParaRPr sz="2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2100"/>
              <a:buFont typeface="Arial"/>
              <a:buNone/>
            </a:pPr>
            <a:r>
              <a:t/>
            </a:r>
            <a:endParaRPr sz="2100">
              <a:latin typeface="Arial"/>
              <a:ea typeface="Arial"/>
              <a:cs typeface="Arial"/>
              <a:sym typeface="Arial"/>
            </a:endParaRPr>
          </a:p>
          <a:p>
            <a:pPr indent="-349250" lvl="0" marL="355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Char char="•"/>
            </a:pPr>
            <a:r>
              <a:rPr lang="en" sz="2100">
                <a:latin typeface="Arial"/>
                <a:ea typeface="Arial"/>
                <a:cs typeface="Arial"/>
                <a:sym typeface="Arial"/>
              </a:rPr>
              <a:t>Technically – a building containing an autonomous data center</a:t>
            </a:r>
            <a:endParaRPr sz="2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2100"/>
              <a:buFont typeface="Arial"/>
              <a:buNone/>
            </a:pPr>
            <a:r>
              <a:t/>
            </a:r>
            <a:endParaRPr sz="2100">
              <a:latin typeface="Arial"/>
              <a:ea typeface="Arial"/>
              <a:cs typeface="Arial"/>
              <a:sym typeface="Arial"/>
            </a:endParaRPr>
          </a:p>
          <a:p>
            <a:pPr indent="-349250" lvl="0" marL="355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Char char="•"/>
            </a:pPr>
            <a:r>
              <a:rPr lang="en" sz="2100">
                <a:latin typeface="Arial"/>
                <a:ea typeface="Arial"/>
                <a:cs typeface="Arial"/>
                <a:sym typeface="Arial"/>
              </a:rPr>
              <a:t>Each zone functions as a fault &amp; update domain</a:t>
            </a:r>
            <a:endParaRPr sz="2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2100"/>
              <a:buFont typeface="Arial"/>
              <a:buNone/>
            </a:pPr>
            <a:r>
              <a:t/>
            </a:r>
            <a:endParaRPr sz="2100">
              <a:latin typeface="Arial"/>
              <a:ea typeface="Arial"/>
              <a:cs typeface="Arial"/>
              <a:sym typeface="Arial"/>
            </a:endParaRPr>
          </a:p>
          <a:p>
            <a:pPr indent="-349250" lvl="0" marL="355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Char char="•"/>
            </a:pPr>
            <a:r>
              <a:rPr lang="en" sz="2100">
                <a:latin typeface="Arial"/>
                <a:ea typeface="Arial"/>
                <a:cs typeface="Arial"/>
                <a:sym typeface="Arial"/>
              </a:rPr>
              <a:t>Provides protection against a complete zone shutdown</a:t>
            </a:r>
            <a:endParaRPr sz="2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2100"/>
              <a:buFont typeface="Arial"/>
              <a:buNone/>
            </a:pPr>
            <a:r>
              <a:t/>
            </a:r>
            <a:endParaRPr sz="2100">
              <a:latin typeface="Arial"/>
              <a:ea typeface="Arial"/>
              <a:cs typeface="Arial"/>
              <a:sym typeface="Arial"/>
            </a:endParaRPr>
          </a:p>
          <a:p>
            <a:pPr indent="-349250" lvl="1" marL="6985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Char char="•"/>
            </a:pPr>
            <a:r>
              <a:rPr lang="en" sz="2100">
                <a:latin typeface="Arial"/>
                <a:ea typeface="Arial"/>
                <a:cs typeface="Arial"/>
                <a:sym typeface="Arial"/>
              </a:rPr>
              <a:t>Hence the better SLA</a:t>
            </a:r>
            <a:endParaRPr sz="21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p53"/>
          <p:cNvSpPr txBox="1"/>
          <p:nvPr>
            <p:ph type="title"/>
          </p:nvPr>
        </p:nvSpPr>
        <p:spPr>
          <a:xfrm>
            <a:off x="158051" y="78950"/>
            <a:ext cx="8985900" cy="117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Taking Advantage of Availability Zone</a:t>
            </a:r>
            <a:endParaRPr/>
          </a:p>
        </p:txBody>
      </p:sp>
      <p:sp>
        <p:nvSpPr>
          <p:cNvPr id="479" name="Google Shape;479;p53"/>
          <p:cNvSpPr txBox="1"/>
          <p:nvPr/>
        </p:nvSpPr>
        <p:spPr>
          <a:xfrm>
            <a:off x="497966" y="1310639"/>
            <a:ext cx="8101489" cy="35399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050">
            <a:spAutoFit/>
          </a:bodyPr>
          <a:lstStyle/>
          <a:p>
            <a:pPr indent="-349250" lvl="0" marL="355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Char char="•"/>
            </a:pPr>
            <a:r>
              <a:rPr lang="en" sz="2100">
                <a:latin typeface="Arial"/>
                <a:ea typeface="Arial"/>
                <a:cs typeface="Arial"/>
                <a:sym typeface="Arial"/>
              </a:rPr>
              <a:t>Deploy identical VMs into separate Availability Zones in the same</a:t>
            </a:r>
            <a:endParaRPr sz="2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2100"/>
              <a:buFont typeface="Arial"/>
              <a:buNone/>
            </a:pPr>
            <a:r>
              <a:t/>
            </a:r>
            <a:endParaRPr sz="2100">
              <a:latin typeface="Arial"/>
              <a:ea typeface="Arial"/>
              <a:cs typeface="Arial"/>
              <a:sym typeface="Arial"/>
            </a:endParaRPr>
          </a:p>
          <a:p>
            <a:pPr indent="0" lvl="0" marL="355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latin typeface="Arial"/>
                <a:ea typeface="Arial"/>
                <a:cs typeface="Arial"/>
                <a:sym typeface="Arial"/>
              </a:rPr>
              <a:t>Region</a:t>
            </a:r>
            <a:endParaRPr sz="2100">
              <a:latin typeface="Arial"/>
              <a:ea typeface="Arial"/>
              <a:cs typeface="Arial"/>
              <a:sym typeface="Arial"/>
            </a:endParaRPr>
          </a:p>
          <a:p>
            <a:pPr indent="-349250" lvl="0" marL="355600" marR="1016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Char char="•"/>
            </a:pPr>
            <a:r>
              <a:rPr lang="en" sz="2100">
                <a:latin typeface="Arial"/>
                <a:ea typeface="Arial"/>
                <a:cs typeface="Arial"/>
                <a:sym typeface="Arial"/>
              </a:rPr>
              <a:t>Ensures they won’t be shut down simultaneously when the zone shuts down</a:t>
            </a:r>
            <a:endParaRPr sz="2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2100"/>
              <a:buFont typeface="Arial"/>
              <a:buNone/>
            </a:pPr>
            <a:r>
              <a:t/>
            </a:r>
            <a:endParaRPr sz="2100">
              <a:latin typeface="Arial"/>
              <a:ea typeface="Arial"/>
              <a:cs typeface="Arial"/>
              <a:sym typeface="Arial"/>
            </a:endParaRPr>
          </a:p>
          <a:p>
            <a:pPr indent="-349250" lvl="0" marL="355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Char char="•"/>
            </a:pPr>
            <a:r>
              <a:rPr lang="en" sz="2100">
                <a:latin typeface="Arial"/>
                <a:ea typeface="Arial"/>
                <a:cs typeface="Arial"/>
                <a:sym typeface="Arial"/>
              </a:rPr>
              <a:t>If needed – deploy load balancer to route between the VMs</a:t>
            </a:r>
            <a:endParaRPr sz="2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2100"/>
              <a:buFont typeface="Arial"/>
              <a:buNone/>
            </a:pPr>
            <a:r>
              <a:t/>
            </a:r>
            <a:endParaRPr sz="2100">
              <a:latin typeface="Arial"/>
              <a:ea typeface="Arial"/>
              <a:cs typeface="Arial"/>
              <a:sym typeface="Arial"/>
            </a:endParaRPr>
          </a:p>
          <a:p>
            <a:pPr indent="-349250" lvl="0" marL="355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Char char="•"/>
            </a:pPr>
            <a:r>
              <a:rPr lang="en" sz="2100">
                <a:latin typeface="Arial"/>
                <a:ea typeface="Arial"/>
                <a:cs typeface="Arial"/>
                <a:sym typeface="Arial"/>
              </a:rPr>
              <a:t>Availability Zone is free, you pay only for the additional VMs</a:t>
            </a:r>
            <a:endParaRPr sz="21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p54"/>
          <p:cNvSpPr txBox="1"/>
          <p:nvPr>
            <p:ph type="title"/>
          </p:nvPr>
        </p:nvSpPr>
        <p:spPr>
          <a:xfrm>
            <a:off x="158039" y="78961"/>
            <a:ext cx="7938135" cy="12148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ARM Template</a:t>
            </a:r>
            <a:endParaRPr/>
          </a:p>
        </p:txBody>
      </p:sp>
      <p:sp>
        <p:nvSpPr>
          <p:cNvPr id="485" name="Google Shape;485;p54"/>
          <p:cNvSpPr txBox="1"/>
          <p:nvPr/>
        </p:nvSpPr>
        <p:spPr>
          <a:xfrm>
            <a:off x="497966" y="1310639"/>
            <a:ext cx="6580822" cy="28998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050">
            <a:spAutoFit/>
          </a:bodyPr>
          <a:lstStyle/>
          <a:p>
            <a:pPr indent="-349250" lvl="0" marL="355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Char char="•"/>
            </a:pPr>
            <a:r>
              <a:rPr lang="en" sz="2100">
                <a:latin typeface="Arial"/>
                <a:ea typeface="Arial"/>
                <a:cs typeface="Arial"/>
                <a:sym typeface="Arial"/>
              </a:rPr>
              <a:t>Azure Resource Manager Template</a:t>
            </a:r>
            <a:endParaRPr sz="2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2100"/>
              <a:buFont typeface="Arial"/>
              <a:buNone/>
            </a:pPr>
            <a:r>
              <a:t/>
            </a:r>
            <a:endParaRPr sz="2100">
              <a:latin typeface="Arial"/>
              <a:ea typeface="Arial"/>
              <a:cs typeface="Arial"/>
              <a:sym typeface="Arial"/>
            </a:endParaRPr>
          </a:p>
          <a:p>
            <a:pPr indent="-349250" lvl="0" marL="355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Char char="•"/>
            </a:pPr>
            <a:r>
              <a:rPr lang="en" sz="2100">
                <a:latin typeface="Arial"/>
                <a:ea typeface="Arial"/>
                <a:cs typeface="Arial"/>
                <a:sym typeface="Arial"/>
              </a:rPr>
              <a:t>A JSON file describing the resource(s) to be created</a:t>
            </a:r>
            <a:endParaRPr sz="2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2100"/>
              <a:buFont typeface="Arial"/>
              <a:buNone/>
            </a:pPr>
            <a:r>
              <a:t/>
            </a:r>
            <a:endParaRPr sz="2100">
              <a:latin typeface="Arial"/>
              <a:ea typeface="Arial"/>
              <a:cs typeface="Arial"/>
              <a:sym typeface="Arial"/>
            </a:endParaRPr>
          </a:p>
          <a:p>
            <a:pPr indent="-349250" lvl="0" marL="355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Char char="•"/>
            </a:pPr>
            <a:r>
              <a:rPr lang="en" sz="2100">
                <a:latin typeface="Arial"/>
                <a:ea typeface="Arial"/>
                <a:cs typeface="Arial"/>
                <a:sym typeface="Arial"/>
              </a:rPr>
              <a:t>Used by Azure in (almost) all deployments</a:t>
            </a:r>
            <a:endParaRPr sz="2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2100"/>
              <a:buFont typeface="Arial"/>
              <a:buNone/>
            </a:pPr>
            <a:r>
              <a:t/>
            </a:r>
            <a:endParaRPr sz="2100">
              <a:latin typeface="Arial"/>
              <a:ea typeface="Arial"/>
              <a:cs typeface="Arial"/>
              <a:sym typeface="Arial"/>
            </a:endParaRPr>
          </a:p>
          <a:p>
            <a:pPr indent="-349250" lvl="0" marL="355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Char char="•"/>
            </a:pPr>
            <a:r>
              <a:rPr lang="en" sz="2100">
                <a:latin typeface="Arial"/>
                <a:ea typeface="Arial"/>
                <a:cs typeface="Arial"/>
                <a:sym typeface="Arial"/>
              </a:rPr>
              <a:t>Can be exported, modified, uploaded, deployed</a:t>
            </a:r>
            <a:endParaRPr sz="2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2100"/>
              <a:buFont typeface="Arial"/>
              <a:buNone/>
            </a:pPr>
            <a:r>
              <a:t/>
            </a:r>
            <a:endParaRPr sz="2100">
              <a:latin typeface="Arial"/>
              <a:ea typeface="Arial"/>
              <a:cs typeface="Arial"/>
              <a:sym typeface="Arial"/>
            </a:endParaRPr>
          </a:p>
          <a:p>
            <a:pPr indent="-349250" lvl="0" marL="355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Char char="•"/>
            </a:pPr>
            <a:r>
              <a:rPr lang="en" sz="2100">
                <a:latin typeface="Arial"/>
                <a:ea typeface="Arial"/>
                <a:cs typeface="Arial"/>
                <a:sym typeface="Arial"/>
              </a:rPr>
              <a:t>Can also be created from scratch</a:t>
            </a:r>
            <a:endParaRPr sz="21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9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p55"/>
          <p:cNvSpPr txBox="1"/>
          <p:nvPr>
            <p:ph type="title"/>
          </p:nvPr>
        </p:nvSpPr>
        <p:spPr>
          <a:xfrm>
            <a:off x="158039" y="78961"/>
            <a:ext cx="7938135" cy="12148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ARM Template</a:t>
            </a:r>
            <a:endParaRPr/>
          </a:p>
        </p:txBody>
      </p:sp>
      <p:sp>
        <p:nvSpPr>
          <p:cNvPr id="491" name="Google Shape;491;p55"/>
          <p:cNvSpPr txBox="1"/>
          <p:nvPr/>
        </p:nvSpPr>
        <p:spPr>
          <a:xfrm>
            <a:off x="497966" y="1310639"/>
            <a:ext cx="7318058" cy="339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050">
            <a:spAutoFit/>
          </a:bodyPr>
          <a:lstStyle/>
          <a:p>
            <a:pPr indent="-349250" lvl="0" marL="355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Char char="•"/>
            </a:pPr>
            <a:r>
              <a:rPr lang="en" sz="2100">
                <a:latin typeface="Arial"/>
                <a:ea typeface="Arial"/>
                <a:cs typeface="Arial"/>
                <a:sym typeface="Arial"/>
              </a:rPr>
              <a:t>ARM Template is a declarative way of deploying resources</a:t>
            </a:r>
            <a:endParaRPr sz="21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2" name="Google Shape;492;p55"/>
          <p:cNvSpPr txBox="1"/>
          <p:nvPr/>
        </p:nvSpPr>
        <p:spPr>
          <a:xfrm>
            <a:off x="870966" y="1890521"/>
            <a:ext cx="2533174" cy="548640"/>
          </a:xfrm>
          <a:prstGeom prst="rect">
            <a:avLst/>
          </a:prstGeom>
          <a:solidFill>
            <a:srgbClr val="6F2F9F"/>
          </a:solidFill>
          <a:ln cap="flat" cmpd="sng" w="12700">
            <a:solidFill>
              <a:srgbClr val="2E52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124300">
            <a:spAutoFit/>
          </a:bodyPr>
          <a:lstStyle/>
          <a:p>
            <a:pPr indent="0" lvl="0" marL="635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Declarative</a:t>
            </a:r>
            <a:endParaRPr sz="2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3" name="Google Shape;493;p55"/>
          <p:cNvSpPr txBox="1"/>
          <p:nvPr/>
        </p:nvSpPr>
        <p:spPr>
          <a:xfrm>
            <a:off x="5349239" y="1890521"/>
            <a:ext cx="2533174" cy="548640"/>
          </a:xfrm>
          <a:prstGeom prst="rect">
            <a:avLst/>
          </a:prstGeom>
          <a:solidFill>
            <a:srgbClr val="6F2F9F"/>
          </a:solidFill>
          <a:ln cap="flat" cmpd="sng" w="12700">
            <a:solidFill>
              <a:srgbClr val="2E52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124300">
            <a:spAutoFit/>
          </a:bodyPr>
          <a:lstStyle/>
          <a:p>
            <a:pPr indent="0" lvl="0" marL="673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Imperative</a:t>
            </a:r>
            <a:endParaRPr sz="2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4" name="Google Shape;494;p55"/>
          <p:cNvSpPr txBox="1"/>
          <p:nvPr/>
        </p:nvSpPr>
        <p:spPr>
          <a:xfrm>
            <a:off x="930020" y="2549632"/>
            <a:ext cx="3549968" cy="17340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3825">
            <a:spAutoFit/>
          </a:bodyPr>
          <a:lstStyle/>
          <a:p>
            <a:pPr indent="-260350" lvl="0" marL="266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Arial"/>
              <a:buChar char="•"/>
            </a:pPr>
            <a:r>
              <a:rPr lang="en" sz="1500">
                <a:latin typeface="Arial"/>
                <a:ea typeface="Arial"/>
                <a:cs typeface="Arial"/>
                <a:sym typeface="Arial"/>
              </a:rPr>
              <a:t>Describes the end result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-260350" lvl="0" marL="26670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500"/>
              <a:buFont typeface="Arial"/>
              <a:buChar char="•"/>
            </a:pPr>
            <a:r>
              <a:rPr lang="en" sz="1500">
                <a:latin typeface="Arial"/>
                <a:ea typeface="Arial"/>
                <a:cs typeface="Arial"/>
                <a:sym typeface="Arial"/>
              </a:rPr>
              <a:t>Allows “What-If” operation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-260350" lvl="0" marL="26670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500"/>
              <a:buFont typeface="Arial"/>
              <a:buChar char="•"/>
            </a:pPr>
            <a:r>
              <a:rPr lang="en" sz="1500">
                <a:latin typeface="Arial"/>
                <a:ea typeface="Arial"/>
                <a:cs typeface="Arial"/>
                <a:sym typeface="Arial"/>
              </a:rPr>
              <a:t>Can deploy multiple resources at once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-260350" lvl="0" marL="26670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500"/>
              <a:buFont typeface="Arial"/>
              <a:buChar char="•"/>
            </a:pPr>
            <a:r>
              <a:rPr lang="en" sz="1500">
                <a:latin typeface="Arial"/>
                <a:ea typeface="Arial"/>
                <a:cs typeface="Arial"/>
                <a:sym typeface="Arial"/>
              </a:rPr>
              <a:t>Can be integrated in CI/CD processes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-260350" lvl="0" marL="26670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500"/>
              <a:buFont typeface="Arial"/>
              <a:buChar char="•"/>
            </a:pPr>
            <a:r>
              <a:rPr lang="en" sz="1500">
                <a:latin typeface="Arial"/>
                <a:ea typeface="Arial"/>
                <a:cs typeface="Arial"/>
                <a:sym typeface="Arial"/>
              </a:rPr>
              <a:t>Can be source controlled</a:t>
            </a:r>
            <a:endParaRPr sz="15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5" name="Google Shape;495;p55"/>
          <p:cNvSpPr txBox="1"/>
          <p:nvPr/>
        </p:nvSpPr>
        <p:spPr>
          <a:xfrm>
            <a:off x="5409248" y="2553028"/>
            <a:ext cx="3376136" cy="17349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4300">
            <a:spAutoFit/>
          </a:bodyPr>
          <a:lstStyle/>
          <a:p>
            <a:pPr indent="-260350" lvl="0" marL="266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Arial"/>
              <a:buChar char="•"/>
            </a:pPr>
            <a:r>
              <a:rPr lang="en" sz="1500">
                <a:latin typeface="Arial"/>
                <a:ea typeface="Arial"/>
                <a:cs typeface="Arial"/>
                <a:sym typeface="Arial"/>
              </a:rPr>
              <a:t>Sends instructions to run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-260350" lvl="0" marL="26670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500"/>
              <a:buFont typeface="Arial"/>
              <a:buChar char="•"/>
            </a:pPr>
            <a:r>
              <a:rPr lang="en" sz="1500">
                <a:latin typeface="Arial"/>
                <a:ea typeface="Arial"/>
                <a:cs typeface="Arial"/>
                <a:sym typeface="Arial"/>
              </a:rPr>
              <a:t>Error prone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-260350" lvl="0" marL="26670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500"/>
              <a:buFont typeface="Arial"/>
              <a:buChar char="•"/>
            </a:pPr>
            <a:r>
              <a:rPr lang="en" sz="1500">
                <a:latin typeface="Arial"/>
                <a:ea typeface="Arial"/>
                <a:cs typeface="Arial"/>
                <a:sym typeface="Arial"/>
              </a:rPr>
              <a:t>Can’t be verified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-260350" lvl="0" marL="26670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500"/>
              <a:buFont typeface="Arial"/>
              <a:buChar char="•"/>
            </a:pPr>
            <a:r>
              <a:rPr lang="en" sz="1500">
                <a:latin typeface="Arial"/>
                <a:ea typeface="Arial"/>
                <a:cs typeface="Arial"/>
                <a:sym typeface="Arial"/>
              </a:rPr>
              <a:t>Can’t be source controlled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-260350" lvl="0" marL="26670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500"/>
              <a:buFont typeface="Arial"/>
              <a:buChar char="•"/>
            </a:pPr>
            <a:r>
              <a:rPr lang="en" sz="1500">
                <a:latin typeface="Arial"/>
                <a:ea typeface="Arial"/>
                <a:cs typeface="Arial"/>
                <a:sym typeface="Arial"/>
              </a:rPr>
              <a:t>Suited for quick and dirty operations</a:t>
            </a:r>
            <a:endParaRPr sz="15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6" name="Google Shape;496;p55"/>
          <p:cNvSpPr txBox="1"/>
          <p:nvPr/>
        </p:nvSpPr>
        <p:spPr>
          <a:xfrm>
            <a:off x="930020" y="4424400"/>
            <a:ext cx="2215039" cy="2705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538235"/>
                </a:solidFill>
                <a:latin typeface="Arial"/>
                <a:ea typeface="Arial"/>
                <a:cs typeface="Arial"/>
                <a:sym typeface="Arial"/>
              </a:rPr>
              <a:t>Used by: ARM Template</a:t>
            </a:r>
            <a:endParaRPr sz="17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7" name="Google Shape;497;p55"/>
          <p:cNvSpPr txBox="1"/>
          <p:nvPr/>
        </p:nvSpPr>
        <p:spPr>
          <a:xfrm>
            <a:off x="5409248" y="4293748"/>
            <a:ext cx="3624263" cy="7472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85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538235"/>
                </a:solidFill>
                <a:latin typeface="Arial"/>
                <a:ea typeface="Arial"/>
                <a:cs typeface="Arial"/>
                <a:sym typeface="Arial"/>
              </a:rPr>
              <a:t>Used by: Azure CLI, PowerShell</a:t>
            </a:r>
            <a:endParaRPr sz="1700">
              <a:latin typeface="Arial"/>
              <a:ea typeface="Arial"/>
              <a:cs typeface="Arial"/>
              <a:sym typeface="Arial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538235"/>
                </a:solidFill>
                <a:latin typeface="Arial"/>
                <a:ea typeface="Arial"/>
                <a:cs typeface="Arial"/>
                <a:sym typeface="Arial"/>
              </a:rPr>
              <a:t>(Although they can run ARM Template too)</a:t>
            </a:r>
            <a:endParaRPr sz="15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p56"/>
          <p:cNvSpPr txBox="1"/>
          <p:nvPr>
            <p:ph type="title"/>
          </p:nvPr>
        </p:nvSpPr>
        <p:spPr>
          <a:xfrm>
            <a:off x="158038" y="78961"/>
            <a:ext cx="5467350" cy="5910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Virtual Machine Scale Set</a:t>
            </a:r>
            <a:endParaRPr/>
          </a:p>
        </p:txBody>
      </p:sp>
      <p:sp>
        <p:nvSpPr>
          <p:cNvPr id="503" name="Google Shape;503;p56"/>
          <p:cNvSpPr txBox="1"/>
          <p:nvPr/>
        </p:nvSpPr>
        <p:spPr>
          <a:xfrm>
            <a:off x="497966" y="1310639"/>
            <a:ext cx="7484745" cy="28998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050">
            <a:spAutoFit/>
          </a:bodyPr>
          <a:lstStyle/>
          <a:p>
            <a:pPr indent="-349250" lvl="0" marL="355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Char char="•"/>
            </a:pPr>
            <a:r>
              <a:rPr lang="en" sz="2100">
                <a:latin typeface="Arial"/>
                <a:ea typeface="Arial"/>
                <a:cs typeface="Arial"/>
                <a:sym typeface="Arial"/>
              </a:rPr>
              <a:t>A group of separate VMs sharing the same image</a:t>
            </a:r>
            <a:endParaRPr sz="2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2100"/>
              <a:buFont typeface="Arial"/>
              <a:buNone/>
            </a:pPr>
            <a:r>
              <a:t/>
            </a:r>
            <a:endParaRPr sz="2100">
              <a:latin typeface="Arial"/>
              <a:ea typeface="Arial"/>
              <a:cs typeface="Arial"/>
              <a:sym typeface="Arial"/>
            </a:endParaRPr>
          </a:p>
          <a:p>
            <a:pPr indent="-349250" lvl="0" marL="355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Char char="•"/>
            </a:pPr>
            <a:r>
              <a:rPr lang="en" sz="2100">
                <a:latin typeface="Arial"/>
                <a:ea typeface="Arial"/>
                <a:cs typeface="Arial"/>
                <a:sym typeface="Arial"/>
              </a:rPr>
              <a:t>Managed as a group</a:t>
            </a:r>
            <a:endParaRPr sz="2100">
              <a:latin typeface="Arial"/>
              <a:ea typeface="Arial"/>
              <a:cs typeface="Arial"/>
              <a:sym typeface="Arial"/>
            </a:endParaRPr>
          </a:p>
          <a:p>
            <a:pPr indent="-349250" lvl="0" marL="3556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Char char="•"/>
            </a:pPr>
            <a:r>
              <a:rPr lang="en" sz="2100">
                <a:latin typeface="Arial"/>
                <a:ea typeface="Arial"/>
                <a:cs typeface="Arial"/>
                <a:sym typeface="Arial"/>
              </a:rPr>
              <a:t>Can be scaled out or in manually or according to predefined conditions</a:t>
            </a:r>
            <a:endParaRPr sz="2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2100"/>
              <a:buFont typeface="Arial"/>
              <a:buNone/>
            </a:pPr>
            <a:r>
              <a:t/>
            </a:r>
            <a:endParaRPr sz="2100">
              <a:latin typeface="Arial"/>
              <a:ea typeface="Arial"/>
              <a:cs typeface="Arial"/>
              <a:sym typeface="Arial"/>
            </a:endParaRPr>
          </a:p>
          <a:p>
            <a:pPr indent="-349250" lvl="0" marL="355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Char char="•"/>
            </a:pPr>
            <a:r>
              <a:rPr lang="en" sz="2100">
                <a:latin typeface="Arial"/>
                <a:ea typeface="Arial"/>
                <a:cs typeface="Arial"/>
                <a:sym typeface="Arial"/>
              </a:rPr>
              <a:t>Great for handling unpredictable load</a:t>
            </a:r>
            <a:endParaRPr sz="21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7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p57"/>
          <p:cNvSpPr txBox="1"/>
          <p:nvPr>
            <p:ph type="title"/>
          </p:nvPr>
        </p:nvSpPr>
        <p:spPr>
          <a:xfrm>
            <a:off x="158038" y="78961"/>
            <a:ext cx="5467350" cy="5910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Virtual Machine Scale Set</a:t>
            </a:r>
            <a:endParaRPr/>
          </a:p>
        </p:txBody>
      </p:sp>
      <p:sp>
        <p:nvSpPr>
          <p:cNvPr id="509" name="Google Shape;509;p57"/>
          <p:cNvSpPr txBox="1"/>
          <p:nvPr/>
        </p:nvSpPr>
        <p:spPr>
          <a:xfrm>
            <a:off x="497966" y="1310639"/>
            <a:ext cx="8466296" cy="28998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050">
            <a:spAutoFit/>
          </a:bodyPr>
          <a:lstStyle/>
          <a:p>
            <a:pPr indent="-349250" lvl="0" marL="355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Char char="•"/>
            </a:pPr>
            <a:r>
              <a:rPr lang="en" sz="2100">
                <a:latin typeface="Arial"/>
                <a:ea typeface="Arial"/>
                <a:cs typeface="Arial"/>
                <a:sym typeface="Arial"/>
              </a:rPr>
              <a:t>Once set up, the machines should NOT be modified</a:t>
            </a:r>
            <a:endParaRPr sz="2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2100"/>
              <a:buFont typeface="Arial"/>
              <a:buNone/>
            </a:pPr>
            <a:r>
              <a:t/>
            </a:r>
            <a:endParaRPr sz="2100">
              <a:latin typeface="Arial"/>
              <a:ea typeface="Arial"/>
              <a:cs typeface="Arial"/>
              <a:sym typeface="Arial"/>
            </a:endParaRPr>
          </a:p>
          <a:p>
            <a:pPr indent="-349250" lvl="1" marL="6985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Char char="•"/>
            </a:pPr>
            <a:r>
              <a:rPr lang="en" sz="2100">
                <a:latin typeface="Arial"/>
                <a:ea typeface="Arial"/>
                <a:cs typeface="Arial"/>
                <a:sym typeface="Arial"/>
              </a:rPr>
              <a:t>Change files, install apps etc.</a:t>
            </a:r>
            <a:endParaRPr sz="2100">
              <a:latin typeface="Arial"/>
              <a:ea typeface="Arial"/>
              <a:cs typeface="Arial"/>
              <a:sym typeface="Arial"/>
            </a:endParaRPr>
          </a:p>
          <a:p>
            <a:pPr indent="-349250" lvl="0" marL="3556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Char char="•"/>
            </a:pPr>
            <a:r>
              <a:rPr lang="en" sz="2100">
                <a:latin typeface="Arial"/>
                <a:ea typeface="Arial"/>
                <a:cs typeface="Arial"/>
                <a:sym typeface="Arial"/>
              </a:rPr>
              <a:t>New machines created by the scale set will be based on the original image</a:t>
            </a:r>
            <a:endParaRPr sz="2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2100"/>
              <a:buFont typeface="Arial"/>
              <a:buNone/>
            </a:pPr>
            <a:r>
              <a:t/>
            </a:r>
            <a:endParaRPr sz="2100">
              <a:latin typeface="Arial"/>
              <a:ea typeface="Arial"/>
              <a:cs typeface="Arial"/>
              <a:sym typeface="Arial"/>
            </a:endParaRPr>
          </a:p>
          <a:p>
            <a:pPr indent="-349250" lvl="0" marL="355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Char char="•"/>
            </a:pPr>
            <a:r>
              <a:rPr lang="en" sz="2100">
                <a:latin typeface="Arial"/>
                <a:ea typeface="Arial"/>
                <a:cs typeface="Arial"/>
                <a:sym typeface="Arial"/>
              </a:rPr>
              <a:t>For web apps, a load balancer should be put in front of the scale set</a:t>
            </a:r>
            <a:endParaRPr sz="21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3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p58"/>
          <p:cNvSpPr txBox="1"/>
          <p:nvPr>
            <p:ph type="ctrTitle"/>
          </p:nvPr>
        </p:nvSpPr>
        <p:spPr>
          <a:xfrm>
            <a:off x="158038" y="78961"/>
            <a:ext cx="4818221" cy="5910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Scale Set Architecture</a:t>
            </a:r>
            <a:endParaRPr/>
          </a:p>
        </p:txBody>
      </p:sp>
      <p:sp>
        <p:nvSpPr>
          <p:cNvPr id="515" name="Google Shape;515;p58"/>
          <p:cNvSpPr txBox="1"/>
          <p:nvPr/>
        </p:nvSpPr>
        <p:spPr>
          <a:xfrm>
            <a:off x="3181254" y="1164146"/>
            <a:ext cx="1131094" cy="2247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Arial"/>
                <a:ea typeface="Arial"/>
                <a:cs typeface="Arial"/>
                <a:sym typeface="Arial"/>
              </a:rPr>
              <a:t>Load Balancer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6" name="Google Shape;516;p58"/>
          <p:cNvSpPr txBox="1"/>
          <p:nvPr/>
        </p:nvSpPr>
        <p:spPr>
          <a:xfrm>
            <a:off x="2888646" y="4589450"/>
            <a:ext cx="1981200" cy="4310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Arial"/>
                <a:ea typeface="Arial"/>
                <a:cs typeface="Arial"/>
                <a:sym typeface="Arial"/>
              </a:rPr>
              <a:t>Virtual Machine Scale Set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Arial"/>
                <a:ea typeface="Arial"/>
                <a:cs typeface="Arial"/>
                <a:sym typeface="Arial"/>
              </a:rPr>
              <a:t>(VMSS)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7" name="Google Shape;517;p58"/>
          <p:cNvSpPr/>
          <p:nvPr/>
        </p:nvSpPr>
        <p:spPr>
          <a:xfrm>
            <a:off x="3707606" y="2367153"/>
            <a:ext cx="128588" cy="740569"/>
          </a:xfrm>
          <a:custGeom>
            <a:rect b="b" l="l" r="r" t="t"/>
            <a:pathLst>
              <a:path extrusionOk="0" h="987425" w="171450">
                <a:moveTo>
                  <a:pt x="57150" y="815594"/>
                </a:moveTo>
                <a:lnTo>
                  <a:pt x="0" y="815594"/>
                </a:lnTo>
                <a:lnTo>
                  <a:pt x="85725" y="987044"/>
                </a:lnTo>
                <a:lnTo>
                  <a:pt x="157162" y="844169"/>
                </a:lnTo>
                <a:lnTo>
                  <a:pt x="57150" y="844169"/>
                </a:lnTo>
                <a:lnTo>
                  <a:pt x="57150" y="815594"/>
                </a:lnTo>
                <a:close/>
              </a:path>
              <a:path extrusionOk="0" h="987425" w="171450">
                <a:moveTo>
                  <a:pt x="114300" y="0"/>
                </a:moveTo>
                <a:lnTo>
                  <a:pt x="57150" y="0"/>
                </a:lnTo>
                <a:lnTo>
                  <a:pt x="57150" y="844169"/>
                </a:lnTo>
                <a:lnTo>
                  <a:pt x="114300" y="844169"/>
                </a:lnTo>
                <a:lnTo>
                  <a:pt x="114300" y="0"/>
                </a:lnTo>
                <a:close/>
              </a:path>
              <a:path extrusionOk="0" h="987425" w="171450">
                <a:moveTo>
                  <a:pt x="171450" y="815594"/>
                </a:moveTo>
                <a:lnTo>
                  <a:pt x="114300" y="815594"/>
                </a:lnTo>
                <a:lnTo>
                  <a:pt x="114300" y="844169"/>
                </a:lnTo>
                <a:lnTo>
                  <a:pt x="157162" y="844169"/>
                </a:lnTo>
                <a:lnTo>
                  <a:pt x="171450" y="815594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pic>
        <p:nvPicPr>
          <p:cNvPr id="518" name="Google Shape;518;p5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63357" y="3349149"/>
            <a:ext cx="1051446" cy="1052532"/>
          </a:xfrm>
          <a:prstGeom prst="rect">
            <a:avLst/>
          </a:prstGeom>
          <a:noFill/>
          <a:ln>
            <a:noFill/>
          </a:ln>
        </p:spPr>
      </p:pic>
      <p:pic>
        <p:nvPicPr>
          <p:cNvPr id="519" name="Google Shape;519;p5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387851" y="1525904"/>
            <a:ext cx="768095" cy="7692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3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p59"/>
          <p:cNvSpPr txBox="1"/>
          <p:nvPr>
            <p:ph type="title"/>
          </p:nvPr>
        </p:nvSpPr>
        <p:spPr>
          <a:xfrm>
            <a:off x="158039" y="78961"/>
            <a:ext cx="7938135" cy="12148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Scale Set Pricing</a:t>
            </a:r>
            <a:endParaRPr/>
          </a:p>
        </p:txBody>
      </p:sp>
      <p:sp>
        <p:nvSpPr>
          <p:cNvPr id="525" name="Google Shape;525;p59"/>
          <p:cNvSpPr txBox="1"/>
          <p:nvPr/>
        </p:nvSpPr>
        <p:spPr>
          <a:xfrm>
            <a:off x="497966" y="1310639"/>
            <a:ext cx="4370546" cy="9791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050">
            <a:spAutoFit/>
          </a:bodyPr>
          <a:lstStyle/>
          <a:p>
            <a:pPr indent="-349250" lvl="0" marL="355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Char char="•"/>
            </a:pPr>
            <a:r>
              <a:rPr lang="en" sz="2100">
                <a:latin typeface="Arial"/>
                <a:ea typeface="Arial"/>
                <a:cs typeface="Arial"/>
                <a:sym typeface="Arial"/>
              </a:rPr>
              <a:t>Scale Set is free</a:t>
            </a:r>
            <a:endParaRPr sz="2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2100"/>
              <a:buFont typeface="Arial"/>
              <a:buNone/>
            </a:pPr>
            <a:r>
              <a:t/>
            </a:r>
            <a:endParaRPr sz="2100">
              <a:latin typeface="Arial"/>
              <a:ea typeface="Arial"/>
              <a:cs typeface="Arial"/>
              <a:sym typeface="Arial"/>
            </a:endParaRPr>
          </a:p>
          <a:p>
            <a:pPr indent="-349250" lvl="0" marL="355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Char char="•"/>
            </a:pPr>
            <a:r>
              <a:rPr lang="en" sz="2100">
                <a:latin typeface="Arial"/>
                <a:ea typeface="Arial"/>
                <a:cs typeface="Arial"/>
                <a:sym typeface="Arial"/>
              </a:rPr>
              <a:t>You pay for the VMs deployed in it</a:t>
            </a:r>
            <a:endParaRPr sz="21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9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p60"/>
          <p:cNvSpPr txBox="1"/>
          <p:nvPr>
            <p:ph type="title"/>
          </p:nvPr>
        </p:nvSpPr>
        <p:spPr>
          <a:xfrm>
            <a:off x="158039" y="78961"/>
            <a:ext cx="7938135" cy="12148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Azure Instance Metadata Services</a:t>
            </a:r>
            <a:endParaRPr/>
          </a:p>
        </p:txBody>
      </p:sp>
      <p:sp>
        <p:nvSpPr>
          <p:cNvPr id="531" name="Google Shape;531;p60"/>
          <p:cNvSpPr txBox="1"/>
          <p:nvPr/>
        </p:nvSpPr>
        <p:spPr>
          <a:xfrm>
            <a:off x="497966" y="1310639"/>
            <a:ext cx="5954554" cy="35399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050">
            <a:spAutoFit/>
          </a:bodyPr>
          <a:lstStyle/>
          <a:p>
            <a:pPr indent="-349250" lvl="0" marL="355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Char char="•"/>
            </a:pPr>
            <a:r>
              <a:rPr lang="en" sz="2100">
                <a:latin typeface="Arial"/>
                <a:ea typeface="Arial"/>
                <a:cs typeface="Arial"/>
                <a:sym typeface="Arial"/>
              </a:rPr>
              <a:t>A little known feature of Azure VMs</a:t>
            </a:r>
            <a:endParaRPr sz="2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2100"/>
              <a:buFont typeface="Arial"/>
              <a:buNone/>
            </a:pPr>
            <a:r>
              <a:t/>
            </a:r>
            <a:endParaRPr sz="2100">
              <a:latin typeface="Arial"/>
              <a:ea typeface="Arial"/>
              <a:cs typeface="Arial"/>
              <a:sym typeface="Arial"/>
            </a:endParaRPr>
          </a:p>
          <a:p>
            <a:pPr indent="-349250" lvl="0" marL="355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Char char="•"/>
            </a:pPr>
            <a:r>
              <a:rPr lang="en" sz="2100">
                <a:latin typeface="Arial"/>
                <a:ea typeface="Arial"/>
                <a:cs typeface="Arial"/>
                <a:sym typeface="Arial"/>
              </a:rPr>
              <a:t>A REST API accessible from the VM</a:t>
            </a:r>
            <a:endParaRPr sz="2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2100"/>
              <a:buFont typeface="Arial"/>
              <a:buNone/>
            </a:pPr>
            <a:r>
              <a:t/>
            </a:r>
            <a:endParaRPr sz="2100">
              <a:latin typeface="Arial"/>
              <a:ea typeface="Arial"/>
              <a:cs typeface="Arial"/>
              <a:sym typeface="Arial"/>
            </a:endParaRPr>
          </a:p>
          <a:p>
            <a:pPr indent="-349250" lvl="0" marL="355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Char char="•"/>
            </a:pPr>
            <a:r>
              <a:rPr lang="en" sz="2100">
                <a:latin typeface="Arial"/>
                <a:ea typeface="Arial"/>
                <a:cs typeface="Arial"/>
                <a:sym typeface="Arial"/>
              </a:rPr>
              <a:t>Providing a lot of info about the machine</a:t>
            </a:r>
            <a:endParaRPr sz="2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2100"/>
              <a:buFont typeface="Arial"/>
              <a:buNone/>
            </a:pPr>
            <a:r>
              <a:t/>
            </a:r>
            <a:endParaRPr sz="2100">
              <a:latin typeface="Arial"/>
              <a:ea typeface="Arial"/>
              <a:cs typeface="Arial"/>
              <a:sym typeface="Arial"/>
            </a:endParaRPr>
          </a:p>
          <a:p>
            <a:pPr indent="-349250" lvl="0" marL="355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Char char="•"/>
            </a:pPr>
            <a:r>
              <a:rPr lang="en" sz="2100">
                <a:latin typeface="Arial"/>
                <a:ea typeface="Arial"/>
                <a:cs typeface="Arial"/>
                <a:sym typeface="Arial"/>
              </a:rPr>
              <a:t>Info includes:</a:t>
            </a:r>
            <a:endParaRPr sz="2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2100"/>
              <a:buFont typeface="Arial"/>
              <a:buNone/>
            </a:pPr>
            <a:r>
              <a:t/>
            </a:r>
            <a:endParaRPr sz="2100">
              <a:latin typeface="Arial"/>
              <a:ea typeface="Arial"/>
              <a:cs typeface="Arial"/>
              <a:sym typeface="Arial"/>
            </a:endParaRPr>
          </a:p>
          <a:p>
            <a:pPr indent="-349250" lvl="1" marL="6985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Char char="•"/>
            </a:pPr>
            <a:r>
              <a:rPr lang="en" sz="2100">
                <a:latin typeface="Arial"/>
                <a:ea typeface="Arial"/>
                <a:cs typeface="Arial"/>
                <a:sym typeface="Arial"/>
              </a:rPr>
              <a:t>SKU, storage, networking, scheduled events</a:t>
            </a:r>
            <a:endParaRPr sz="2100">
              <a:latin typeface="Arial"/>
              <a:ea typeface="Arial"/>
              <a:cs typeface="Arial"/>
              <a:sym typeface="Arial"/>
            </a:endParaRPr>
          </a:p>
          <a:p>
            <a:pPr indent="0" lvl="1" marL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2100"/>
              <a:buFont typeface="Arial"/>
              <a:buNone/>
            </a:pPr>
            <a:r>
              <a:t/>
            </a:r>
            <a:endParaRPr sz="2100">
              <a:latin typeface="Arial"/>
              <a:ea typeface="Arial"/>
              <a:cs typeface="Arial"/>
              <a:sym typeface="Arial"/>
            </a:endParaRPr>
          </a:p>
          <a:p>
            <a:pPr indent="-349250" lvl="0" marL="355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Char char="•"/>
            </a:pPr>
            <a:r>
              <a:rPr lang="en" sz="2100">
                <a:latin typeface="Arial"/>
                <a:ea typeface="Arial"/>
                <a:cs typeface="Arial"/>
                <a:sym typeface="Arial"/>
              </a:rPr>
              <a:t>Accessible ONLY from the VM</a:t>
            </a:r>
            <a:endParaRPr sz="21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5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p61"/>
          <p:cNvSpPr txBox="1"/>
          <p:nvPr>
            <p:ph type="title"/>
          </p:nvPr>
        </p:nvSpPr>
        <p:spPr>
          <a:xfrm>
            <a:off x="158039" y="78961"/>
            <a:ext cx="7938135" cy="12148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Azure Instance Metadata Services</a:t>
            </a:r>
            <a:endParaRPr/>
          </a:p>
        </p:txBody>
      </p:sp>
      <p:sp>
        <p:nvSpPr>
          <p:cNvPr id="537" name="Google Shape;537;p61"/>
          <p:cNvSpPr txBox="1"/>
          <p:nvPr/>
        </p:nvSpPr>
        <p:spPr>
          <a:xfrm>
            <a:off x="497966" y="1310639"/>
            <a:ext cx="8002905" cy="1619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050">
            <a:spAutoFit/>
          </a:bodyPr>
          <a:lstStyle/>
          <a:p>
            <a:pPr indent="-349250" lvl="0" marL="355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Char char="•"/>
            </a:pPr>
            <a:r>
              <a:rPr lang="en" sz="2100">
                <a:latin typeface="Arial"/>
                <a:ea typeface="Arial"/>
                <a:cs typeface="Arial"/>
                <a:sym typeface="Arial"/>
              </a:rPr>
              <a:t>With Scaleset –</a:t>
            </a:r>
            <a:endParaRPr sz="2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2100"/>
              <a:buFont typeface="Arial"/>
              <a:buNone/>
            </a:pPr>
            <a:r>
              <a:t/>
            </a:r>
            <a:endParaRPr sz="2100">
              <a:latin typeface="Arial"/>
              <a:ea typeface="Arial"/>
              <a:cs typeface="Arial"/>
              <a:sym typeface="Arial"/>
            </a:endParaRPr>
          </a:p>
          <a:p>
            <a:pPr indent="-349250" lvl="1" marL="6985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Char char="•"/>
            </a:pPr>
            <a:r>
              <a:rPr lang="en" sz="2100">
                <a:latin typeface="Arial"/>
                <a:ea typeface="Arial"/>
                <a:cs typeface="Arial"/>
                <a:sym typeface="Arial"/>
              </a:rPr>
              <a:t>Get notification about upcoming eviction</a:t>
            </a:r>
            <a:endParaRPr sz="2100">
              <a:latin typeface="Arial"/>
              <a:ea typeface="Arial"/>
              <a:cs typeface="Arial"/>
              <a:sym typeface="Arial"/>
            </a:endParaRPr>
          </a:p>
          <a:p>
            <a:pPr indent="0" lvl="1" marL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2100"/>
              <a:buFont typeface="Arial"/>
              <a:buNone/>
            </a:pPr>
            <a:r>
              <a:t/>
            </a:r>
            <a:endParaRPr sz="2100">
              <a:latin typeface="Arial"/>
              <a:ea typeface="Arial"/>
              <a:cs typeface="Arial"/>
              <a:sym typeface="Arial"/>
            </a:endParaRPr>
          </a:p>
          <a:p>
            <a:pPr indent="-349250" lvl="0" marL="355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Char char="•"/>
            </a:pPr>
            <a:r>
              <a:rPr lang="en" sz="2100">
                <a:latin typeface="Arial"/>
                <a:ea typeface="Arial"/>
                <a:cs typeface="Arial"/>
                <a:sym typeface="Arial"/>
              </a:rPr>
              <a:t>Can be polled every ~1 min to get enough time to close things up</a:t>
            </a:r>
            <a:endParaRPr sz="21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p62"/>
          <p:cNvSpPr txBox="1"/>
          <p:nvPr>
            <p:ph type="title"/>
          </p:nvPr>
        </p:nvSpPr>
        <p:spPr>
          <a:xfrm>
            <a:off x="158039" y="78961"/>
            <a:ext cx="7938135" cy="12148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Azure Architecture Diagram</a:t>
            </a:r>
            <a:endParaRPr/>
          </a:p>
        </p:txBody>
      </p:sp>
      <p:sp>
        <p:nvSpPr>
          <p:cNvPr id="543" name="Google Shape;543;p62"/>
          <p:cNvSpPr txBox="1"/>
          <p:nvPr/>
        </p:nvSpPr>
        <p:spPr>
          <a:xfrm>
            <a:off x="497966" y="1310639"/>
            <a:ext cx="8260080" cy="1619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050">
            <a:spAutoFit/>
          </a:bodyPr>
          <a:lstStyle/>
          <a:p>
            <a:pPr indent="-349250" lvl="0" marL="355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Char char="•"/>
            </a:pPr>
            <a:r>
              <a:rPr lang="en" sz="2100">
                <a:latin typeface="Arial"/>
                <a:ea typeface="Arial"/>
                <a:cs typeface="Arial"/>
                <a:sym typeface="Arial"/>
              </a:rPr>
              <a:t>When designing architecture for Azure apps it’s a good idea to use</a:t>
            </a:r>
            <a:endParaRPr sz="2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2100"/>
              <a:buFont typeface="Arial"/>
              <a:buNone/>
            </a:pPr>
            <a:r>
              <a:t/>
            </a:r>
            <a:endParaRPr sz="2100">
              <a:latin typeface="Arial"/>
              <a:ea typeface="Arial"/>
              <a:cs typeface="Arial"/>
              <a:sym typeface="Arial"/>
            </a:endParaRPr>
          </a:p>
          <a:p>
            <a:pPr indent="0" lvl="0" marL="355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latin typeface="Arial"/>
                <a:ea typeface="Arial"/>
                <a:cs typeface="Arial"/>
                <a:sym typeface="Arial"/>
              </a:rPr>
              <a:t>Azure symbols in the diagram</a:t>
            </a:r>
            <a:endParaRPr sz="2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Arial"/>
              <a:ea typeface="Arial"/>
              <a:cs typeface="Arial"/>
              <a:sym typeface="Arial"/>
            </a:endParaRPr>
          </a:p>
          <a:p>
            <a:pPr indent="-349250" lvl="0" marL="355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Char char="•"/>
            </a:pPr>
            <a:r>
              <a:rPr lang="en" sz="2100">
                <a:latin typeface="Arial"/>
                <a:ea typeface="Arial"/>
                <a:cs typeface="Arial"/>
                <a:sym typeface="Arial"/>
              </a:rPr>
              <a:t>There are hundreds of them…</a:t>
            </a:r>
            <a:endParaRPr sz="21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7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p63"/>
          <p:cNvSpPr txBox="1"/>
          <p:nvPr>
            <p:ph type="title"/>
          </p:nvPr>
        </p:nvSpPr>
        <p:spPr>
          <a:xfrm>
            <a:off x="158039" y="78961"/>
            <a:ext cx="7938135" cy="12148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Download Azure Icons</a:t>
            </a:r>
            <a:endParaRPr/>
          </a:p>
        </p:txBody>
      </p:sp>
      <p:sp>
        <p:nvSpPr>
          <p:cNvPr id="549" name="Google Shape;549;p63"/>
          <p:cNvSpPr txBox="1"/>
          <p:nvPr/>
        </p:nvSpPr>
        <p:spPr>
          <a:xfrm>
            <a:off x="497966" y="1310639"/>
            <a:ext cx="7543800" cy="339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050">
            <a:spAutoFit/>
          </a:bodyPr>
          <a:lstStyle/>
          <a:p>
            <a:pPr indent="-349250" lvl="0" marL="355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</a:pPr>
            <a:r>
              <a:rPr lang="en" sz="21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https://docs.microsoft.com/en-us/azure/architecture/icons/</a:t>
            </a:r>
            <a:endParaRPr sz="21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553" name="Shape 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4" name="Google Shape;554;p6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33647" y="201266"/>
            <a:ext cx="1071941" cy="323370"/>
          </a:xfrm>
          <a:prstGeom prst="rect">
            <a:avLst/>
          </a:prstGeom>
          <a:noFill/>
          <a:ln>
            <a:noFill/>
          </a:ln>
        </p:spPr>
      </p:pic>
      <p:sp>
        <p:nvSpPr>
          <p:cNvPr id="555" name="Google Shape;555;p64"/>
          <p:cNvSpPr txBox="1"/>
          <p:nvPr>
            <p:ph type="title"/>
          </p:nvPr>
        </p:nvSpPr>
        <p:spPr>
          <a:xfrm>
            <a:off x="158039" y="78961"/>
            <a:ext cx="7938135" cy="12148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37950">
            <a:spAutoFit/>
          </a:bodyPr>
          <a:lstStyle/>
          <a:p>
            <a:pPr indent="0" lvl="0" marL="2844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C55A11"/>
                </a:solidFill>
              </a:rPr>
              <a:t>Cloud Architecture</a:t>
            </a:r>
            <a:endParaRPr sz="2900"/>
          </a:p>
        </p:txBody>
      </p:sp>
      <p:pic>
        <p:nvPicPr>
          <p:cNvPr id="556" name="Google Shape;556;p6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779132" y="2432332"/>
            <a:ext cx="414908" cy="387248"/>
          </a:xfrm>
          <a:prstGeom prst="rect">
            <a:avLst/>
          </a:prstGeom>
          <a:noFill/>
          <a:ln>
            <a:noFill/>
          </a:ln>
        </p:spPr>
      </p:pic>
      <p:pic>
        <p:nvPicPr>
          <p:cNvPr id="557" name="Google Shape;557;p6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57875" y="2432332"/>
            <a:ext cx="414908" cy="387248"/>
          </a:xfrm>
          <a:prstGeom prst="rect">
            <a:avLst/>
          </a:prstGeom>
          <a:noFill/>
          <a:ln>
            <a:noFill/>
          </a:ln>
        </p:spPr>
      </p:pic>
      <p:sp>
        <p:nvSpPr>
          <p:cNvPr id="558" name="Google Shape;558;p64"/>
          <p:cNvSpPr txBox="1"/>
          <p:nvPr/>
        </p:nvSpPr>
        <p:spPr>
          <a:xfrm>
            <a:off x="6669690" y="2867406"/>
            <a:ext cx="634841" cy="3167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VM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385622"/>
                </a:solidFill>
                <a:latin typeface="Arial"/>
                <a:ea typeface="Arial"/>
                <a:cs typeface="Arial"/>
                <a:sym typeface="Arial"/>
              </a:rPr>
              <a:t>Catalog App</a:t>
            </a:r>
            <a:endParaRPr sz="9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9" name="Google Shape;559;p64"/>
          <p:cNvSpPr txBox="1"/>
          <p:nvPr/>
        </p:nvSpPr>
        <p:spPr>
          <a:xfrm>
            <a:off x="5737669" y="2867406"/>
            <a:ext cx="655320" cy="3167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VM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385622"/>
                </a:solidFill>
                <a:latin typeface="Arial"/>
                <a:ea typeface="Arial"/>
                <a:cs typeface="Arial"/>
                <a:sym typeface="Arial"/>
              </a:rPr>
              <a:t>Weather API</a:t>
            </a:r>
            <a:endParaRPr sz="9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563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4" name="Google Shape;564;p6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33647" y="201266"/>
            <a:ext cx="1071941" cy="323370"/>
          </a:xfrm>
          <a:prstGeom prst="rect">
            <a:avLst/>
          </a:prstGeom>
          <a:noFill/>
          <a:ln>
            <a:noFill/>
          </a:ln>
        </p:spPr>
      </p:pic>
      <p:sp>
        <p:nvSpPr>
          <p:cNvPr id="565" name="Google Shape;565;p65"/>
          <p:cNvSpPr txBox="1"/>
          <p:nvPr>
            <p:ph type="title"/>
          </p:nvPr>
        </p:nvSpPr>
        <p:spPr>
          <a:xfrm>
            <a:off x="158039" y="78961"/>
            <a:ext cx="7938135" cy="12148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37950">
            <a:spAutoFit/>
          </a:bodyPr>
          <a:lstStyle/>
          <a:p>
            <a:pPr indent="0" lvl="0" marL="2844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C55A11"/>
                </a:solidFill>
              </a:rPr>
              <a:t>Cloud Architecture</a:t>
            </a:r>
            <a:endParaRPr sz="2900"/>
          </a:p>
        </p:txBody>
      </p:sp>
      <p:pic>
        <p:nvPicPr>
          <p:cNvPr id="566" name="Google Shape;566;p6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779132" y="2432332"/>
            <a:ext cx="414908" cy="387248"/>
          </a:xfrm>
          <a:prstGeom prst="rect">
            <a:avLst/>
          </a:prstGeom>
          <a:noFill/>
          <a:ln>
            <a:noFill/>
          </a:ln>
        </p:spPr>
      </p:pic>
      <p:pic>
        <p:nvPicPr>
          <p:cNvPr id="567" name="Google Shape;567;p6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57875" y="2432332"/>
            <a:ext cx="414908" cy="387248"/>
          </a:xfrm>
          <a:prstGeom prst="rect">
            <a:avLst/>
          </a:prstGeom>
          <a:noFill/>
          <a:ln>
            <a:noFill/>
          </a:ln>
        </p:spPr>
      </p:pic>
      <p:sp>
        <p:nvSpPr>
          <p:cNvPr id="568" name="Google Shape;568;p65"/>
          <p:cNvSpPr txBox="1"/>
          <p:nvPr/>
        </p:nvSpPr>
        <p:spPr>
          <a:xfrm>
            <a:off x="6669690" y="2867406"/>
            <a:ext cx="634841" cy="3167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VM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385622"/>
                </a:solidFill>
                <a:latin typeface="Arial"/>
                <a:ea typeface="Arial"/>
                <a:cs typeface="Arial"/>
                <a:sym typeface="Arial"/>
              </a:rPr>
              <a:t>Catalog App</a:t>
            </a:r>
            <a:endParaRPr sz="9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9" name="Google Shape;569;p65"/>
          <p:cNvSpPr txBox="1"/>
          <p:nvPr/>
        </p:nvSpPr>
        <p:spPr>
          <a:xfrm>
            <a:off x="5737669" y="2867406"/>
            <a:ext cx="655320" cy="3167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VM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385622"/>
                </a:solidFill>
                <a:latin typeface="Arial"/>
                <a:ea typeface="Arial"/>
                <a:cs typeface="Arial"/>
                <a:sym typeface="Arial"/>
              </a:rPr>
              <a:t>Weather API</a:t>
            </a:r>
            <a:endParaRPr sz="9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0" name="Google Shape;570;p65"/>
          <p:cNvSpPr txBox="1"/>
          <p:nvPr/>
        </p:nvSpPr>
        <p:spPr>
          <a:xfrm>
            <a:off x="308229" y="1432274"/>
            <a:ext cx="3020853" cy="4538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00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900">
                <a:solidFill>
                  <a:srgbClr val="FF0000"/>
                </a:solidFill>
                <a:latin typeface="Lucida Sans"/>
                <a:ea typeface="Lucida Sans"/>
                <a:cs typeface="Lucida Sans"/>
                <a:sym typeface="Lucida Sans"/>
              </a:rPr>
              <a:t>A Word of Caution:</a:t>
            </a:r>
            <a:endParaRPr sz="2900"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571" name="Google Shape;571;p65"/>
          <p:cNvSpPr txBox="1"/>
          <p:nvPr/>
        </p:nvSpPr>
        <p:spPr>
          <a:xfrm>
            <a:off x="5174647" y="3713607"/>
            <a:ext cx="3561874" cy="7058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3825">
            <a:spAutoFit/>
          </a:bodyPr>
          <a:lstStyle/>
          <a:p>
            <a:pPr indent="-425450" lvl="0" marL="431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500"/>
              <a:buFont typeface="Lucida Sans"/>
              <a:buChar char="-"/>
            </a:pPr>
            <a:r>
              <a:rPr b="1" lang="en" sz="1500">
                <a:solidFill>
                  <a:srgbClr val="FF0000"/>
                </a:solidFill>
                <a:latin typeface="Lucida Sans"/>
                <a:ea typeface="Lucida Sans"/>
                <a:cs typeface="Lucida Sans"/>
                <a:sym typeface="Lucida Sans"/>
              </a:rPr>
              <a:t>Directly accessible from the internet</a:t>
            </a:r>
            <a:endParaRPr sz="1500">
              <a:latin typeface="Lucida Sans"/>
              <a:ea typeface="Lucida Sans"/>
              <a:cs typeface="Lucida Sans"/>
              <a:sym typeface="Lucida Sans"/>
            </a:endParaRPr>
          </a:p>
          <a:p>
            <a:pPr indent="-425450" lvl="0" marL="43180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FF0000"/>
              </a:buClr>
              <a:buSzPts val="1500"/>
              <a:buFont typeface="Lucida Sans"/>
              <a:buChar char="-"/>
            </a:pPr>
            <a:r>
              <a:rPr b="1" lang="en" sz="1500">
                <a:solidFill>
                  <a:srgbClr val="FF0000"/>
                </a:solidFill>
                <a:latin typeface="Lucida Sans"/>
                <a:ea typeface="Lucida Sans"/>
                <a:cs typeface="Lucida Sans"/>
                <a:sym typeface="Lucida Sans"/>
              </a:rPr>
              <a:t>Can be RDPed from anywhere</a:t>
            </a:r>
            <a:endParaRPr sz="1500"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572" name="Google Shape;572;p65"/>
          <p:cNvSpPr/>
          <p:nvPr/>
        </p:nvSpPr>
        <p:spPr>
          <a:xfrm>
            <a:off x="6944867" y="3213545"/>
            <a:ext cx="85725" cy="559594"/>
          </a:xfrm>
          <a:custGeom>
            <a:rect b="b" l="l" r="r" t="t"/>
            <a:pathLst>
              <a:path extrusionOk="0" h="746125" w="114300">
                <a:moveTo>
                  <a:pt x="76200" y="95250"/>
                </a:moveTo>
                <a:lnTo>
                  <a:pt x="38100" y="95250"/>
                </a:lnTo>
                <a:lnTo>
                  <a:pt x="38100" y="745744"/>
                </a:lnTo>
                <a:lnTo>
                  <a:pt x="76200" y="745744"/>
                </a:lnTo>
                <a:lnTo>
                  <a:pt x="76200" y="95250"/>
                </a:lnTo>
                <a:close/>
              </a:path>
              <a:path extrusionOk="0" h="746125" w="114300">
                <a:moveTo>
                  <a:pt x="57150" y="0"/>
                </a:moveTo>
                <a:lnTo>
                  <a:pt x="0" y="114300"/>
                </a:lnTo>
                <a:lnTo>
                  <a:pt x="38100" y="114300"/>
                </a:lnTo>
                <a:lnTo>
                  <a:pt x="38100" y="95250"/>
                </a:lnTo>
                <a:lnTo>
                  <a:pt x="104775" y="95250"/>
                </a:lnTo>
                <a:lnTo>
                  <a:pt x="57150" y="0"/>
                </a:lnTo>
                <a:close/>
              </a:path>
              <a:path extrusionOk="0" h="746125" w="114300">
                <a:moveTo>
                  <a:pt x="104775" y="95250"/>
                </a:moveTo>
                <a:lnTo>
                  <a:pt x="76200" y="95250"/>
                </a:lnTo>
                <a:lnTo>
                  <a:pt x="76200" y="114300"/>
                </a:lnTo>
                <a:lnTo>
                  <a:pt x="114300" y="114300"/>
                </a:lnTo>
                <a:lnTo>
                  <a:pt x="104775" y="95250"/>
                </a:lnTo>
                <a:close/>
              </a:path>
            </a:pathLst>
          </a:custGeom>
          <a:solidFill>
            <a:srgbClr val="FF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573" name="Google Shape;573;p65"/>
          <p:cNvSpPr txBox="1"/>
          <p:nvPr/>
        </p:nvSpPr>
        <p:spPr>
          <a:xfrm>
            <a:off x="548639" y="2546603"/>
            <a:ext cx="3743325" cy="1521619"/>
          </a:xfrm>
          <a:prstGeom prst="rect">
            <a:avLst/>
          </a:prstGeom>
          <a:noFill/>
          <a:ln cap="flat" cmpd="sng" w="762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9525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3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NEVER</a:t>
            </a:r>
            <a:endParaRPr sz="3300">
              <a:latin typeface="Arial"/>
              <a:ea typeface="Arial"/>
              <a:cs typeface="Arial"/>
              <a:sym typeface="Arial"/>
            </a:endParaRPr>
          </a:p>
          <a:p>
            <a:pPr indent="0" lvl="0" marL="139700" marR="1397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leave a VM open to the internet this way</a:t>
            </a:r>
            <a:endParaRPr sz="27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4" name="Google Shape;574;p65"/>
          <p:cNvSpPr txBox="1"/>
          <p:nvPr/>
        </p:nvSpPr>
        <p:spPr>
          <a:xfrm>
            <a:off x="607466" y="4285183"/>
            <a:ext cx="3662839" cy="2481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0000"/>
                </a:solidFill>
                <a:latin typeface="Lucida Sans"/>
                <a:ea typeface="Lucida Sans"/>
                <a:cs typeface="Lucida Sans"/>
                <a:sym typeface="Lucida Sans"/>
              </a:rPr>
              <a:t>We will learn later on what should be done</a:t>
            </a:r>
            <a:endParaRPr sz="1500">
              <a:latin typeface="Lucida Sans"/>
              <a:ea typeface="Lucida Sans"/>
              <a:cs typeface="Lucida Sans"/>
              <a:sym typeface="Lucida Sans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8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Google Shape;579;p66"/>
          <p:cNvSpPr txBox="1"/>
          <p:nvPr>
            <p:ph type="title"/>
          </p:nvPr>
        </p:nvSpPr>
        <p:spPr>
          <a:xfrm>
            <a:off x="158039" y="78961"/>
            <a:ext cx="7938135" cy="12148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App Services</a:t>
            </a:r>
            <a:endParaRPr/>
          </a:p>
        </p:txBody>
      </p:sp>
      <p:sp>
        <p:nvSpPr>
          <p:cNvPr id="580" name="Google Shape;580;p66"/>
          <p:cNvSpPr txBox="1"/>
          <p:nvPr/>
        </p:nvSpPr>
        <p:spPr>
          <a:xfrm>
            <a:off x="497966" y="1310639"/>
            <a:ext cx="7385685" cy="35399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050">
            <a:spAutoFit/>
          </a:bodyPr>
          <a:lstStyle/>
          <a:p>
            <a:pPr indent="-349250" lvl="0" marL="355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Char char="•"/>
            </a:pPr>
            <a:r>
              <a:rPr lang="en" sz="2100">
                <a:latin typeface="Arial"/>
                <a:ea typeface="Arial"/>
                <a:cs typeface="Arial"/>
                <a:sym typeface="Arial"/>
              </a:rPr>
              <a:t>A fully managed web hosting for websites</a:t>
            </a:r>
            <a:endParaRPr sz="2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2100"/>
              <a:buFont typeface="Arial"/>
              <a:buNone/>
            </a:pPr>
            <a:r>
              <a:t/>
            </a:r>
            <a:endParaRPr sz="2100">
              <a:latin typeface="Arial"/>
              <a:ea typeface="Arial"/>
              <a:cs typeface="Arial"/>
              <a:sym typeface="Arial"/>
            </a:endParaRPr>
          </a:p>
          <a:p>
            <a:pPr indent="-349250" lvl="0" marL="355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Char char="•"/>
            </a:pPr>
            <a:r>
              <a:rPr lang="en" sz="2100">
                <a:latin typeface="Arial"/>
                <a:ea typeface="Arial"/>
                <a:cs typeface="Arial"/>
                <a:sym typeface="Arial"/>
              </a:rPr>
              <a:t>Publish your code – and it just runs</a:t>
            </a:r>
            <a:endParaRPr sz="2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2100"/>
              <a:buFont typeface="Arial"/>
              <a:buNone/>
            </a:pPr>
            <a:r>
              <a:t/>
            </a:r>
            <a:endParaRPr sz="2100">
              <a:latin typeface="Arial"/>
              <a:ea typeface="Arial"/>
              <a:cs typeface="Arial"/>
              <a:sym typeface="Arial"/>
            </a:endParaRPr>
          </a:p>
          <a:p>
            <a:pPr indent="-349250" lvl="0" marL="355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Char char="•"/>
            </a:pPr>
            <a:r>
              <a:rPr lang="en" sz="2100">
                <a:latin typeface="Arial"/>
                <a:ea typeface="Arial"/>
                <a:cs typeface="Arial"/>
                <a:sym typeface="Arial"/>
              </a:rPr>
              <a:t>No access to the underlying servers</a:t>
            </a:r>
            <a:endParaRPr sz="2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2100"/>
              <a:buFont typeface="Arial"/>
              <a:buNone/>
            </a:pPr>
            <a:r>
              <a:t/>
            </a:r>
            <a:endParaRPr sz="2100">
              <a:latin typeface="Arial"/>
              <a:ea typeface="Arial"/>
              <a:cs typeface="Arial"/>
              <a:sym typeface="Arial"/>
            </a:endParaRPr>
          </a:p>
          <a:p>
            <a:pPr indent="-349250" lvl="0" marL="355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Char char="•"/>
            </a:pPr>
            <a:r>
              <a:rPr lang="en" sz="2100">
                <a:latin typeface="Arial"/>
                <a:ea typeface="Arial"/>
                <a:cs typeface="Arial"/>
                <a:sym typeface="Arial"/>
              </a:rPr>
              <a:t>Secured and compliant</a:t>
            </a:r>
            <a:endParaRPr sz="2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2100"/>
              <a:buFont typeface="Arial"/>
              <a:buNone/>
            </a:pPr>
            <a:r>
              <a:t/>
            </a:r>
            <a:endParaRPr sz="2100">
              <a:latin typeface="Arial"/>
              <a:ea typeface="Arial"/>
              <a:cs typeface="Arial"/>
              <a:sym typeface="Arial"/>
            </a:endParaRPr>
          </a:p>
          <a:p>
            <a:pPr indent="-349250" lvl="0" marL="355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Char char="•"/>
            </a:pPr>
            <a:r>
              <a:rPr lang="en" sz="2100">
                <a:latin typeface="Arial"/>
                <a:ea typeface="Arial"/>
                <a:cs typeface="Arial"/>
                <a:sym typeface="Arial"/>
              </a:rPr>
              <a:t>Integrates with many source controls and DevOps engines:</a:t>
            </a:r>
            <a:endParaRPr sz="2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2100"/>
              <a:buFont typeface="Arial"/>
              <a:buNone/>
            </a:pPr>
            <a:r>
              <a:t/>
            </a:r>
            <a:endParaRPr sz="2100">
              <a:latin typeface="Arial"/>
              <a:ea typeface="Arial"/>
              <a:cs typeface="Arial"/>
              <a:sym typeface="Arial"/>
            </a:endParaRPr>
          </a:p>
          <a:p>
            <a:pPr indent="-349250" lvl="1" marL="6985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Char char="•"/>
            </a:pPr>
            <a:r>
              <a:rPr lang="en" sz="2100">
                <a:latin typeface="Arial"/>
                <a:ea typeface="Arial"/>
                <a:cs typeface="Arial"/>
                <a:sym typeface="Arial"/>
              </a:rPr>
              <a:t>GitHub, BitBucket, Azure DevOps, DockerHub and more</a:t>
            </a:r>
            <a:endParaRPr sz="21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4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Google Shape;585;p67"/>
          <p:cNvSpPr txBox="1"/>
          <p:nvPr>
            <p:ph type="title"/>
          </p:nvPr>
        </p:nvSpPr>
        <p:spPr>
          <a:xfrm>
            <a:off x="158039" y="78961"/>
            <a:ext cx="2827496" cy="5910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App Services</a:t>
            </a:r>
            <a:endParaRPr/>
          </a:p>
        </p:txBody>
      </p:sp>
      <p:sp>
        <p:nvSpPr>
          <p:cNvPr id="586" name="Google Shape;586;p67"/>
          <p:cNvSpPr txBox="1"/>
          <p:nvPr/>
        </p:nvSpPr>
        <p:spPr>
          <a:xfrm>
            <a:off x="497966" y="1030147"/>
            <a:ext cx="2891790" cy="386048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9550">
            <a:spAutoFit/>
          </a:bodyPr>
          <a:lstStyle/>
          <a:p>
            <a:pPr indent="-349250" lvl="0" marL="355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Char char="•"/>
            </a:pPr>
            <a:r>
              <a:rPr lang="en" sz="2100">
                <a:latin typeface="Arial"/>
                <a:ea typeface="Arial"/>
                <a:cs typeface="Arial"/>
                <a:sym typeface="Arial"/>
              </a:rPr>
              <a:t>Supported platforms:</a:t>
            </a:r>
            <a:endParaRPr sz="2100">
              <a:latin typeface="Arial"/>
              <a:ea typeface="Arial"/>
              <a:cs typeface="Arial"/>
              <a:sym typeface="Arial"/>
            </a:endParaRPr>
          </a:p>
          <a:p>
            <a:pPr indent="-349250" lvl="1" marL="698500" rtl="0" algn="l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SzPts val="2100"/>
              <a:buFont typeface="Arial"/>
              <a:buChar char="•"/>
            </a:pPr>
            <a:r>
              <a:rPr lang="en" sz="2100">
                <a:latin typeface="Arial"/>
                <a:ea typeface="Arial"/>
                <a:cs typeface="Arial"/>
                <a:sym typeface="Arial"/>
              </a:rPr>
              <a:t>.NET</a:t>
            </a:r>
            <a:endParaRPr sz="2100">
              <a:latin typeface="Arial"/>
              <a:ea typeface="Arial"/>
              <a:cs typeface="Arial"/>
              <a:sym typeface="Arial"/>
            </a:endParaRPr>
          </a:p>
          <a:p>
            <a:pPr indent="-349250" lvl="1" marL="698500" rtl="0" algn="l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SzPts val="2100"/>
              <a:buFont typeface="Arial"/>
              <a:buChar char="•"/>
            </a:pPr>
            <a:r>
              <a:rPr lang="en" sz="2100">
                <a:latin typeface="Arial"/>
                <a:ea typeface="Arial"/>
                <a:cs typeface="Arial"/>
                <a:sym typeface="Arial"/>
              </a:rPr>
              <a:t>.NET Core</a:t>
            </a:r>
            <a:endParaRPr sz="2100">
              <a:latin typeface="Arial"/>
              <a:ea typeface="Arial"/>
              <a:cs typeface="Arial"/>
              <a:sym typeface="Arial"/>
            </a:endParaRPr>
          </a:p>
          <a:p>
            <a:pPr indent="-349250" lvl="1" marL="698500" rtl="0" algn="l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SzPts val="2100"/>
              <a:buFont typeface="Arial"/>
              <a:buChar char="•"/>
            </a:pPr>
            <a:r>
              <a:rPr lang="en" sz="2100">
                <a:latin typeface="Arial"/>
                <a:ea typeface="Arial"/>
                <a:cs typeface="Arial"/>
                <a:sym typeface="Arial"/>
              </a:rPr>
              <a:t>Node.JS</a:t>
            </a:r>
            <a:endParaRPr sz="2100">
              <a:latin typeface="Arial"/>
              <a:ea typeface="Arial"/>
              <a:cs typeface="Arial"/>
              <a:sym typeface="Arial"/>
            </a:endParaRPr>
          </a:p>
          <a:p>
            <a:pPr indent="-349250" lvl="1" marL="698500" rtl="0" algn="l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SzPts val="2100"/>
              <a:buFont typeface="Arial"/>
              <a:buChar char="•"/>
            </a:pPr>
            <a:r>
              <a:rPr lang="en" sz="2100">
                <a:latin typeface="Arial"/>
                <a:ea typeface="Arial"/>
                <a:cs typeface="Arial"/>
                <a:sym typeface="Arial"/>
              </a:rPr>
              <a:t>Java</a:t>
            </a:r>
            <a:endParaRPr sz="2100">
              <a:latin typeface="Arial"/>
              <a:ea typeface="Arial"/>
              <a:cs typeface="Arial"/>
              <a:sym typeface="Arial"/>
            </a:endParaRPr>
          </a:p>
          <a:p>
            <a:pPr indent="-349250" lvl="1" marL="698500" rtl="0" algn="l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SzPts val="2100"/>
              <a:buFont typeface="Arial"/>
              <a:buChar char="•"/>
            </a:pPr>
            <a:r>
              <a:rPr lang="en" sz="2100">
                <a:latin typeface="Arial"/>
                <a:ea typeface="Arial"/>
                <a:cs typeface="Arial"/>
                <a:sym typeface="Arial"/>
              </a:rPr>
              <a:t>Python</a:t>
            </a:r>
            <a:endParaRPr sz="2100">
              <a:latin typeface="Arial"/>
              <a:ea typeface="Arial"/>
              <a:cs typeface="Arial"/>
              <a:sym typeface="Arial"/>
            </a:endParaRPr>
          </a:p>
          <a:p>
            <a:pPr indent="-349250" lvl="1" marL="698500" rtl="0" algn="l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SzPts val="2100"/>
              <a:buFont typeface="Arial"/>
              <a:buChar char="•"/>
            </a:pPr>
            <a:r>
              <a:rPr lang="en" sz="2100">
                <a:latin typeface="Arial"/>
                <a:ea typeface="Arial"/>
                <a:cs typeface="Arial"/>
                <a:sym typeface="Arial"/>
              </a:rPr>
              <a:t>PHP</a:t>
            </a:r>
            <a:endParaRPr sz="2100">
              <a:latin typeface="Arial"/>
              <a:ea typeface="Arial"/>
              <a:cs typeface="Arial"/>
              <a:sym typeface="Arial"/>
            </a:endParaRPr>
          </a:p>
          <a:p>
            <a:pPr indent="-349250" lvl="0" marL="355600" rtl="0" algn="l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SzPts val="2100"/>
              <a:buFont typeface="Arial"/>
              <a:buChar char="•"/>
            </a:pPr>
            <a:r>
              <a:rPr lang="en" sz="2100">
                <a:latin typeface="Arial"/>
                <a:ea typeface="Arial"/>
                <a:cs typeface="Arial"/>
                <a:sym typeface="Arial"/>
              </a:rPr>
              <a:t>Supports containers</a:t>
            </a:r>
            <a:endParaRPr sz="21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0" name="Shape 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Google Shape;591;p68"/>
          <p:cNvSpPr txBox="1"/>
          <p:nvPr>
            <p:ph type="title"/>
          </p:nvPr>
        </p:nvSpPr>
        <p:spPr>
          <a:xfrm>
            <a:off x="158039" y="78961"/>
            <a:ext cx="7938135" cy="12148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App Services</a:t>
            </a:r>
            <a:endParaRPr/>
          </a:p>
        </p:txBody>
      </p:sp>
      <p:sp>
        <p:nvSpPr>
          <p:cNvPr id="592" name="Google Shape;592;p68"/>
          <p:cNvSpPr txBox="1"/>
          <p:nvPr/>
        </p:nvSpPr>
        <p:spPr>
          <a:xfrm>
            <a:off x="497966" y="1310639"/>
            <a:ext cx="4070985" cy="2259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050">
            <a:spAutoFit/>
          </a:bodyPr>
          <a:lstStyle/>
          <a:p>
            <a:pPr indent="-349250" lvl="0" marL="355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Char char="•"/>
            </a:pPr>
            <a:r>
              <a:rPr lang="en" sz="2100">
                <a:latin typeface="Arial"/>
                <a:ea typeface="Arial"/>
                <a:cs typeface="Arial"/>
                <a:sym typeface="Arial"/>
              </a:rPr>
              <a:t>App Types:</a:t>
            </a:r>
            <a:endParaRPr sz="2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2100"/>
              <a:buFont typeface="Arial"/>
              <a:buNone/>
            </a:pPr>
            <a:r>
              <a:t/>
            </a:r>
            <a:endParaRPr sz="2100">
              <a:latin typeface="Arial"/>
              <a:ea typeface="Arial"/>
              <a:cs typeface="Arial"/>
              <a:sym typeface="Arial"/>
            </a:endParaRPr>
          </a:p>
          <a:p>
            <a:pPr indent="-349250" lvl="1" marL="6985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Char char="•"/>
            </a:pPr>
            <a:r>
              <a:rPr lang="en" sz="2100">
                <a:latin typeface="Arial"/>
                <a:ea typeface="Arial"/>
                <a:cs typeface="Arial"/>
                <a:sym typeface="Arial"/>
              </a:rPr>
              <a:t>Web Apps</a:t>
            </a:r>
            <a:endParaRPr sz="2100">
              <a:latin typeface="Arial"/>
              <a:ea typeface="Arial"/>
              <a:cs typeface="Arial"/>
              <a:sym typeface="Arial"/>
            </a:endParaRPr>
          </a:p>
          <a:p>
            <a:pPr indent="0" lvl="1" marL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2100"/>
              <a:buFont typeface="Arial"/>
              <a:buNone/>
            </a:pPr>
            <a:r>
              <a:t/>
            </a:r>
            <a:endParaRPr sz="2100">
              <a:latin typeface="Arial"/>
              <a:ea typeface="Arial"/>
              <a:cs typeface="Arial"/>
              <a:sym typeface="Arial"/>
            </a:endParaRPr>
          </a:p>
          <a:p>
            <a:pPr indent="-349250" lvl="1" marL="6985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Char char="•"/>
            </a:pPr>
            <a:r>
              <a:rPr lang="en" sz="2100">
                <a:latin typeface="Arial"/>
                <a:ea typeface="Arial"/>
                <a:cs typeface="Arial"/>
                <a:sym typeface="Arial"/>
              </a:rPr>
              <a:t>Web API</a:t>
            </a:r>
            <a:endParaRPr sz="2100">
              <a:latin typeface="Arial"/>
              <a:ea typeface="Arial"/>
              <a:cs typeface="Arial"/>
              <a:sym typeface="Arial"/>
            </a:endParaRPr>
          </a:p>
          <a:p>
            <a:pPr indent="0" lvl="1" marL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2100"/>
              <a:buFont typeface="Arial"/>
              <a:buNone/>
            </a:pPr>
            <a:r>
              <a:t/>
            </a:r>
            <a:endParaRPr sz="2100">
              <a:latin typeface="Arial"/>
              <a:ea typeface="Arial"/>
              <a:cs typeface="Arial"/>
              <a:sym typeface="Arial"/>
            </a:endParaRPr>
          </a:p>
          <a:p>
            <a:pPr indent="-349250" lvl="1" marL="6985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Char char="•"/>
            </a:pPr>
            <a:r>
              <a:rPr lang="en" sz="2100">
                <a:latin typeface="Arial"/>
                <a:ea typeface="Arial"/>
                <a:cs typeface="Arial"/>
                <a:sym typeface="Arial"/>
              </a:rPr>
              <a:t>Web Jobs (batch processes)</a:t>
            </a:r>
            <a:endParaRPr sz="21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6" name="Shape 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Google Shape;597;p69"/>
          <p:cNvSpPr txBox="1"/>
          <p:nvPr>
            <p:ph type="title"/>
          </p:nvPr>
        </p:nvSpPr>
        <p:spPr>
          <a:xfrm>
            <a:off x="158039" y="78961"/>
            <a:ext cx="7938135" cy="12148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App Services</a:t>
            </a:r>
            <a:endParaRPr/>
          </a:p>
        </p:txBody>
      </p:sp>
      <p:sp>
        <p:nvSpPr>
          <p:cNvPr id="598" name="Google Shape;598;p69"/>
          <p:cNvSpPr txBox="1"/>
          <p:nvPr/>
        </p:nvSpPr>
        <p:spPr>
          <a:xfrm>
            <a:off x="497966" y="1310639"/>
            <a:ext cx="6648926" cy="29808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050">
            <a:spAutoFit/>
          </a:bodyPr>
          <a:lstStyle/>
          <a:p>
            <a:pPr indent="-349250" lvl="0" marL="355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Char char="•"/>
            </a:pPr>
            <a:r>
              <a:rPr lang="en" sz="2100">
                <a:latin typeface="Arial"/>
                <a:ea typeface="Arial"/>
                <a:cs typeface="Arial"/>
                <a:sym typeface="Arial"/>
              </a:rPr>
              <a:t>Extremely easy to deploy:</a:t>
            </a:r>
            <a:endParaRPr sz="2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2100"/>
              <a:buFont typeface="Arial"/>
              <a:buNone/>
            </a:pPr>
            <a:r>
              <a:t/>
            </a:r>
            <a:endParaRPr sz="2100">
              <a:latin typeface="Arial"/>
              <a:ea typeface="Arial"/>
              <a:cs typeface="Arial"/>
              <a:sym typeface="Arial"/>
            </a:endParaRPr>
          </a:p>
          <a:p>
            <a:pPr indent="-463550" lvl="1" marL="1536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AutoNum type="arabicPeriod"/>
            </a:pPr>
            <a:r>
              <a:rPr lang="en" sz="2100">
                <a:latin typeface="Arial"/>
                <a:ea typeface="Arial"/>
                <a:cs typeface="Arial"/>
                <a:sym typeface="Arial"/>
              </a:rPr>
              <a:t>Develop your app</a:t>
            </a:r>
            <a:endParaRPr sz="2100">
              <a:latin typeface="Arial"/>
              <a:ea typeface="Arial"/>
              <a:cs typeface="Arial"/>
              <a:sym typeface="Arial"/>
            </a:endParaRPr>
          </a:p>
          <a:p>
            <a:pPr indent="0" lvl="1" marL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2100"/>
              <a:buFont typeface="Arial"/>
              <a:buNone/>
            </a:pPr>
            <a:r>
              <a:t/>
            </a:r>
            <a:endParaRPr sz="2100">
              <a:latin typeface="Arial"/>
              <a:ea typeface="Arial"/>
              <a:cs typeface="Arial"/>
              <a:sym typeface="Arial"/>
            </a:endParaRPr>
          </a:p>
          <a:p>
            <a:pPr indent="-387350" lvl="1" marL="14605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AutoNum type="arabicPeriod"/>
            </a:pPr>
            <a:r>
              <a:rPr lang="en" sz="2100">
                <a:latin typeface="Arial"/>
                <a:ea typeface="Arial"/>
                <a:cs typeface="Arial"/>
                <a:sym typeface="Arial"/>
              </a:rPr>
              <a:t>Create Web App (can be done from the IDE)</a:t>
            </a:r>
            <a:endParaRPr sz="2100">
              <a:latin typeface="Arial"/>
              <a:ea typeface="Arial"/>
              <a:cs typeface="Arial"/>
              <a:sym typeface="Arial"/>
            </a:endParaRPr>
          </a:p>
          <a:p>
            <a:pPr indent="0" lvl="1" marL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2100"/>
              <a:buFont typeface="Arial"/>
              <a:buNone/>
            </a:pPr>
            <a:r>
              <a:t/>
            </a:r>
            <a:endParaRPr sz="2100">
              <a:latin typeface="Arial"/>
              <a:ea typeface="Arial"/>
              <a:cs typeface="Arial"/>
              <a:sym typeface="Arial"/>
            </a:endParaRPr>
          </a:p>
          <a:p>
            <a:pPr indent="-387350" lvl="1" marL="14605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AutoNum type="arabicPeriod"/>
            </a:pPr>
            <a:r>
              <a:rPr lang="en" sz="2100">
                <a:latin typeface="Arial"/>
                <a:ea typeface="Arial"/>
                <a:cs typeface="Arial"/>
                <a:sym typeface="Arial"/>
              </a:rPr>
              <a:t>Publish your code</a:t>
            </a:r>
            <a:endParaRPr sz="2100">
              <a:latin typeface="Arial"/>
              <a:ea typeface="Arial"/>
              <a:cs typeface="Arial"/>
              <a:sym typeface="Arial"/>
            </a:endParaRPr>
          </a:p>
          <a:p>
            <a:pPr indent="0" lvl="1" marL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2100"/>
              <a:buFont typeface="Arial"/>
              <a:buNone/>
            </a:pPr>
            <a:r>
              <a:t/>
            </a:r>
            <a:endParaRPr sz="2100">
              <a:latin typeface="Arial"/>
              <a:ea typeface="Arial"/>
              <a:cs typeface="Arial"/>
              <a:sym typeface="Arial"/>
            </a:endParaRPr>
          </a:p>
          <a:p>
            <a:pPr indent="-387350" lvl="1" marL="14605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AutoNum type="arabicPeriod"/>
            </a:pPr>
            <a:r>
              <a:rPr lang="en" sz="2100">
                <a:latin typeface="Arial"/>
                <a:ea typeface="Arial"/>
                <a:cs typeface="Arial"/>
                <a:sym typeface="Arial"/>
              </a:rPr>
              <a:t>Viola!</a:t>
            </a:r>
            <a:endParaRPr sz="21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2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03" name="Google Shape;603;p70"/>
          <p:cNvGrpSpPr/>
          <p:nvPr/>
        </p:nvGrpSpPr>
        <p:grpSpPr>
          <a:xfrm>
            <a:off x="748665" y="813832"/>
            <a:ext cx="6741414" cy="4329667"/>
            <a:chOff x="998220" y="1085110"/>
            <a:chExt cx="8988552" cy="5772889"/>
          </a:xfrm>
        </p:grpSpPr>
        <p:pic>
          <p:nvPicPr>
            <p:cNvPr id="604" name="Google Shape;604;p7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998220" y="1085110"/>
              <a:ext cx="8988552" cy="577288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05" name="Google Shape;605;p7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193292" y="1280160"/>
              <a:ext cx="8418576" cy="5256276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606" name="Google Shape;606;p70"/>
          <p:cNvSpPr txBox="1"/>
          <p:nvPr>
            <p:ph type="title"/>
          </p:nvPr>
        </p:nvSpPr>
        <p:spPr>
          <a:xfrm>
            <a:off x="158039" y="78961"/>
            <a:ext cx="7938135" cy="12148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App Services Tiers</a:t>
            </a:r>
            <a:endParaRPr/>
          </a:p>
        </p:txBody>
      </p:sp>
      <p:sp>
        <p:nvSpPr>
          <p:cNvPr id="607" name="Google Shape;607;p70"/>
          <p:cNvSpPr txBox="1"/>
          <p:nvPr/>
        </p:nvSpPr>
        <p:spPr>
          <a:xfrm>
            <a:off x="1735836" y="4930063"/>
            <a:ext cx="4196715" cy="1795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Calibri"/>
                <a:ea typeface="Calibri"/>
                <a:cs typeface="Calibri"/>
                <a:sym typeface="Calibri"/>
              </a:rPr>
              <a:t>Source: </a:t>
            </a:r>
            <a:r>
              <a:rPr lang="en" sz="11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5"/>
              </a:rPr>
              <a:t>https://azure.microsoft.com/en-us/pricing/details/app-service/linux/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608" name="Google Shape;608;p70"/>
          <p:cNvGrpSpPr/>
          <p:nvPr/>
        </p:nvGrpSpPr>
        <p:grpSpPr>
          <a:xfrm>
            <a:off x="895540" y="960691"/>
            <a:ext cx="6444806" cy="3682889"/>
            <a:chOff x="1194053" y="1280922"/>
            <a:chExt cx="8593074" cy="4910518"/>
          </a:xfrm>
        </p:grpSpPr>
        <p:sp>
          <p:nvSpPr>
            <p:cNvPr id="609" name="Google Shape;609;p70"/>
            <p:cNvSpPr/>
            <p:nvPr/>
          </p:nvSpPr>
          <p:spPr>
            <a:xfrm>
              <a:off x="1194053" y="1280922"/>
              <a:ext cx="2097405" cy="518159"/>
            </a:xfrm>
            <a:custGeom>
              <a:rect b="b" l="l" r="r" t="t"/>
              <a:pathLst>
                <a:path extrusionOk="0" h="518160" w="2097404">
                  <a:moveTo>
                    <a:pt x="0" y="518160"/>
                  </a:moveTo>
                  <a:lnTo>
                    <a:pt x="2097024" y="518160"/>
                  </a:lnTo>
                  <a:lnTo>
                    <a:pt x="2097024" y="0"/>
                  </a:lnTo>
                  <a:lnTo>
                    <a:pt x="0" y="0"/>
                  </a:lnTo>
                  <a:lnTo>
                    <a:pt x="0" y="518160"/>
                  </a:lnTo>
                  <a:close/>
                </a:path>
              </a:pathLst>
            </a:custGeom>
            <a:noFill/>
            <a:ln cap="flat" cmpd="sng" w="2857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00"/>
            </a:p>
          </p:txBody>
        </p:sp>
        <p:sp>
          <p:nvSpPr>
            <p:cNvPr id="610" name="Google Shape;610;p70"/>
            <p:cNvSpPr/>
            <p:nvPr/>
          </p:nvSpPr>
          <p:spPr>
            <a:xfrm>
              <a:off x="8937497" y="6105715"/>
              <a:ext cx="849630" cy="85725"/>
            </a:xfrm>
            <a:custGeom>
              <a:rect b="b" l="l" r="r" t="t"/>
              <a:pathLst>
                <a:path extrusionOk="0" h="85725" w="849629">
                  <a:moveTo>
                    <a:pt x="85725" y="0"/>
                  </a:moveTo>
                  <a:lnTo>
                    <a:pt x="0" y="42862"/>
                  </a:lnTo>
                  <a:lnTo>
                    <a:pt x="85725" y="85725"/>
                  </a:lnTo>
                  <a:lnTo>
                    <a:pt x="85725" y="57150"/>
                  </a:lnTo>
                  <a:lnTo>
                    <a:pt x="71500" y="57150"/>
                  </a:lnTo>
                  <a:lnTo>
                    <a:pt x="71500" y="28575"/>
                  </a:lnTo>
                  <a:lnTo>
                    <a:pt x="85725" y="28575"/>
                  </a:lnTo>
                  <a:lnTo>
                    <a:pt x="85725" y="0"/>
                  </a:lnTo>
                  <a:close/>
                </a:path>
                <a:path extrusionOk="0" h="85725" w="849629">
                  <a:moveTo>
                    <a:pt x="85725" y="28575"/>
                  </a:moveTo>
                  <a:lnTo>
                    <a:pt x="71500" y="28575"/>
                  </a:lnTo>
                  <a:lnTo>
                    <a:pt x="71500" y="57150"/>
                  </a:lnTo>
                  <a:lnTo>
                    <a:pt x="85725" y="57150"/>
                  </a:lnTo>
                  <a:lnTo>
                    <a:pt x="85725" y="28575"/>
                  </a:lnTo>
                  <a:close/>
                </a:path>
                <a:path extrusionOk="0" h="85725" w="849629">
                  <a:moveTo>
                    <a:pt x="849122" y="28575"/>
                  </a:moveTo>
                  <a:lnTo>
                    <a:pt x="85725" y="28575"/>
                  </a:lnTo>
                  <a:lnTo>
                    <a:pt x="85725" y="57150"/>
                  </a:lnTo>
                  <a:lnTo>
                    <a:pt x="849122" y="57150"/>
                  </a:lnTo>
                  <a:lnTo>
                    <a:pt x="849122" y="28575"/>
                  </a:ln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00"/>
            </a:p>
          </p:txBody>
        </p:sp>
      </p:grpSp>
      <p:sp>
        <p:nvSpPr>
          <p:cNvPr id="611" name="Google Shape;611;p70"/>
          <p:cNvSpPr txBox="1"/>
          <p:nvPr/>
        </p:nvSpPr>
        <p:spPr>
          <a:xfrm>
            <a:off x="7599426" y="4263923"/>
            <a:ext cx="938689" cy="6367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127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Lowest price, goes up with CPU &amp; RAM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5" name="Shape 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" name="Google Shape;616;p71"/>
          <p:cNvSpPr txBox="1"/>
          <p:nvPr>
            <p:ph type="title"/>
          </p:nvPr>
        </p:nvSpPr>
        <p:spPr>
          <a:xfrm>
            <a:off x="158039" y="78961"/>
            <a:ext cx="7938135" cy="12148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App Service Auto Scaling</a:t>
            </a:r>
            <a:endParaRPr/>
          </a:p>
        </p:txBody>
      </p:sp>
      <p:sp>
        <p:nvSpPr>
          <p:cNvPr id="617" name="Google Shape;617;p71"/>
          <p:cNvSpPr txBox="1"/>
          <p:nvPr/>
        </p:nvSpPr>
        <p:spPr>
          <a:xfrm>
            <a:off x="497966" y="1310639"/>
            <a:ext cx="7028974" cy="1619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050">
            <a:spAutoFit/>
          </a:bodyPr>
          <a:lstStyle/>
          <a:p>
            <a:pPr indent="-349250" lvl="0" marL="355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Char char="•"/>
            </a:pPr>
            <a:r>
              <a:rPr lang="en" sz="2100">
                <a:latin typeface="Arial"/>
                <a:ea typeface="Arial"/>
                <a:cs typeface="Arial"/>
                <a:sym typeface="Arial"/>
              </a:rPr>
              <a:t>App Service can be autoscaled to support spikes in load</a:t>
            </a:r>
            <a:endParaRPr sz="2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2100"/>
              <a:buFont typeface="Arial"/>
              <a:buNone/>
            </a:pPr>
            <a:r>
              <a:t/>
            </a:r>
            <a:endParaRPr sz="2100">
              <a:latin typeface="Arial"/>
              <a:ea typeface="Arial"/>
              <a:cs typeface="Arial"/>
              <a:sym typeface="Arial"/>
            </a:endParaRPr>
          </a:p>
          <a:p>
            <a:pPr indent="-349250" lvl="0" marL="355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Char char="•"/>
            </a:pPr>
            <a:r>
              <a:rPr lang="en" sz="2100">
                <a:latin typeface="Arial"/>
                <a:ea typeface="Arial"/>
                <a:cs typeface="Arial"/>
                <a:sym typeface="Arial"/>
              </a:rPr>
              <a:t>Auto scale is based on various metrics</a:t>
            </a:r>
            <a:endParaRPr sz="2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2100"/>
              <a:buFont typeface="Arial"/>
              <a:buNone/>
            </a:pPr>
            <a:r>
              <a:t/>
            </a:r>
            <a:endParaRPr sz="2100">
              <a:latin typeface="Arial"/>
              <a:ea typeface="Arial"/>
              <a:cs typeface="Arial"/>
              <a:sym typeface="Arial"/>
            </a:endParaRPr>
          </a:p>
          <a:p>
            <a:pPr indent="-349250" lvl="0" marL="355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Char char="•"/>
            </a:pPr>
            <a:r>
              <a:rPr lang="en" sz="2100">
                <a:latin typeface="Arial"/>
                <a:ea typeface="Arial"/>
                <a:cs typeface="Arial"/>
                <a:sym typeface="Arial"/>
              </a:rPr>
              <a:t>Extremely flexible</a:t>
            </a:r>
            <a:endParaRPr sz="21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1" name="Shape 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" name="Google Shape;622;p72"/>
          <p:cNvSpPr txBox="1"/>
          <p:nvPr>
            <p:ph type="title"/>
          </p:nvPr>
        </p:nvSpPr>
        <p:spPr>
          <a:xfrm>
            <a:off x="158039" y="78961"/>
            <a:ext cx="7938135" cy="12148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App Service Auto Scaling</a:t>
            </a:r>
            <a:endParaRPr/>
          </a:p>
        </p:txBody>
      </p:sp>
      <p:pic>
        <p:nvPicPr>
          <p:cNvPr id="623" name="Google Shape;623;p7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24153" y="1072133"/>
            <a:ext cx="6908960" cy="38084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7" name="Shape 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" name="Google Shape;628;p73"/>
          <p:cNvSpPr txBox="1"/>
          <p:nvPr>
            <p:ph type="title"/>
          </p:nvPr>
        </p:nvSpPr>
        <p:spPr>
          <a:xfrm>
            <a:off x="158054" y="78950"/>
            <a:ext cx="5117100" cy="59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Deployment Slots</a:t>
            </a:r>
            <a:endParaRPr/>
          </a:p>
        </p:txBody>
      </p:sp>
      <p:sp>
        <p:nvSpPr>
          <p:cNvPr id="629" name="Google Shape;629;p73"/>
          <p:cNvSpPr txBox="1"/>
          <p:nvPr/>
        </p:nvSpPr>
        <p:spPr>
          <a:xfrm>
            <a:off x="497966" y="1310639"/>
            <a:ext cx="8291513" cy="35399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050">
            <a:spAutoFit/>
          </a:bodyPr>
          <a:lstStyle/>
          <a:p>
            <a:pPr indent="-349250" lvl="0" marL="355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Char char="•"/>
            </a:pPr>
            <a:r>
              <a:rPr lang="en" sz="2100">
                <a:latin typeface="Arial"/>
                <a:ea typeface="Arial"/>
                <a:cs typeface="Arial"/>
                <a:sym typeface="Arial"/>
              </a:rPr>
              <a:t>When uploading code to App Service the new version is accessible</a:t>
            </a:r>
            <a:endParaRPr sz="2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2100"/>
              <a:buFont typeface="Arial"/>
              <a:buNone/>
            </a:pPr>
            <a:r>
              <a:t/>
            </a:r>
            <a:endParaRPr sz="2100">
              <a:latin typeface="Arial"/>
              <a:ea typeface="Arial"/>
              <a:cs typeface="Arial"/>
              <a:sym typeface="Arial"/>
            </a:endParaRPr>
          </a:p>
          <a:p>
            <a:pPr indent="0" lvl="0" marL="355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latin typeface="Arial"/>
                <a:ea typeface="Arial"/>
                <a:cs typeface="Arial"/>
                <a:sym typeface="Arial"/>
              </a:rPr>
              <a:t>immediately</a:t>
            </a:r>
            <a:endParaRPr sz="2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Arial"/>
              <a:ea typeface="Arial"/>
              <a:cs typeface="Arial"/>
              <a:sym typeface="Arial"/>
            </a:endParaRPr>
          </a:p>
          <a:p>
            <a:pPr indent="-349250" lvl="0" marL="355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Char char="•"/>
            </a:pPr>
            <a:r>
              <a:rPr lang="en" sz="2100">
                <a:latin typeface="Arial"/>
                <a:ea typeface="Arial"/>
                <a:cs typeface="Arial"/>
                <a:sym typeface="Arial"/>
              </a:rPr>
              <a:t>Sometimes we want to test the version before publishing it</a:t>
            </a:r>
            <a:endParaRPr sz="2100">
              <a:latin typeface="Arial"/>
              <a:ea typeface="Arial"/>
              <a:cs typeface="Arial"/>
              <a:sym typeface="Arial"/>
            </a:endParaRPr>
          </a:p>
          <a:p>
            <a:pPr indent="-349250" lvl="0" marL="355600" marR="355600" rtl="0" algn="l">
              <a:lnSpc>
                <a:spcPct val="240000"/>
              </a:lnSpc>
              <a:spcBef>
                <a:spcPts val="600"/>
              </a:spcBef>
              <a:spcAft>
                <a:spcPts val="0"/>
              </a:spcAft>
              <a:buSzPts val="2100"/>
              <a:buFont typeface="Arial"/>
              <a:buChar char="•"/>
            </a:pPr>
            <a:r>
              <a:rPr lang="en" sz="2100">
                <a:latin typeface="Arial"/>
                <a:ea typeface="Arial"/>
                <a:cs typeface="Arial"/>
                <a:sym typeface="Arial"/>
              </a:rPr>
              <a:t>Deployment Slots allow us to upload code and test it separately from the main site</a:t>
            </a:r>
            <a:endParaRPr sz="2100">
              <a:latin typeface="Arial"/>
              <a:ea typeface="Arial"/>
              <a:cs typeface="Arial"/>
              <a:sym typeface="Arial"/>
            </a:endParaRPr>
          </a:p>
          <a:p>
            <a:pPr indent="-349250" lvl="0" marL="355600" rtl="0" algn="l">
              <a:lnSpc>
                <a:spcPct val="100000"/>
              </a:lnSpc>
              <a:spcBef>
                <a:spcPts val="1900"/>
              </a:spcBef>
              <a:spcAft>
                <a:spcPts val="0"/>
              </a:spcAft>
              <a:buSzPts val="2100"/>
              <a:buFont typeface="Arial"/>
              <a:buChar char="•"/>
            </a:pPr>
            <a:r>
              <a:rPr lang="en" sz="2100">
                <a:latin typeface="Arial"/>
                <a:ea typeface="Arial"/>
                <a:cs typeface="Arial"/>
                <a:sym typeface="Arial"/>
              </a:rPr>
              <a:t>After validation we swap the slots and promote it to production</a:t>
            </a:r>
            <a:endParaRPr sz="21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3" name="Shape 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" name="Google Shape;634;p74"/>
          <p:cNvSpPr txBox="1"/>
          <p:nvPr>
            <p:ph type="title"/>
          </p:nvPr>
        </p:nvSpPr>
        <p:spPr>
          <a:xfrm>
            <a:off x="158054" y="78950"/>
            <a:ext cx="5170800" cy="59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Deployment Slots</a:t>
            </a:r>
            <a:endParaRPr/>
          </a:p>
        </p:txBody>
      </p:sp>
      <p:sp>
        <p:nvSpPr>
          <p:cNvPr id="635" name="Google Shape;635;p74"/>
          <p:cNvSpPr txBox="1"/>
          <p:nvPr/>
        </p:nvSpPr>
        <p:spPr>
          <a:xfrm>
            <a:off x="497966" y="1310639"/>
            <a:ext cx="7197566" cy="35399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050">
            <a:spAutoFit/>
          </a:bodyPr>
          <a:lstStyle/>
          <a:p>
            <a:pPr indent="-349250" lvl="0" marL="355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Char char="•"/>
            </a:pPr>
            <a:r>
              <a:rPr lang="en" sz="2100">
                <a:latin typeface="Arial"/>
                <a:ea typeface="Arial"/>
                <a:cs typeface="Arial"/>
                <a:sym typeface="Arial"/>
              </a:rPr>
              <a:t>New slots are created from the portal</a:t>
            </a:r>
            <a:endParaRPr sz="2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2100"/>
              <a:buFont typeface="Arial"/>
              <a:buNone/>
            </a:pPr>
            <a:r>
              <a:t/>
            </a:r>
            <a:endParaRPr sz="2100">
              <a:latin typeface="Arial"/>
              <a:ea typeface="Arial"/>
              <a:cs typeface="Arial"/>
              <a:sym typeface="Arial"/>
            </a:endParaRPr>
          </a:p>
          <a:p>
            <a:pPr indent="-349250" lvl="0" marL="355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Char char="•"/>
            </a:pPr>
            <a:r>
              <a:rPr lang="en" sz="2100">
                <a:latin typeface="Arial"/>
                <a:ea typeface="Arial"/>
                <a:cs typeface="Arial"/>
                <a:sym typeface="Arial"/>
              </a:rPr>
              <a:t>Number of allowed slots depends on plan</a:t>
            </a:r>
            <a:endParaRPr sz="2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2100"/>
              <a:buFont typeface="Arial"/>
              <a:buNone/>
            </a:pPr>
            <a:r>
              <a:t/>
            </a:r>
            <a:endParaRPr sz="2100">
              <a:latin typeface="Arial"/>
              <a:ea typeface="Arial"/>
              <a:cs typeface="Arial"/>
              <a:sym typeface="Arial"/>
            </a:endParaRPr>
          </a:p>
          <a:p>
            <a:pPr indent="-349250" lvl="1" marL="6985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Char char="•"/>
            </a:pPr>
            <a:r>
              <a:rPr lang="en" sz="2100">
                <a:latin typeface="Arial"/>
                <a:ea typeface="Arial"/>
                <a:cs typeface="Arial"/>
                <a:sym typeface="Arial"/>
              </a:rPr>
              <a:t>ie. Standard plans allow for up to 5 slots</a:t>
            </a:r>
            <a:endParaRPr sz="2100">
              <a:latin typeface="Arial"/>
              <a:ea typeface="Arial"/>
              <a:cs typeface="Arial"/>
              <a:sym typeface="Arial"/>
            </a:endParaRPr>
          </a:p>
          <a:p>
            <a:pPr indent="0" lvl="1" marL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2100"/>
              <a:buFont typeface="Arial"/>
              <a:buNone/>
            </a:pPr>
            <a:r>
              <a:t/>
            </a:r>
            <a:endParaRPr sz="2100">
              <a:latin typeface="Arial"/>
              <a:ea typeface="Arial"/>
              <a:cs typeface="Arial"/>
              <a:sym typeface="Arial"/>
            </a:endParaRPr>
          </a:p>
          <a:p>
            <a:pPr indent="-349250" lvl="0" marL="355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Char char="•"/>
            </a:pPr>
            <a:r>
              <a:rPr lang="en" sz="2100">
                <a:latin typeface="Arial"/>
                <a:ea typeface="Arial"/>
                <a:cs typeface="Arial"/>
                <a:sym typeface="Arial"/>
              </a:rPr>
              <a:t>Slot is a fully functional app service with a dedicated URL</a:t>
            </a:r>
            <a:endParaRPr sz="2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2100"/>
              <a:buFont typeface="Arial"/>
              <a:buNone/>
            </a:pPr>
            <a:r>
              <a:t/>
            </a:r>
            <a:endParaRPr sz="2100">
              <a:latin typeface="Arial"/>
              <a:ea typeface="Arial"/>
              <a:cs typeface="Arial"/>
              <a:sym typeface="Arial"/>
            </a:endParaRPr>
          </a:p>
          <a:p>
            <a:pPr indent="-349250" lvl="0" marL="355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Char char="•"/>
            </a:pPr>
            <a:r>
              <a:rPr lang="en" sz="2100">
                <a:latin typeface="Arial"/>
                <a:ea typeface="Arial"/>
                <a:cs typeface="Arial"/>
                <a:sym typeface="Arial"/>
              </a:rPr>
              <a:t>Slots can be accessed directly through their URL</a:t>
            </a:r>
            <a:endParaRPr sz="2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2100"/>
              <a:buFont typeface="Arial"/>
              <a:buNone/>
            </a:pPr>
            <a:r>
              <a:t/>
            </a:r>
            <a:endParaRPr sz="2100">
              <a:latin typeface="Arial"/>
              <a:ea typeface="Arial"/>
              <a:cs typeface="Arial"/>
              <a:sym typeface="Arial"/>
            </a:endParaRPr>
          </a:p>
          <a:p>
            <a:pPr indent="-349250" lvl="0" marL="355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Char char="•"/>
            </a:pPr>
            <a:r>
              <a:rPr lang="en" sz="2100">
                <a:latin typeface="Arial"/>
                <a:ea typeface="Arial"/>
                <a:cs typeface="Arial"/>
                <a:sym typeface="Arial"/>
              </a:rPr>
              <a:t>Free</a:t>
            </a:r>
            <a:endParaRPr sz="21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9" name="Shape 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" name="Google Shape;640;p75"/>
          <p:cNvSpPr txBox="1"/>
          <p:nvPr>
            <p:ph type="title"/>
          </p:nvPr>
        </p:nvSpPr>
        <p:spPr>
          <a:xfrm>
            <a:off x="158052" y="78950"/>
            <a:ext cx="8985900" cy="59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Deployment Slots Traffic Splitting</a:t>
            </a:r>
            <a:endParaRPr/>
          </a:p>
        </p:txBody>
      </p:sp>
      <p:sp>
        <p:nvSpPr>
          <p:cNvPr id="641" name="Google Shape;641;p75"/>
          <p:cNvSpPr txBox="1"/>
          <p:nvPr/>
        </p:nvSpPr>
        <p:spPr>
          <a:xfrm>
            <a:off x="497966" y="1310639"/>
            <a:ext cx="8167688" cy="2259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050">
            <a:spAutoFit/>
          </a:bodyPr>
          <a:lstStyle/>
          <a:p>
            <a:pPr indent="-349250" lvl="0" marL="355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Char char="•"/>
            </a:pPr>
            <a:r>
              <a:rPr lang="en" sz="2100">
                <a:latin typeface="Arial"/>
                <a:ea typeface="Arial"/>
                <a:cs typeface="Arial"/>
                <a:sym typeface="Arial"/>
              </a:rPr>
              <a:t>Traffic can be split between slots</a:t>
            </a:r>
            <a:endParaRPr sz="2100">
              <a:latin typeface="Arial"/>
              <a:ea typeface="Arial"/>
              <a:cs typeface="Arial"/>
              <a:sym typeface="Arial"/>
            </a:endParaRPr>
          </a:p>
          <a:p>
            <a:pPr indent="-349250" lvl="0" marL="355600" marR="0" rtl="0" algn="l">
              <a:lnSpc>
                <a:spcPct val="240000"/>
              </a:lnSpc>
              <a:spcBef>
                <a:spcPts val="600"/>
              </a:spcBef>
              <a:spcAft>
                <a:spcPts val="0"/>
              </a:spcAft>
              <a:buSzPts val="2100"/>
              <a:buFont typeface="Arial"/>
              <a:buChar char="•"/>
            </a:pPr>
            <a:r>
              <a:rPr lang="en" sz="2100">
                <a:latin typeface="Arial"/>
                <a:ea typeface="Arial"/>
                <a:cs typeface="Arial"/>
                <a:sym typeface="Arial"/>
              </a:rPr>
              <a:t>Some users will be routed to the production and some to the new slot</a:t>
            </a:r>
            <a:endParaRPr sz="2100">
              <a:latin typeface="Arial"/>
              <a:ea typeface="Arial"/>
              <a:cs typeface="Arial"/>
              <a:sym typeface="Arial"/>
            </a:endParaRPr>
          </a:p>
          <a:p>
            <a:pPr indent="-349250" lvl="0" marL="355600" rtl="0" algn="l">
              <a:lnSpc>
                <a:spcPct val="100000"/>
              </a:lnSpc>
              <a:spcBef>
                <a:spcPts val="1900"/>
              </a:spcBef>
              <a:spcAft>
                <a:spcPts val="0"/>
              </a:spcAft>
              <a:buSzPts val="2100"/>
              <a:buFont typeface="Arial"/>
              <a:buChar char="•"/>
            </a:pPr>
            <a:r>
              <a:rPr lang="en" sz="2100">
                <a:latin typeface="Arial"/>
                <a:ea typeface="Arial"/>
                <a:cs typeface="Arial"/>
                <a:sym typeface="Arial"/>
              </a:rPr>
              <a:t>Great for some deployment scenarios</a:t>
            </a:r>
            <a:endParaRPr sz="21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5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Google Shape;646;p76"/>
          <p:cNvSpPr txBox="1"/>
          <p:nvPr>
            <p:ph type="title"/>
          </p:nvPr>
        </p:nvSpPr>
        <p:spPr>
          <a:xfrm>
            <a:off x="158039" y="78961"/>
            <a:ext cx="7938135" cy="12148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Deployment Types</a:t>
            </a:r>
            <a:endParaRPr/>
          </a:p>
        </p:txBody>
      </p:sp>
      <p:sp>
        <p:nvSpPr>
          <p:cNvPr id="647" name="Google Shape;647;p76"/>
          <p:cNvSpPr txBox="1"/>
          <p:nvPr/>
        </p:nvSpPr>
        <p:spPr>
          <a:xfrm>
            <a:off x="497966" y="1310639"/>
            <a:ext cx="6617494" cy="339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050">
            <a:spAutoFit/>
          </a:bodyPr>
          <a:lstStyle/>
          <a:p>
            <a:pPr indent="-349250" lvl="0" marL="355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Char char="•"/>
            </a:pPr>
            <a:r>
              <a:rPr lang="en" sz="2100">
                <a:latin typeface="Arial"/>
                <a:ea typeface="Arial"/>
                <a:cs typeface="Arial"/>
                <a:sym typeface="Arial"/>
              </a:rPr>
              <a:t>Traffic Splitting enables various types of deployment</a:t>
            </a:r>
            <a:endParaRPr sz="21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8" name="Google Shape;648;p76"/>
          <p:cNvSpPr txBox="1"/>
          <p:nvPr/>
        </p:nvSpPr>
        <p:spPr>
          <a:xfrm>
            <a:off x="2921508" y="1829942"/>
            <a:ext cx="2495550" cy="497205"/>
          </a:xfrm>
          <a:prstGeom prst="rect">
            <a:avLst/>
          </a:prstGeom>
          <a:solidFill>
            <a:srgbClr val="6F2F9F"/>
          </a:solidFill>
          <a:ln cap="flat" cmpd="sng" w="12700">
            <a:solidFill>
              <a:srgbClr val="172C5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98575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Basic</a:t>
            </a:r>
            <a:endParaRPr sz="2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9" name="Google Shape;649;p76"/>
          <p:cNvSpPr txBox="1"/>
          <p:nvPr/>
        </p:nvSpPr>
        <p:spPr>
          <a:xfrm>
            <a:off x="2921508" y="2567177"/>
            <a:ext cx="2495550" cy="497205"/>
          </a:xfrm>
          <a:prstGeom prst="rect">
            <a:avLst/>
          </a:prstGeom>
          <a:solidFill>
            <a:srgbClr val="6F2F9F"/>
          </a:solidFill>
          <a:ln cap="flat" cmpd="sng" w="12700">
            <a:solidFill>
              <a:srgbClr val="172C5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98575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Rolling</a:t>
            </a:r>
            <a:endParaRPr sz="2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0" name="Google Shape;650;p76"/>
          <p:cNvSpPr txBox="1"/>
          <p:nvPr/>
        </p:nvSpPr>
        <p:spPr>
          <a:xfrm>
            <a:off x="2921508" y="3304413"/>
            <a:ext cx="2495550" cy="497205"/>
          </a:xfrm>
          <a:prstGeom prst="rect">
            <a:avLst/>
          </a:prstGeom>
          <a:solidFill>
            <a:srgbClr val="6F2F9F"/>
          </a:solidFill>
          <a:ln cap="flat" cmpd="sng" w="12700">
            <a:solidFill>
              <a:srgbClr val="172C5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98575">
            <a:spAutoFit/>
          </a:bodyPr>
          <a:lstStyle/>
          <a:p>
            <a:pPr indent="0" lvl="0" marL="596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Blue-Green</a:t>
            </a:r>
            <a:endParaRPr sz="20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4" name="Shape 6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" name="Google Shape;655;p77"/>
          <p:cNvSpPr txBox="1"/>
          <p:nvPr>
            <p:ph type="title"/>
          </p:nvPr>
        </p:nvSpPr>
        <p:spPr>
          <a:xfrm>
            <a:off x="158039" y="78961"/>
            <a:ext cx="7938135" cy="12148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Basic Deployment</a:t>
            </a:r>
            <a:endParaRPr/>
          </a:p>
        </p:txBody>
      </p:sp>
      <p:pic>
        <p:nvPicPr>
          <p:cNvPr id="656" name="Google Shape;656;p7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61690" y="3018765"/>
            <a:ext cx="662735" cy="662735"/>
          </a:xfrm>
          <a:prstGeom prst="rect">
            <a:avLst/>
          </a:prstGeom>
          <a:noFill/>
          <a:ln>
            <a:noFill/>
          </a:ln>
        </p:spPr>
      </p:pic>
      <p:pic>
        <p:nvPicPr>
          <p:cNvPr id="657" name="Google Shape;657;p7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61690" y="3997173"/>
            <a:ext cx="662735" cy="662735"/>
          </a:xfrm>
          <a:prstGeom prst="rect">
            <a:avLst/>
          </a:prstGeom>
          <a:noFill/>
          <a:ln>
            <a:noFill/>
          </a:ln>
        </p:spPr>
      </p:pic>
      <p:pic>
        <p:nvPicPr>
          <p:cNvPr id="658" name="Google Shape;658;p7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87979" y="2081505"/>
            <a:ext cx="662735" cy="662735"/>
          </a:xfrm>
          <a:prstGeom prst="rect">
            <a:avLst/>
          </a:prstGeom>
          <a:noFill/>
          <a:ln>
            <a:noFill/>
          </a:ln>
        </p:spPr>
      </p:pic>
      <p:sp>
        <p:nvSpPr>
          <p:cNvPr id="659" name="Google Shape;659;p77"/>
          <p:cNvSpPr/>
          <p:nvPr/>
        </p:nvSpPr>
        <p:spPr>
          <a:xfrm>
            <a:off x="438912" y="2097404"/>
            <a:ext cx="255270" cy="230029"/>
          </a:xfrm>
          <a:custGeom>
            <a:rect b="b" l="l" r="r" t="t"/>
            <a:pathLst>
              <a:path extrusionOk="0" h="306705" w="340359">
                <a:moveTo>
                  <a:pt x="339852" y="0"/>
                </a:moveTo>
                <a:lnTo>
                  <a:pt x="0" y="0"/>
                </a:lnTo>
                <a:lnTo>
                  <a:pt x="0" y="306324"/>
                </a:lnTo>
                <a:lnTo>
                  <a:pt x="339852" y="306324"/>
                </a:lnTo>
                <a:lnTo>
                  <a:pt x="339852" y="0"/>
                </a:lnTo>
                <a:close/>
              </a:path>
            </a:pathLst>
          </a:custGeom>
          <a:solidFill>
            <a:srgbClr val="538235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660" name="Google Shape;660;p77"/>
          <p:cNvSpPr/>
          <p:nvPr/>
        </p:nvSpPr>
        <p:spPr>
          <a:xfrm>
            <a:off x="438912" y="2544317"/>
            <a:ext cx="255270" cy="230981"/>
          </a:xfrm>
          <a:custGeom>
            <a:rect b="b" l="l" r="r" t="t"/>
            <a:pathLst>
              <a:path extrusionOk="0" h="307975" w="340359">
                <a:moveTo>
                  <a:pt x="339852" y="0"/>
                </a:moveTo>
                <a:lnTo>
                  <a:pt x="0" y="0"/>
                </a:lnTo>
                <a:lnTo>
                  <a:pt x="0" y="307848"/>
                </a:lnTo>
                <a:lnTo>
                  <a:pt x="339852" y="307848"/>
                </a:lnTo>
                <a:lnTo>
                  <a:pt x="339852" y="0"/>
                </a:lnTo>
                <a:close/>
              </a:path>
            </a:pathLst>
          </a:custGeom>
          <a:solidFill>
            <a:srgbClr val="2D75B6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661" name="Google Shape;661;p77"/>
          <p:cNvSpPr txBox="1"/>
          <p:nvPr/>
        </p:nvSpPr>
        <p:spPr>
          <a:xfrm>
            <a:off x="497966" y="1310639"/>
            <a:ext cx="6011228" cy="15097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050">
            <a:spAutoFit/>
          </a:bodyPr>
          <a:lstStyle/>
          <a:p>
            <a:pPr indent="-349250" lvl="0" marL="355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Char char="•"/>
            </a:pPr>
            <a:r>
              <a:rPr lang="en" sz="2100">
                <a:latin typeface="Arial"/>
                <a:ea typeface="Arial"/>
                <a:cs typeface="Arial"/>
                <a:sym typeface="Arial"/>
              </a:rPr>
              <a:t>All instances update to the new version at once</a:t>
            </a:r>
            <a:endParaRPr sz="2100">
              <a:latin typeface="Arial"/>
              <a:ea typeface="Arial"/>
              <a:cs typeface="Arial"/>
              <a:sym typeface="Arial"/>
            </a:endParaRPr>
          </a:p>
          <a:p>
            <a:pPr indent="0" lvl="0" marL="393700" marR="5359400" rtl="0" algn="l">
              <a:lnSpc>
                <a:spcPct val="150500"/>
              </a:lnSpc>
              <a:spcBef>
                <a:spcPts val="220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538235"/>
                </a:solidFill>
                <a:latin typeface="Arial"/>
                <a:ea typeface="Arial"/>
                <a:cs typeface="Arial"/>
                <a:sym typeface="Arial"/>
              </a:rPr>
              <a:t>v1 </a:t>
            </a:r>
            <a:r>
              <a:rPr lang="en" sz="2000">
                <a:solidFill>
                  <a:srgbClr val="2D75B6"/>
                </a:solidFill>
                <a:latin typeface="Arial"/>
                <a:ea typeface="Arial"/>
                <a:cs typeface="Arial"/>
                <a:sym typeface="Arial"/>
              </a:rPr>
              <a:t>v2</a:t>
            </a:r>
            <a:endParaRPr sz="20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5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6" name="Google Shape;666;p78"/>
          <p:cNvSpPr txBox="1"/>
          <p:nvPr>
            <p:ph type="title"/>
          </p:nvPr>
        </p:nvSpPr>
        <p:spPr>
          <a:xfrm>
            <a:off x="158039" y="78961"/>
            <a:ext cx="7938135" cy="12148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Basic Deployment</a:t>
            </a:r>
            <a:endParaRPr/>
          </a:p>
        </p:txBody>
      </p:sp>
      <p:pic>
        <p:nvPicPr>
          <p:cNvPr id="667" name="Google Shape;667;p7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61690" y="3018765"/>
            <a:ext cx="662735" cy="662735"/>
          </a:xfrm>
          <a:prstGeom prst="rect">
            <a:avLst/>
          </a:prstGeom>
          <a:noFill/>
          <a:ln>
            <a:noFill/>
          </a:ln>
        </p:spPr>
      </p:pic>
      <p:pic>
        <p:nvPicPr>
          <p:cNvPr id="668" name="Google Shape;668;p7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61690" y="3997173"/>
            <a:ext cx="662735" cy="662735"/>
          </a:xfrm>
          <a:prstGeom prst="rect">
            <a:avLst/>
          </a:prstGeom>
          <a:noFill/>
          <a:ln>
            <a:noFill/>
          </a:ln>
        </p:spPr>
      </p:pic>
      <p:pic>
        <p:nvPicPr>
          <p:cNvPr id="669" name="Google Shape;669;p7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87979" y="2081505"/>
            <a:ext cx="662735" cy="662735"/>
          </a:xfrm>
          <a:prstGeom prst="rect">
            <a:avLst/>
          </a:prstGeom>
          <a:noFill/>
          <a:ln>
            <a:noFill/>
          </a:ln>
        </p:spPr>
      </p:pic>
      <p:sp>
        <p:nvSpPr>
          <p:cNvPr id="670" name="Google Shape;670;p78"/>
          <p:cNvSpPr/>
          <p:nvPr/>
        </p:nvSpPr>
        <p:spPr>
          <a:xfrm>
            <a:off x="438912" y="2097404"/>
            <a:ext cx="255270" cy="230029"/>
          </a:xfrm>
          <a:custGeom>
            <a:rect b="b" l="l" r="r" t="t"/>
            <a:pathLst>
              <a:path extrusionOk="0" h="306705" w="340359">
                <a:moveTo>
                  <a:pt x="339852" y="0"/>
                </a:moveTo>
                <a:lnTo>
                  <a:pt x="0" y="0"/>
                </a:lnTo>
                <a:lnTo>
                  <a:pt x="0" y="306324"/>
                </a:lnTo>
                <a:lnTo>
                  <a:pt x="339852" y="306324"/>
                </a:lnTo>
                <a:lnTo>
                  <a:pt x="339852" y="0"/>
                </a:lnTo>
                <a:close/>
              </a:path>
            </a:pathLst>
          </a:custGeom>
          <a:solidFill>
            <a:srgbClr val="538235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671" name="Google Shape;671;p78"/>
          <p:cNvSpPr/>
          <p:nvPr/>
        </p:nvSpPr>
        <p:spPr>
          <a:xfrm>
            <a:off x="438912" y="2544317"/>
            <a:ext cx="255270" cy="230981"/>
          </a:xfrm>
          <a:custGeom>
            <a:rect b="b" l="l" r="r" t="t"/>
            <a:pathLst>
              <a:path extrusionOk="0" h="307975" w="340359">
                <a:moveTo>
                  <a:pt x="339852" y="0"/>
                </a:moveTo>
                <a:lnTo>
                  <a:pt x="0" y="0"/>
                </a:lnTo>
                <a:lnTo>
                  <a:pt x="0" y="307848"/>
                </a:lnTo>
                <a:lnTo>
                  <a:pt x="339852" y="307848"/>
                </a:lnTo>
                <a:lnTo>
                  <a:pt x="339852" y="0"/>
                </a:lnTo>
                <a:close/>
              </a:path>
            </a:pathLst>
          </a:custGeom>
          <a:solidFill>
            <a:srgbClr val="2D75B6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672" name="Google Shape;672;p78"/>
          <p:cNvSpPr txBox="1"/>
          <p:nvPr/>
        </p:nvSpPr>
        <p:spPr>
          <a:xfrm>
            <a:off x="497966" y="1310639"/>
            <a:ext cx="6011228" cy="15097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050">
            <a:spAutoFit/>
          </a:bodyPr>
          <a:lstStyle/>
          <a:p>
            <a:pPr indent="-349250" lvl="0" marL="355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Char char="•"/>
            </a:pPr>
            <a:r>
              <a:rPr lang="en" sz="2100">
                <a:latin typeface="Arial"/>
                <a:ea typeface="Arial"/>
                <a:cs typeface="Arial"/>
                <a:sym typeface="Arial"/>
              </a:rPr>
              <a:t>All instances update to the new version at once</a:t>
            </a:r>
            <a:endParaRPr sz="2100">
              <a:latin typeface="Arial"/>
              <a:ea typeface="Arial"/>
              <a:cs typeface="Arial"/>
              <a:sym typeface="Arial"/>
            </a:endParaRPr>
          </a:p>
          <a:p>
            <a:pPr indent="0" lvl="0" marL="393700" marR="5359400" rtl="0" algn="l">
              <a:lnSpc>
                <a:spcPct val="150500"/>
              </a:lnSpc>
              <a:spcBef>
                <a:spcPts val="220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538235"/>
                </a:solidFill>
                <a:latin typeface="Arial"/>
                <a:ea typeface="Arial"/>
                <a:cs typeface="Arial"/>
                <a:sym typeface="Arial"/>
              </a:rPr>
              <a:t>v1 </a:t>
            </a:r>
            <a:r>
              <a:rPr lang="en" sz="2000">
                <a:solidFill>
                  <a:srgbClr val="2D75B6"/>
                </a:solidFill>
                <a:latin typeface="Arial"/>
                <a:ea typeface="Arial"/>
                <a:cs typeface="Arial"/>
                <a:sym typeface="Arial"/>
              </a:rPr>
              <a:t>v2</a:t>
            </a:r>
            <a:endParaRPr sz="20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6" name="Shape 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7" name="Google Shape;677;p79"/>
          <p:cNvSpPr txBox="1"/>
          <p:nvPr>
            <p:ph type="title"/>
          </p:nvPr>
        </p:nvSpPr>
        <p:spPr>
          <a:xfrm>
            <a:off x="158039" y="78961"/>
            <a:ext cx="7938135" cy="12148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Basic Deployment</a:t>
            </a:r>
            <a:endParaRPr/>
          </a:p>
        </p:txBody>
      </p:sp>
      <p:sp>
        <p:nvSpPr>
          <p:cNvPr id="678" name="Google Shape;678;p79"/>
          <p:cNvSpPr txBox="1"/>
          <p:nvPr/>
        </p:nvSpPr>
        <p:spPr>
          <a:xfrm>
            <a:off x="1020699" y="1546479"/>
            <a:ext cx="2121694" cy="502920"/>
          </a:xfrm>
          <a:prstGeom prst="rect">
            <a:avLst/>
          </a:prstGeom>
          <a:solidFill>
            <a:srgbClr val="538235"/>
          </a:solidFill>
          <a:ln cap="flat" cmpd="sng" w="12700">
            <a:solidFill>
              <a:srgbClr val="172C5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79525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Pros</a:t>
            </a:r>
            <a:endParaRPr sz="23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9" name="Google Shape;679;p79"/>
          <p:cNvSpPr txBox="1"/>
          <p:nvPr/>
        </p:nvSpPr>
        <p:spPr>
          <a:xfrm>
            <a:off x="5775578" y="1546479"/>
            <a:ext cx="2121694" cy="502920"/>
          </a:xfrm>
          <a:prstGeom prst="rect">
            <a:avLst/>
          </a:prstGeom>
          <a:solidFill>
            <a:srgbClr val="FF0000"/>
          </a:solidFill>
          <a:ln cap="flat" cmpd="sng" w="12700">
            <a:solidFill>
              <a:srgbClr val="172C5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79525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Cons</a:t>
            </a:r>
            <a:endParaRPr sz="23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0" name="Google Shape;680;p79"/>
          <p:cNvSpPr txBox="1"/>
          <p:nvPr/>
        </p:nvSpPr>
        <p:spPr>
          <a:xfrm>
            <a:off x="1079944" y="2229977"/>
            <a:ext cx="763429" cy="636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1925">
            <a:spAutoFit/>
          </a:bodyPr>
          <a:lstStyle/>
          <a:p>
            <a:pPr indent="-215900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5622"/>
              </a:buClr>
              <a:buSzPts val="1400"/>
              <a:buFont typeface="Arial"/>
              <a:buChar char="•"/>
            </a:pPr>
            <a:r>
              <a:rPr lang="en" sz="1400">
                <a:solidFill>
                  <a:srgbClr val="385622"/>
                </a:solidFill>
                <a:latin typeface="Arial"/>
                <a:ea typeface="Arial"/>
                <a:cs typeface="Arial"/>
                <a:sym typeface="Arial"/>
              </a:rPr>
              <a:t>Simple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215900" lvl="0" marL="2286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385622"/>
              </a:buClr>
              <a:buSzPts val="1400"/>
              <a:buFont typeface="Arial"/>
              <a:buChar char="•"/>
            </a:pPr>
            <a:r>
              <a:rPr lang="en" sz="1400">
                <a:solidFill>
                  <a:srgbClr val="385622"/>
                </a:solidFill>
                <a:latin typeface="Arial"/>
                <a:ea typeface="Arial"/>
                <a:cs typeface="Arial"/>
                <a:sym typeface="Arial"/>
              </a:rPr>
              <a:t>Fast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1" name="Google Shape;681;p79"/>
          <p:cNvSpPr txBox="1"/>
          <p:nvPr/>
        </p:nvSpPr>
        <p:spPr>
          <a:xfrm>
            <a:off x="5835776" y="2229977"/>
            <a:ext cx="2321242" cy="636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1925">
            <a:spAutoFit/>
          </a:bodyPr>
          <a:lstStyle/>
          <a:p>
            <a:pPr indent="-215900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400"/>
              <a:buFont typeface="Arial"/>
              <a:buChar char="•"/>
            </a:pPr>
            <a:r>
              <a:rPr lang="en" sz="14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Risky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215900" lvl="0" marL="2286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FF0000"/>
              </a:buClr>
              <a:buSzPts val="1400"/>
              <a:buFont typeface="Arial"/>
              <a:buChar char="•"/>
            </a:pPr>
            <a:r>
              <a:rPr lang="en" sz="14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System might get unusable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5" name="Shape 6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" name="Google Shape;686;p80"/>
          <p:cNvSpPr txBox="1"/>
          <p:nvPr>
            <p:ph type="title"/>
          </p:nvPr>
        </p:nvSpPr>
        <p:spPr>
          <a:xfrm>
            <a:off x="158039" y="78961"/>
            <a:ext cx="7938135" cy="12148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Basic Deployment</a:t>
            </a:r>
            <a:endParaRPr/>
          </a:p>
        </p:txBody>
      </p:sp>
      <p:sp>
        <p:nvSpPr>
          <p:cNvPr id="687" name="Google Shape;687;p80"/>
          <p:cNvSpPr txBox="1"/>
          <p:nvPr/>
        </p:nvSpPr>
        <p:spPr>
          <a:xfrm>
            <a:off x="497966" y="1310639"/>
            <a:ext cx="3937635" cy="13677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050">
            <a:spAutoFit/>
          </a:bodyPr>
          <a:lstStyle/>
          <a:p>
            <a:pPr indent="-349250" lvl="0" marL="355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Char char="•"/>
            </a:pPr>
            <a:r>
              <a:rPr lang="en" sz="2100">
                <a:latin typeface="Arial"/>
                <a:ea typeface="Arial"/>
                <a:cs typeface="Arial"/>
                <a:sym typeface="Arial"/>
              </a:rPr>
              <a:t>App Service implementation:</a:t>
            </a:r>
            <a:endParaRPr sz="2100">
              <a:latin typeface="Arial"/>
              <a:ea typeface="Arial"/>
              <a:cs typeface="Arial"/>
              <a:sym typeface="Arial"/>
            </a:endParaRPr>
          </a:p>
          <a:p>
            <a:pPr indent="-349250" lvl="1" marL="698500" rtl="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SzPts val="1700"/>
              <a:buFont typeface="Arial"/>
              <a:buChar char="•"/>
            </a:pPr>
            <a:r>
              <a:rPr lang="en" sz="1700">
                <a:latin typeface="Arial"/>
                <a:ea typeface="Arial"/>
                <a:cs typeface="Arial"/>
                <a:sym typeface="Arial"/>
              </a:rPr>
              <a:t>Simple deployment of new version</a:t>
            </a:r>
            <a:endParaRPr sz="1700">
              <a:latin typeface="Arial"/>
              <a:ea typeface="Arial"/>
              <a:cs typeface="Arial"/>
              <a:sym typeface="Arial"/>
            </a:endParaRPr>
          </a:p>
          <a:p>
            <a:pPr indent="0" lvl="1" marL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1700"/>
              <a:buFont typeface="Arial"/>
              <a:buNone/>
            </a:pPr>
            <a:r>
              <a:t/>
            </a:r>
            <a:endParaRPr sz="1700">
              <a:latin typeface="Arial"/>
              <a:ea typeface="Arial"/>
              <a:cs typeface="Arial"/>
              <a:sym typeface="Arial"/>
            </a:endParaRPr>
          </a:p>
          <a:p>
            <a:pPr indent="-349250" lvl="1" marL="6985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Font typeface="Arial"/>
              <a:buChar char="•"/>
            </a:pPr>
            <a:r>
              <a:rPr lang="en" sz="1700">
                <a:latin typeface="Arial"/>
                <a:ea typeface="Arial"/>
                <a:cs typeface="Arial"/>
                <a:sym typeface="Arial"/>
              </a:rPr>
              <a:t>No use of deployment slots</a:t>
            </a:r>
            <a:endParaRPr sz="17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1" name="Shape 6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2" name="Google Shape;692;p81"/>
          <p:cNvSpPr txBox="1"/>
          <p:nvPr>
            <p:ph type="title"/>
          </p:nvPr>
        </p:nvSpPr>
        <p:spPr>
          <a:xfrm>
            <a:off x="158039" y="78961"/>
            <a:ext cx="7938135" cy="12148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Rolling Deployment</a:t>
            </a:r>
            <a:endParaRPr/>
          </a:p>
        </p:txBody>
      </p:sp>
      <p:pic>
        <p:nvPicPr>
          <p:cNvPr id="693" name="Google Shape;693;p8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61690" y="3353664"/>
            <a:ext cx="662735" cy="662735"/>
          </a:xfrm>
          <a:prstGeom prst="rect">
            <a:avLst/>
          </a:prstGeom>
          <a:noFill/>
          <a:ln>
            <a:noFill/>
          </a:ln>
        </p:spPr>
      </p:pic>
      <p:pic>
        <p:nvPicPr>
          <p:cNvPr id="694" name="Google Shape;694;p8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61690" y="4332071"/>
            <a:ext cx="662735" cy="662735"/>
          </a:xfrm>
          <a:prstGeom prst="rect">
            <a:avLst/>
          </a:prstGeom>
          <a:noFill/>
          <a:ln>
            <a:noFill/>
          </a:ln>
        </p:spPr>
      </p:pic>
      <p:pic>
        <p:nvPicPr>
          <p:cNvPr id="695" name="Google Shape;695;p8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87979" y="2416404"/>
            <a:ext cx="662735" cy="662735"/>
          </a:xfrm>
          <a:prstGeom prst="rect">
            <a:avLst/>
          </a:prstGeom>
          <a:noFill/>
          <a:ln>
            <a:noFill/>
          </a:ln>
        </p:spPr>
      </p:pic>
      <p:sp>
        <p:nvSpPr>
          <p:cNvPr id="696" name="Google Shape;696;p81"/>
          <p:cNvSpPr/>
          <p:nvPr/>
        </p:nvSpPr>
        <p:spPr>
          <a:xfrm>
            <a:off x="438912" y="2432304"/>
            <a:ext cx="255270" cy="230029"/>
          </a:xfrm>
          <a:custGeom>
            <a:rect b="b" l="l" r="r" t="t"/>
            <a:pathLst>
              <a:path extrusionOk="0" h="306704" w="340359">
                <a:moveTo>
                  <a:pt x="339852" y="0"/>
                </a:moveTo>
                <a:lnTo>
                  <a:pt x="0" y="0"/>
                </a:lnTo>
                <a:lnTo>
                  <a:pt x="0" y="306324"/>
                </a:lnTo>
                <a:lnTo>
                  <a:pt x="339852" y="306324"/>
                </a:lnTo>
                <a:lnTo>
                  <a:pt x="339852" y="0"/>
                </a:lnTo>
                <a:close/>
              </a:path>
            </a:pathLst>
          </a:custGeom>
          <a:solidFill>
            <a:srgbClr val="538235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697" name="Google Shape;697;p81"/>
          <p:cNvSpPr/>
          <p:nvPr/>
        </p:nvSpPr>
        <p:spPr>
          <a:xfrm>
            <a:off x="438912" y="2879216"/>
            <a:ext cx="255270" cy="230981"/>
          </a:xfrm>
          <a:custGeom>
            <a:rect b="b" l="l" r="r" t="t"/>
            <a:pathLst>
              <a:path extrusionOk="0" h="307975" w="340359">
                <a:moveTo>
                  <a:pt x="339852" y="0"/>
                </a:moveTo>
                <a:lnTo>
                  <a:pt x="0" y="0"/>
                </a:lnTo>
                <a:lnTo>
                  <a:pt x="0" y="307848"/>
                </a:lnTo>
                <a:lnTo>
                  <a:pt x="339852" y="307848"/>
                </a:lnTo>
                <a:lnTo>
                  <a:pt x="339852" y="0"/>
                </a:lnTo>
                <a:close/>
              </a:path>
            </a:pathLst>
          </a:custGeom>
          <a:solidFill>
            <a:srgbClr val="2D75B6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698" name="Google Shape;698;p81"/>
          <p:cNvSpPr txBox="1"/>
          <p:nvPr>
            <p:ph idx="1" type="body"/>
          </p:nvPr>
        </p:nvSpPr>
        <p:spPr>
          <a:xfrm>
            <a:off x="497966" y="1310639"/>
            <a:ext cx="6566535" cy="18445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050">
            <a:spAutoFit/>
          </a:bodyPr>
          <a:lstStyle/>
          <a:p>
            <a:pPr indent="-349250" lvl="0" marL="355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</a:pPr>
            <a:r>
              <a:rPr lang="en"/>
              <a:t>Instances are updated gradually in batches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t/>
            </a:r>
            <a:endParaRPr/>
          </a:p>
          <a:p>
            <a:pPr indent="-349250" lvl="0" marL="355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</a:pPr>
            <a:r>
              <a:rPr lang="en"/>
              <a:t>Only if no errors are found the deployment resumes</a:t>
            </a:r>
            <a:endParaRPr/>
          </a:p>
          <a:p>
            <a:pPr indent="0" lvl="0" marL="393700" marR="5918200" rtl="0" algn="l">
              <a:lnSpc>
                <a:spcPct val="1807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538235"/>
                </a:solidFill>
              </a:rPr>
              <a:t>v1 </a:t>
            </a:r>
            <a:r>
              <a:rPr lang="en" sz="2000">
                <a:solidFill>
                  <a:srgbClr val="2D75B6"/>
                </a:solidFill>
              </a:rPr>
              <a:t>v2</a:t>
            </a:r>
            <a:endParaRPr sz="200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2" name="Shape 7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3" name="Google Shape;703;p82"/>
          <p:cNvSpPr txBox="1"/>
          <p:nvPr>
            <p:ph type="title"/>
          </p:nvPr>
        </p:nvSpPr>
        <p:spPr>
          <a:xfrm>
            <a:off x="158039" y="78961"/>
            <a:ext cx="7938135" cy="12148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Rolling Deployment</a:t>
            </a:r>
            <a:endParaRPr/>
          </a:p>
        </p:txBody>
      </p:sp>
      <p:pic>
        <p:nvPicPr>
          <p:cNvPr id="704" name="Google Shape;704;p8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61690" y="3353664"/>
            <a:ext cx="662735" cy="662735"/>
          </a:xfrm>
          <a:prstGeom prst="rect">
            <a:avLst/>
          </a:prstGeom>
          <a:noFill/>
          <a:ln>
            <a:noFill/>
          </a:ln>
        </p:spPr>
      </p:pic>
      <p:pic>
        <p:nvPicPr>
          <p:cNvPr id="705" name="Google Shape;705;p8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61690" y="4332071"/>
            <a:ext cx="662735" cy="662735"/>
          </a:xfrm>
          <a:prstGeom prst="rect">
            <a:avLst/>
          </a:prstGeom>
          <a:noFill/>
          <a:ln>
            <a:noFill/>
          </a:ln>
        </p:spPr>
      </p:pic>
      <p:pic>
        <p:nvPicPr>
          <p:cNvPr id="706" name="Google Shape;706;p8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587979" y="2416404"/>
            <a:ext cx="662735" cy="662735"/>
          </a:xfrm>
          <a:prstGeom prst="rect">
            <a:avLst/>
          </a:prstGeom>
          <a:noFill/>
          <a:ln>
            <a:noFill/>
          </a:ln>
        </p:spPr>
      </p:pic>
      <p:sp>
        <p:nvSpPr>
          <p:cNvPr id="707" name="Google Shape;707;p82"/>
          <p:cNvSpPr/>
          <p:nvPr/>
        </p:nvSpPr>
        <p:spPr>
          <a:xfrm>
            <a:off x="438912" y="2432304"/>
            <a:ext cx="255270" cy="230029"/>
          </a:xfrm>
          <a:custGeom>
            <a:rect b="b" l="l" r="r" t="t"/>
            <a:pathLst>
              <a:path extrusionOk="0" h="306704" w="340359">
                <a:moveTo>
                  <a:pt x="339852" y="0"/>
                </a:moveTo>
                <a:lnTo>
                  <a:pt x="0" y="0"/>
                </a:lnTo>
                <a:lnTo>
                  <a:pt x="0" y="306324"/>
                </a:lnTo>
                <a:lnTo>
                  <a:pt x="339852" y="306324"/>
                </a:lnTo>
                <a:lnTo>
                  <a:pt x="339852" y="0"/>
                </a:lnTo>
                <a:close/>
              </a:path>
            </a:pathLst>
          </a:custGeom>
          <a:solidFill>
            <a:srgbClr val="538235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708" name="Google Shape;708;p82"/>
          <p:cNvSpPr/>
          <p:nvPr/>
        </p:nvSpPr>
        <p:spPr>
          <a:xfrm>
            <a:off x="438912" y="2879216"/>
            <a:ext cx="255270" cy="230981"/>
          </a:xfrm>
          <a:custGeom>
            <a:rect b="b" l="l" r="r" t="t"/>
            <a:pathLst>
              <a:path extrusionOk="0" h="307975" w="340359">
                <a:moveTo>
                  <a:pt x="339852" y="0"/>
                </a:moveTo>
                <a:lnTo>
                  <a:pt x="0" y="0"/>
                </a:lnTo>
                <a:lnTo>
                  <a:pt x="0" y="307848"/>
                </a:lnTo>
                <a:lnTo>
                  <a:pt x="339852" y="307848"/>
                </a:lnTo>
                <a:lnTo>
                  <a:pt x="339852" y="0"/>
                </a:lnTo>
                <a:close/>
              </a:path>
            </a:pathLst>
          </a:custGeom>
          <a:solidFill>
            <a:srgbClr val="2D75B6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709" name="Google Shape;709;p82"/>
          <p:cNvSpPr txBox="1"/>
          <p:nvPr>
            <p:ph idx="1" type="body"/>
          </p:nvPr>
        </p:nvSpPr>
        <p:spPr>
          <a:xfrm>
            <a:off x="497966" y="1310639"/>
            <a:ext cx="6566535" cy="18445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050">
            <a:spAutoFit/>
          </a:bodyPr>
          <a:lstStyle/>
          <a:p>
            <a:pPr indent="-349250" lvl="0" marL="355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</a:pPr>
            <a:r>
              <a:rPr lang="en"/>
              <a:t>Instances are updated gradually in batches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t/>
            </a:r>
            <a:endParaRPr/>
          </a:p>
          <a:p>
            <a:pPr indent="-349250" lvl="0" marL="355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</a:pPr>
            <a:r>
              <a:rPr lang="en"/>
              <a:t>Only if no errors are found the deployment resumes</a:t>
            </a:r>
            <a:endParaRPr/>
          </a:p>
          <a:p>
            <a:pPr indent="0" lvl="0" marL="393700" marR="5918200" rtl="0" algn="l">
              <a:lnSpc>
                <a:spcPct val="1807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538235"/>
                </a:solidFill>
              </a:rPr>
              <a:t>v1 </a:t>
            </a:r>
            <a:r>
              <a:rPr lang="en" sz="2000">
                <a:solidFill>
                  <a:srgbClr val="2D75B6"/>
                </a:solidFill>
              </a:rPr>
              <a:t>v2</a:t>
            </a:r>
            <a:endParaRPr sz="200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3" name="Shape 7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4" name="Google Shape;714;p83"/>
          <p:cNvSpPr txBox="1"/>
          <p:nvPr>
            <p:ph type="title"/>
          </p:nvPr>
        </p:nvSpPr>
        <p:spPr>
          <a:xfrm>
            <a:off x="158039" y="78961"/>
            <a:ext cx="7938135" cy="12148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Rolling Deployment</a:t>
            </a:r>
            <a:endParaRPr/>
          </a:p>
        </p:txBody>
      </p:sp>
      <p:pic>
        <p:nvPicPr>
          <p:cNvPr id="715" name="Google Shape;715;p8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61690" y="3353664"/>
            <a:ext cx="662735" cy="662735"/>
          </a:xfrm>
          <a:prstGeom prst="rect">
            <a:avLst/>
          </a:prstGeom>
          <a:noFill/>
          <a:ln>
            <a:noFill/>
          </a:ln>
        </p:spPr>
      </p:pic>
      <p:pic>
        <p:nvPicPr>
          <p:cNvPr id="716" name="Google Shape;716;p8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561690" y="4332071"/>
            <a:ext cx="662735" cy="662735"/>
          </a:xfrm>
          <a:prstGeom prst="rect">
            <a:avLst/>
          </a:prstGeom>
          <a:noFill/>
          <a:ln>
            <a:noFill/>
          </a:ln>
        </p:spPr>
      </p:pic>
      <p:pic>
        <p:nvPicPr>
          <p:cNvPr id="717" name="Google Shape;717;p8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87979" y="2416404"/>
            <a:ext cx="662735" cy="662735"/>
          </a:xfrm>
          <a:prstGeom prst="rect">
            <a:avLst/>
          </a:prstGeom>
          <a:noFill/>
          <a:ln>
            <a:noFill/>
          </a:ln>
        </p:spPr>
      </p:pic>
      <p:sp>
        <p:nvSpPr>
          <p:cNvPr id="718" name="Google Shape;718;p83"/>
          <p:cNvSpPr/>
          <p:nvPr/>
        </p:nvSpPr>
        <p:spPr>
          <a:xfrm>
            <a:off x="438912" y="2432304"/>
            <a:ext cx="255270" cy="230029"/>
          </a:xfrm>
          <a:custGeom>
            <a:rect b="b" l="l" r="r" t="t"/>
            <a:pathLst>
              <a:path extrusionOk="0" h="306704" w="340359">
                <a:moveTo>
                  <a:pt x="339852" y="0"/>
                </a:moveTo>
                <a:lnTo>
                  <a:pt x="0" y="0"/>
                </a:lnTo>
                <a:lnTo>
                  <a:pt x="0" y="306324"/>
                </a:lnTo>
                <a:lnTo>
                  <a:pt x="339852" y="306324"/>
                </a:lnTo>
                <a:lnTo>
                  <a:pt x="339852" y="0"/>
                </a:lnTo>
                <a:close/>
              </a:path>
            </a:pathLst>
          </a:custGeom>
          <a:solidFill>
            <a:srgbClr val="538235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719" name="Google Shape;719;p83"/>
          <p:cNvSpPr/>
          <p:nvPr/>
        </p:nvSpPr>
        <p:spPr>
          <a:xfrm>
            <a:off x="438912" y="2879216"/>
            <a:ext cx="255270" cy="230981"/>
          </a:xfrm>
          <a:custGeom>
            <a:rect b="b" l="l" r="r" t="t"/>
            <a:pathLst>
              <a:path extrusionOk="0" h="307975" w="340359">
                <a:moveTo>
                  <a:pt x="339852" y="0"/>
                </a:moveTo>
                <a:lnTo>
                  <a:pt x="0" y="0"/>
                </a:lnTo>
                <a:lnTo>
                  <a:pt x="0" y="307848"/>
                </a:lnTo>
                <a:lnTo>
                  <a:pt x="339852" y="307848"/>
                </a:lnTo>
                <a:lnTo>
                  <a:pt x="339852" y="0"/>
                </a:lnTo>
                <a:close/>
              </a:path>
            </a:pathLst>
          </a:custGeom>
          <a:solidFill>
            <a:srgbClr val="2D75B6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720" name="Google Shape;720;p83"/>
          <p:cNvSpPr txBox="1"/>
          <p:nvPr>
            <p:ph idx="1" type="body"/>
          </p:nvPr>
        </p:nvSpPr>
        <p:spPr>
          <a:xfrm>
            <a:off x="497966" y="1310639"/>
            <a:ext cx="6566535" cy="18445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050">
            <a:spAutoFit/>
          </a:bodyPr>
          <a:lstStyle/>
          <a:p>
            <a:pPr indent="-349250" lvl="0" marL="355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</a:pPr>
            <a:r>
              <a:rPr lang="en"/>
              <a:t>Instances are updated gradually in batches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t/>
            </a:r>
            <a:endParaRPr/>
          </a:p>
          <a:p>
            <a:pPr indent="-349250" lvl="0" marL="355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</a:pPr>
            <a:r>
              <a:rPr lang="en"/>
              <a:t>Only if no errors are found the deployment resumes</a:t>
            </a:r>
            <a:endParaRPr/>
          </a:p>
          <a:p>
            <a:pPr indent="0" lvl="0" marL="393700" marR="5918200" rtl="0" algn="l">
              <a:lnSpc>
                <a:spcPct val="1807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538235"/>
                </a:solidFill>
              </a:rPr>
              <a:t>v1 </a:t>
            </a:r>
            <a:r>
              <a:rPr lang="en" sz="2000">
                <a:solidFill>
                  <a:srgbClr val="2D75B6"/>
                </a:solidFill>
              </a:rPr>
              <a:t>v2</a:t>
            </a:r>
            <a:endParaRPr sz="200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4" name="Shape 7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5" name="Google Shape;725;p84"/>
          <p:cNvSpPr txBox="1"/>
          <p:nvPr>
            <p:ph type="title"/>
          </p:nvPr>
        </p:nvSpPr>
        <p:spPr>
          <a:xfrm>
            <a:off x="158039" y="78961"/>
            <a:ext cx="7938135" cy="12148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Rolling Deployment</a:t>
            </a:r>
            <a:endParaRPr/>
          </a:p>
        </p:txBody>
      </p:sp>
      <p:pic>
        <p:nvPicPr>
          <p:cNvPr id="726" name="Google Shape;726;p8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61690" y="3353664"/>
            <a:ext cx="662735" cy="662735"/>
          </a:xfrm>
          <a:prstGeom prst="rect">
            <a:avLst/>
          </a:prstGeom>
          <a:noFill/>
          <a:ln>
            <a:noFill/>
          </a:ln>
        </p:spPr>
      </p:pic>
      <p:pic>
        <p:nvPicPr>
          <p:cNvPr id="727" name="Google Shape;727;p8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61690" y="4332071"/>
            <a:ext cx="662735" cy="662735"/>
          </a:xfrm>
          <a:prstGeom prst="rect">
            <a:avLst/>
          </a:prstGeom>
          <a:noFill/>
          <a:ln>
            <a:noFill/>
          </a:ln>
        </p:spPr>
      </p:pic>
      <p:pic>
        <p:nvPicPr>
          <p:cNvPr id="728" name="Google Shape;728;p8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87979" y="2416404"/>
            <a:ext cx="662735" cy="662735"/>
          </a:xfrm>
          <a:prstGeom prst="rect">
            <a:avLst/>
          </a:prstGeom>
          <a:noFill/>
          <a:ln>
            <a:noFill/>
          </a:ln>
        </p:spPr>
      </p:pic>
      <p:sp>
        <p:nvSpPr>
          <p:cNvPr id="729" name="Google Shape;729;p84"/>
          <p:cNvSpPr/>
          <p:nvPr/>
        </p:nvSpPr>
        <p:spPr>
          <a:xfrm>
            <a:off x="438912" y="2432304"/>
            <a:ext cx="255270" cy="230029"/>
          </a:xfrm>
          <a:custGeom>
            <a:rect b="b" l="l" r="r" t="t"/>
            <a:pathLst>
              <a:path extrusionOk="0" h="306704" w="340359">
                <a:moveTo>
                  <a:pt x="339852" y="0"/>
                </a:moveTo>
                <a:lnTo>
                  <a:pt x="0" y="0"/>
                </a:lnTo>
                <a:lnTo>
                  <a:pt x="0" y="306324"/>
                </a:lnTo>
                <a:lnTo>
                  <a:pt x="339852" y="306324"/>
                </a:lnTo>
                <a:lnTo>
                  <a:pt x="339852" y="0"/>
                </a:lnTo>
                <a:close/>
              </a:path>
            </a:pathLst>
          </a:custGeom>
          <a:solidFill>
            <a:srgbClr val="538235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730" name="Google Shape;730;p84"/>
          <p:cNvSpPr/>
          <p:nvPr/>
        </p:nvSpPr>
        <p:spPr>
          <a:xfrm>
            <a:off x="438912" y="2879216"/>
            <a:ext cx="255270" cy="230981"/>
          </a:xfrm>
          <a:custGeom>
            <a:rect b="b" l="l" r="r" t="t"/>
            <a:pathLst>
              <a:path extrusionOk="0" h="307975" w="340359">
                <a:moveTo>
                  <a:pt x="339852" y="0"/>
                </a:moveTo>
                <a:lnTo>
                  <a:pt x="0" y="0"/>
                </a:lnTo>
                <a:lnTo>
                  <a:pt x="0" y="307848"/>
                </a:lnTo>
                <a:lnTo>
                  <a:pt x="339852" y="307848"/>
                </a:lnTo>
                <a:lnTo>
                  <a:pt x="339852" y="0"/>
                </a:lnTo>
                <a:close/>
              </a:path>
            </a:pathLst>
          </a:custGeom>
          <a:solidFill>
            <a:srgbClr val="2D75B6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731" name="Google Shape;731;p84"/>
          <p:cNvSpPr txBox="1"/>
          <p:nvPr>
            <p:ph idx="1" type="body"/>
          </p:nvPr>
        </p:nvSpPr>
        <p:spPr>
          <a:xfrm>
            <a:off x="497966" y="1310639"/>
            <a:ext cx="6566535" cy="18445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050">
            <a:spAutoFit/>
          </a:bodyPr>
          <a:lstStyle/>
          <a:p>
            <a:pPr indent="-349250" lvl="0" marL="355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</a:pPr>
            <a:r>
              <a:rPr lang="en"/>
              <a:t>Instances are updated gradually in batches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t/>
            </a:r>
            <a:endParaRPr/>
          </a:p>
          <a:p>
            <a:pPr indent="-349250" lvl="0" marL="355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</a:pPr>
            <a:r>
              <a:rPr lang="en"/>
              <a:t>Only if no errors are found the deployment resumes</a:t>
            </a:r>
            <a:endParaRPr/>
          </a:p>
          <a:p>
            <a:pPr indent="0" lvl="0" marL="393700" marR="5918200" rtl="0" algn="l">
              <a:lnSpc>
                <a:spcPct val="1807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538235"/>
                </a:solidFill>
              </a:rPr>
              <a:t>v1 </a:t>
            </a:r>
            <a:r>
              <a:rPr lang="en" sz="2000">
                <a:solidFill>
                  <a:srgbClr val="2D75B6"/>
                </a:solidFill>
              </a:rPr>
              <a:t>v2</a:t>
            </a:r>
            <a:endParaRPr sz="200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5" name="Shape 7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6" name="Google Shape;736;p85"/>
          <p:cNvSpPr txBox="1"/>
          <p:nvPr>
            <p:ph type="title"/>
          </p:nvPr>
        </p:nvSpPr>
        <p:spPr>
          <a:xfrm>
            <a:off x="158039" y="78961"/>
            <a:ext cx="7938135" cy="12148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Rolling Deployment</a:t>
            </a:r>
            <a:endParaRPr/>
          </a:p>
        </p:txBody>
      </p:sp>
      <p:sp>
        <p:nvSpPr>
          <p:cNvPr id="737" name="Google Shape;737;p85"/>
          <p:cNvSpPr txBox="1"/>
          <p:nvPr/>
        </p:nvSpPr>
        <p:spPr>
          <a:xfrm>
            <a:off x="1020699" y="1546479"/>
            <a:ext cx="2121694" cy="502920"/>
          </a:xfrm>
          <a:prstGeom prst="rect">
            <a:avLst/>
          </a:prstGeom>
          <a:solidFill>
            <a:srgbClr val="538235"/>
          </a:solidFill>
          <a:ln cap="flat" cmpd="sng" w="12700">
            <a:solidFill>
              <a:srgbClr val="172C5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79525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Pros</a:t>
            </a:r>
            <a:endParaRPr sz="23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8" name="Google Shape;738;p85"/>
          <p:cNvSpPr txBox="1"/>
          <p:nvPr/>
        </p:nvSpPr>
        <p:spPr>
          <a:xfrm>
            <a:off x="5775578" y="1546479"/>
            <a:ext cx="2121694" cy="502920"/>
          </a:xfrm>
          <a:prstGeom prst="rect">
            <a:avLst/>
          </a:prstGeom>
          <a:solidFill>
            <a:srgbClr val="FF0000"/>
          </a:solidFill>
          <a:ln cap="flat" cmpd="sng" w="12700">
            <a:solidFill>
              <a:srgbClr val="172C5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79525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Cons</a:t>
            </a:r>
            <a:endParaRPr sz="23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9" name="Google Shape;739;p85"/>
          <p:cNvSpPr txBox="1"/>
          <p:nvPr/>
        </p:nvSpPr>
        <p:spPr>
          <a:xfrm>
            <a:off x="1079944" y="2332482"/>
            <a:ext cx="1432084" cy="2247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-215900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5622"/>
              </a:buClr>
              <a:buSzPts val="1400"/>
              <a:buFont typeface="Arial"/>
              <a:buChar char="•"/>
            </a:pPr>
            <a:r>
              <a:rPr lang="en" sz="1400">
                <a:solidFill>
                  <a:srgbClr val="385622"/>
                </a:solidFill>
                <a:latin typeface="Arial"/>
                <a:ea typeface="Arial"/>
                <a:cs typeface="Arial"/>
                <a:sym typeface="Arial"/>
              </a:rPr>
              <a:t>Allows rollback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0" name="Google Shape;740;p85"/>
          <p:cNvSpPr txBox="1"/>
          <p:nvPr/>
        </p:nvSpPr>
        <p:spPr>
          <a:xfrm>
            <a:off x="5835776" y="2229977"/>
            <a:ext cx="2498884" cy="944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1925">
            <a:spAutoFit/>
          </a:bodyPr>
          <a:lstStyle/>
          <a:p>
            <a:pPr indent="-215900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400"/>
              <a:buFont typeface="Arial"/>
              <a:buChar char="•"/>
            </a:pPr>
            <a:r>
              <a:rPr lang="en" sz="14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Need to support two versions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0" lvl="0" marL="2286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simultaneously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215900" lvl="0" marL="2286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FF0000"/>
              </a:buClr>
              <a:buSzPts val="1400"/>
              <a:buFont typeface="Arial"/>
              <a:buChar char="•"/>
            </a:pPr>
            <a:r>
              <a:rPr lang="en" sz="14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Not easy to manage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4" name="Shape 7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5" name="Google Shape;745;p86"/>
          <p:cNvSpPr txBox="1"/>
          <p:nvPr>
            <p:ph type="title"/>
          </p:nvPr>
        </p:nvSpPr>
        <p:spPr>
          <a:xfrm>
            <a:off x="158039" y="78961"/>
            <a:ext cx="7938135" cy="12148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Rolling Deployment</a:t>
            </a:r>
            <a:endParaRPr/>
          </a:p>
        </p:txBody>
      </p:sp>
      <p:sp>
        <p:nvSpPr>
          <p:cNvPr id="746" name="Google Shape;746;p86"/>
          <p:cNvSpPr txBox="1"/>
          <p:nvPr/>
        </p:nvSpPr>
        <p:spPr>
          <a:xfrm>
            <a:off x="497966" y="1310639"/>
            <a:ext cx="7348538" cy="23741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050">
            <a:spAutoFit/>
          </a:bodyPr>
          <a:lstStyle/>
          <a:p>
            <a:pPr indent="-349250" lvl="0" marL="355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Char char="•"/>
            </a:pPr>
            <a:r>
              <a:rPr lang="en" sz="2100">
                <a:latin typeface="Arial"/>
                <a:ea typeface="Arial"/>
                <a:cs typeface="Arial"/>
                <a:sym typeface="Arial"/>
              </a:rPr>
              <a:t>App Service implementation:</a:t>
            </a:r>
            <a:endParaRPr sz="2100">
              <a:latin typeface="Arial"/>
              <a:ea typeface="Arial"/>
              <a:cs typeface="Arial"/>
              <a:sym typeface="Arial"/>
            </a:endParaRPr>
          </a:p>
          <a:p>
            <a:pPr indent="-349250" lvl="1" marL="698500" rtl="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SzPts val="1700"/>
              <a:buFont typeface="Arial"/>
              <a:buChar char="•"/>
            </a:pPr>
            <a:r>
              <a:rPr lang="en" sz="1700">
                <a:latin typeface="Arial"/>
                <a:ea typeface="Arial"/>
                <a:cs typeface="Arial"/>
                <a:sym typeface="Arial"/>
              </a:rPr>
              <a:t>Deploy to slot</a:t>
            </a:r>
            <a:endParaRPr sz="1700">
              <a:latin typeface="Arial"/>
              <a:ea typeface="Arial"/>
              <a:cs typeface="Arial"/>
              <a:sym typeface="Arial"/>
            </a:endParaRPr>
          </a:p>
          <a:p>
            <a:pPr indent="0" lvl="1" marL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1700"/>
              <a:buFont typeface="Arial"/>
              <a:buNone/>
            </a:pPr>
            <a:r>
              <a:t/>
            </a:r>
            <a:endParaRPr sz="1700">
              <a:latin typeface="Arial"/>
              <a:ea typeface="Arial"/>
              <a:cs typeface="Arial"/>
              <a:sym typeface="Arial"/>
            </a:endParaRPr>
          </a:p>
          <a:p>
            <a:pPr indent="-349250" lvl="1" marL="6985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Font typeface="Arial"/>
              <a:buChar char="•"/>
            </a:pPr>
            <a:r>
              <a:rPr lang="en" sz="1700">
                <a:latin typeface="Arial"/>
                <a:ea typeface="Arial"/>
                <a:cs typeface="Arial"/>
                <a:sym typeface="Arial"/>
              </a:rPr>
              <a:t>Set traffic percentage so that small % will be routed to the new version</a:t>
            </a:r>
            <a:endParaRPr sz="1700">
              <a:latin typeface="Arial"/>
              <a:ea typeface="Arial"/>
              <a:cs typeface="Arial"/>
              <a:sym typeface="Arial"/>
            </a:endParaRPr>
          </a:p>
          <a:p>
            <a:pPr indent="0" lvl="1" marL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1700"/>
              <a:buFont typeface="Arial"/>
              <a:buNone/>
            </a:pPr>
            <a:r>
              <a:t/>
            </a:r>
            <a:endParaRPr sz="1700">
              <a:latin typeface="Arial"/>
              <a:ea typeface="Arial"/>
              <a:cs typeface="Arial"/>
              <a:sym typeface="Arial"/>
            </a:endParaRPr>
          </a:p>
          <a:p>
            <a:pPr indent="-349250" lvl="1" marL="6985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Font typeface="Arial"/>
              <a:buChar char="•"/>
            </a:pPr>
            <a:r>
              <a:rPr lang="en" sz="1700">
                <a:latin typeface="Arial"/>
                <a:ea typeface="Arial"/>
                <a:cs typeface="Arial"/>
                <a:sym typeface="Arial"/>
              </a:rPr>
              <a:t>Gradually increase % of traffic to new version until 100%</a:t>
            </a:r>
            <a:endParaRPr sz="1700">
              <a:latin typeface="Arial"/>
              <a:ea typeface="Arial"/>
              <a:cs typeface="Arial"/>
              <a:sym typeface="Arial"/>
            </a:endParaRPr>
          </a:p>
          <a:p>
            <a:pPr indent="0" lvl="1" marL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1700"/>
              <a:buFont typeface="Arial"/>
              <a:buNone/>
            </a:pPr>
            <a:r>
              <a:t/>
            </a:r>
            <a:endParaRPr sz="1700">
              <a:latin typeface="Arial"/>
              <a:ea typeface="Arial"/>
              <a:cs typeface="Arial"/>
              <a:sym typeface="Arial"/>
            </a:endParaRPr>
          </a:p>
          <a:p>
            <a:pPr indent="-349250" lvl="1" marL="6985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Font typeface="Arial"/>
              <a:buChar char="•"/>
            </a:pPr>
            <a:r>
              <a:rPr lang="en" sz="1700">
                <a:latin typeface="Arial"/>
                <a:ea typeface="Arial"/>
                <a:cs typeface="Arial"/>
                <a:sym typeface="Arial"/>
              </a:rPr>
              <a:t>Swap slots</a:t>
            </a:r>
            <a:endParaRPr sz="17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0" name="Shape 7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1" name="Google Shape;751;p87"/>
          <p:cNvSpPr txBox="1"/>
          <p:nvPr>
            <p:ph type="title"/>
          </p:nvPr>
        </p:nvSpPr>
        <p:spPr>
          <a:xfrm>
            <a:off x="158039" y="78961"/>
            <a:ext cx="7938135" cy="12148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Blue-Green Deployment</a:t>
            </a:r>
            <a:endParaRPr/>
          </a:p>
        </p:txBody>
      </p:sp>
      <p:pic>
        <p:nvPicPr>
          <p:cNvPr id="752" name="Google Shape;752;p8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61690" y="3353664"/>
            <a:ext cx="662735" cy="662735"/>
          </a:xfrm>
          <a:prstGeom prst="rect">
            <a:avLst/>
          </a:prstGeom>
          <a:noFill/>
          <a:ln>
            <a:noFill/>
          </a:ln>
        </p:spPr>
      </p:pic>
      <p:pic>
        <p:nvPicPr>
          <p:cNvPr id="753" name="Google Shape;753;p8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61690" y="4332071"/>
            <a:ext cx="662735" cy="662735"/>
          </a:xfrm>
          <a:prstGeom prst="rect">
            <a:avLst/>
          </a:prstGeom>
          <a:noFill/>
          <a:ln>
            <a:noFill/>
          </a:ln>
        </p:spPr>
      </p:pic>
      <p:pic>
        <p:nvPicPr>
          <p:cNvPr id="754" name="Google Shape;754;p8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87979" y="2416404"/>
            <a:ext cx="662735" cy="662735"/>
          </a:xfrm>
          <a:prstGeom prst="rect">
            <a:avLst/>
          </a:prstGeom>
          <a:noFill/>
          <a:ln>
            <a:noFill/>
          </a:ln>
        </p:spPr>
      </p:pic>
      <p:sp>
        <p:nvSpPr>
          <p:cNvPr id="755" name="Google Shape;755;p87"/>
          <p:cNvSpPr/>
          <p:nvPr/>
        </p:nvSpPr>
        <p:spPr>
          <a:xfrm>
            <a:off x="438912" y="2432304"/>
            <a:ext cx="255270" cy="230029"/>
          </a:xfrm>
          <a:custGeom>
            <a:rect b="b" l="l" r="r" t="t"/>
            <a:pathLst>
              <a:path extrusionOk="0" h="306704" w="340359">
                <a:moveTo>
                  <a:pt x="339852" y="0"/>
                </a:moveTo>
                <a:lnTo>
                  <a:pt x="0" y="0"/>
                </a:lnTo>
                <a:lnTo>
                  <a:pt x="0" y="306324"/>
                </a:lnTo>
                <a:lnTo>
                  <a:pt x="339852" y="306324"/>
                </a:lnTo>
                <a:lnTo>
                  <a:pt x="339852" y="0"/>
                </a:lnTo>
                <a:close/>
              </a:path>
            </a:pathLst>
          </a:custGeom>
          <a:solidFill>
            <a:srgbClr val="538235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756" name="Google Shape;756;p87"/>
          <p:cNvSpPr/>
          <p:nvPr/>
        </p:nvSpPr>
        <p:spPr>
          <a:xfrm>
            <a:off x="438912" y="2879216"/>
            <a:ext cx="255270" cy="230981"/>
          </a:xfrm>
          <a:custGeom>
            <a:rect b="b" l="l" r="r" t="t"/>
            <a:pathLst>
              <a:path extrusionOk="0" h="307975" w="340359">
                <a:moveTo>
                  <a:pt x="339852" y="0"/>
                </a:moveTo>
                <a:lnTo>
                  <a:pt x="0" y="0"/>
                </a:lnTo>
                <a:lnTo>
                  <a:pt x="0" y="307848"/>
                </a:lnTo>
                <a:lnTo>
                  <a:pt x="339852" y="307848"/>
                </a:lnTo>
                <a:lnTo>
                  <a:pt x="339852" y="0"/>
                </a:lnTo>
                <a:close/>
              </a:path>
            </a:pathLst>
          </a:custGeom>
          <a:solidFill>
            <a:srgbClr val="2D75B6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757" name="Google Shape;757;p87"/>
          <p:cNvSpPr txBox="1"/>
          <p:nvPr/>
        </p:nvSpPr>
        <p:spPr>
          <a:xfrm>
            <a:off x="497966" y="1310639"/>
            <a:ext cx="7346633" cy="18445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050">
            <a:spAutoFit/>
          </a:bodyPr>
          <a:lstStyle/>
          <a:p>
            <a:pPr indent="-349250" lvl="0" marL="355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Char char="•"/>
            </a:pPr>
            <a:r>
              <a:rPr lang="en" sz="2100">
                <a:latin typeface="Arial"/>
                <a:ea typeface="Arial"/>
                <a:cs typeface="Arial"/>
                <a:sym typeface="Arial"/>
              </a:rPr>
              <a:t>New version uploaded and accessible only to testers</a:t>
            </a:r>
            <a:endParaRPr sz="2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2100"/>
              <a:buFont typeface="Arial"/>
              <a:buNone/>
            </a:pPr>
            <a:r>
              <a:t/>
            </a:r>
            <a:endParaRPr sz="2100">
              <a:latin typeface="Arial"/>
              <a:ea typeface="Arial"/>
              <a:cs typeface="Arial"/>
              <a:sym typeface="Arial"/>
            </a:endParaRPr>
          </a:p>
          <a:p>
            <a:pPr indent="-349250" lvl="0" marL="355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Char char="•"/>
            </a:pPr>
            <a:r>
              <a:rPr lang="en" sz="2100">
                <a:latin typeface="Arial"/>
                <a:ea typeface="Arial"/>
                <a:cs typeface="Arial"/>
                <a:sym typeface="Arial"/>
              </a:rPr>
              <a:t>After verification complete, traffic is routed to new version</a:t>
            </a:r>
            <a:endParaRPr sz="2100">
              <a:latin typeface="Arial"/>
              <a:ea typeface="Arial"/>
              <a:cs typeface="Arial"/>
              <a:sym typeface="Arial"/>
            </a:endParaRPr>
          </a:p>
          <a:p>
            <a:pPr indent="0" lvl="0" marL="393700" marR="6692900" rtl="0" algn="l">
              <a:lnSpc>
                <a:spcPct val="1807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538235"/>
                </a:solidFill>
                <a:latin typeface="Arial"/>
                <a:ea typeface="Arial"/>
                <a:cs typeface="Arial"/>
                <a:sym typeface="Arial"/>
              </a:rPr>
              <a:t>v1 </a:t>
            </a:r>
            <a:r>
              <a:rPr lang="en" sz="2000">
                <a:solidFill>
                  <a:srgbClr val="2D75B6"/>
                </a:solidFill>
                <a:latin typeface="Arial"/>
                <a:ea typeface="Arial"/>
                <a:cs typeface="Arial"/>
                <a:sym typeface="Arial"/>
              </a:rPr>
              <a:t>v2</a:t>
            </a:r>
            <a:endParaRPr sz="20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1" name="Shape 7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2" name="Google Shape;762;p88"/>
          <p:cNvSpPr txBox="1"/>
          <p:nvPr>
            <p:ph type="title"/>
          </p:nvPr>
        </p:nvSpPr>
        <p:spPr>
          <a:xfrm>
            <a:off x="158039" y="78961"/>
            <a:ext cx="7938135" cy="12148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Blue-Green Deployment</a:t>
            </a:r>
            <a:endParaRPr/>
          </a:p>
        </p:txBody>
      </p:sp>
      <p:pic>
        <p:nvPicPr>
          <p:cNvPr id="763" name="Google Shape;763;p8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61690" y="3353664"/>
            <a:ext cx="662735" cy="662735"/>
          </a:xfrm>
          <a:prstGeom prst="rect">
            <a:avLst/>
          </a:prstGeom>
          <a:noFill/>
          <a:ln>
            <a:noFill/>
          </a:ln>
        </p:spPr>
      </p:pic>
      <p:pic>
        <p:nvPicPr>
          <p:cNvPr id="764" name="Google Shape;764;p8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61690" y="4332071"/>
            <a:ext cx="662735" cy="662735"/>
          </a:xfrm>
          <a:prstGeom prst="rect">
            <a:avLst/>
          </a:prstGeom>
          <a:noFill/>
          <a:ln>
            <a:noFill/>
          </a:ln>
        </p:spPr>
      </p:pic>
      <p:pic>
        <p:nvPicPr>
          <p:cNvPr id="765" name="Google Shape;765;p8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87979" y="2416404"/>
            <a:ext cx="662735" cy="662735"/>
          </a:xfrm>
          <a:prstGeom prst="rect">
            <a:avLst/>
          </a:prstGeom>
          <a:noFill/>
          <a:ln>
            <a:noFill/>
          </a:ln>
        </p:spPr>
      </p:pic>
      <p:sp>
        <p:nvSpPr>
          <p:cNvPr id="766" name="Google Shape;766;p88"/>
          <p:cNvSpPr/>
          <p:nvPr/>
        </p:nvSpPr>
        <p:spPr>
          <a:xfrm>
            <a:off x="438912" y="2432304"/>
            <a:ext cx="255270" cy="230029"/>
          </a:xfrm>
          <a:custGeom>
            <a:rect b="b" l="l" r="r" t="t"/>
            <a:pathLst>
              <a:path extrusionOk="0" h="306704" w="340359">
                <a:moveTo>
                  <a:pt x="339852" y="0"/>
                </a:moveTo>
                <a:lnTo>
                  <a:pt x="0" y="0"/>
                </a:lnTo>
                <a:lnTo>
                  <a:pt x="0" y="306324"/>
                </a:lnTo>
                <a:lnTo>
                  <a:pt x="339852" y="306324"/>
                </a:lnTo>
                <a:lnTo>
                  <a:pt x="339852" y="0"/>
                </a:lnTo>
                <a:close/>
              </a:path>
            </a:pathLst>
          </a:custGeom>
          <a:solidFill>
            <a:srgbClr val="538235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767" name="Google Shape;767;p88"/>
          <p:cNvSpPr/>
          <p:nvPr/>
        </p:nvSpPr>
        <p:spPr>
          <a:xfrm>
            <a:off x="438912" y="2879216"/>
            <a:ext cx="255270" cy="230981"/>
          </a:xfrm>
          <a:custGeom>
            <a:rect b="b" l="l" r="r" t="t"/>
            <a:pathLst>
              <a:path extrusionOk="0" h="307975" w="340359">
                <a:moveTo>
                  <a:pt x="339852" y="0"/>
                </a:moveTo>
                <a:lnTo>
                  <a:pt x="0" y="0"/>
                </a:lnTo>
                <a:lnTo>
                  <a:pt x="0" y="307848"/>
                </a:lnTo>
                <a:lnTo>
                  <a:pt x="339852" y="307848"/>
                </a:lnTo>
                <a:lnTo>
                  <a:pt x="339852" y="0"/>
                </a:lnTo>
                <a:close/>
              </a:path>
            </a:pathLst>
          </a:custGeom>
          <a:solidFill>
            <a:srgbClr val="2D75B6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768" name="Google Shape;768;p88"/>
          <p:cNvSpPr txBox="1"/>
          <p:nvPr/>
        </p:nvSpPr>
        <p:spPr>
          <a:xfrm>
            <a:off x="497966" y="1310639"/>
            <a:ext cx="7346633" cy="18445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050">
            <a:spAutoFit/>
          </a:bodyPr>
          <a:lstStyle/>
          <a:p>
            <a:pPr indent="-349250" lvl="0" marL="355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Char char="•"/>
            </a:pPr>
            <a:r>
              <a:rPr lang="en" sz="2100">
                <a:latin typeface="Arial"/>
                <a:ea typeface="Arial"/>
                <a:cs typeface="Arial"/>
                <a:sym typeface="Arial"/>
              </a:rPr>
              <a:t>New version uploaded and accessible only to testers</a:t>
            </a:r>
            <a:endParaRPr sz="2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2100"/>
              <a:buFont typeface="Arial"/>
              <a:buNone/>
            </a:pPr>
            <a:r>
              <a:t/>
            </a:r>
            <a:endParaRPr sz="2100">
              <a:latin typeface="Arial"/>
              <a:ea typeface="Arial"/>
              <a:cs typeface="Arial"/>
              <a:sym typeface="Arial"/>
            </a:endParaRPr>
          </a:p>
          <a:p>
            <a:pPr indent="-349250" lvl="0" marL="355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Char char="•"/>
            </a:pPr>
            <a:r>
              <a:rPr lang="en" sz="2100">
                <a:latin typeface="Arial"/>
                <a:ea typeface="Arial"/>
                <a:cs typeface="Arial"/>
                <a:sym typeface="Arial"/>
              </a:rPr>
              <a:t>After verification complete, traffic is routed to new version</a:t>
            </a:r>
            <a:endParaRPr sz="2100">
              <a:latin typeface="Arial"/>
              <a:ea typeface="Arial"/>
              <a:cs typeface="Arial"/>
              <a:sym typeface="Arial"/>
            </a:endParaRPr>
          </a:p>
          <a:p>
            <a:pPr indent="0" lvl="0" marL="393700" marR="6692900" rtl="0" algn="l">
              <a:lnSpc>
                <a:spcPct val="1807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538235"/>
                </a:solidFill>
                <a:latin typeface="Arial"/>
                <a:ea typeface="Arial"/>
                <a:cs typeface="Arial"/>
                <a:sym typeface="Arial"/>
              </a:rPr>
              <a:t>v1 </a:t>
            </a:r>
            <a:r>
              <a:rPr lang="en" sz="2000">
                <a:solidFill>
                  <a:srgbClr val="2D75B6"/>
                </a:solidFill>
                <a:latin typeface="Arial"/>
                <a:ea typeface="Arial"/>
                <a:cs typeface="Arial"/>
                <a:sym typeface="Arial"/>
              </a:rPr>
              <a:t>v2</a:t>
            </a:r>
            <a:endParaRPr sz="20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69" name="Google Shape;769;p8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27831" y="3353664"/>
            <a:ext cx="661181" cy="662735"/>
          </a:xfrm>
          <a:prstGeom prst="rect">
            <a:avLst/>
          </a:prstGeom>
          <a:noFill/>
          <a:ln>
            <a:noFill/>
          </a:ln>
        </p:spPr>
      </p:pic>
      <p:pic>
        <p:nvPicPr>
          <p:cNvPr id="770" name="Google Shape;770;p8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27831" y="4332071"/>
            <a:ext cx="661181" cy="662735"/>
          </a:xfrm>
          <a:prstGeom prst="rect">
            <a:avLst/>
          </a:prstGeom>
          <a:noFill/>
          <a:ln>
            <a:noFill/>
          </a:ln>
        </p:spPr>
      </p:pic>
      <p:pic>
        <p:nvPicPr>
          <p:cNvPr id="771" name="Google Shape;771;p8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352770" y="2416404"/>
            <a:ext cx="662735" cy="6627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5" name="Shape 7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6" name="Google Shape;776;p89"/>
          <p:cNvSpPr txBox="1"/>
          <p:nvPr>
            <p:ph type="title"/>
          </p:nvPr>
        </p:nvSpPr>
        <p:spPr>
          <a:xfrm>
            <a:off x="158039" y="78961"/>
            <a:ext cx="7938135" cy="12148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Blue-Green Deployment</a:t>
            </a:r>
            <a:endParaRPr/>
          </a:p>
        </p:txBody>
      </p:sp>
      <p:sp>
        <p:nvSpPr>
          <p:cNvPr id="777" name="Google Shape;777;p89"/>
          <p:cNvSpPr/>
          <p:nvPr/>
        </p:nvSpPr>
        <p:spPr>
          <a:xfrm>
            <a:off x="438912" y="2432304"/>
            <a:ext cx="255270" cy="230029"/>
          </a:xfrm>
          <a:custGeom>
            <a:rect b="b" l="l" r="r" t="t"/>
            <a:pathLst>
              <a:path extrusionOk="0" h="306704" w="340359">
                <a:moveTo>
                  <a:pt x="339852" y="0"/>
                </a:moveTo>
                <a:lnTo>
                  <a:pt x="0" y="0"/>
                </a:lnTo>
                <a:lnTo>
                  <a:pt x="0" y="306324"/>
                </a:lnTo>
                <a:lnTo>
                  <a:pt x="339852" y="306324"/>
                </a:lnTo>
                <a:lnTo>
                  <a:pt x="339852" y="0"/>
                </a:lnTo>
                <a:close/>
              </a:path>
            </a:pathLst>
          </a:custGeom>
          <a:solidFill>
            <a:srgbClr val="538235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778" name="Google Shape;778;p89"/>
          <p:cNvSpPr/>
          <p:nvPr/>
        </p:nvSpPr>
        <p:spPr>
          <a:xfrm>
            <a:off x="438912" y="2879216"/>
            <a:ext cx="255270" cy="230981"/>
          </a:xfrm>
          <a:custGeom>
            <a:rect b="b" l="l" r="r" t="t"/>
            <a:pathLst>
              <a:path extrusionOk="0" h="307975" w="340359">
                <a:moveTo>
                  <a:pt x="339852" y="0"/>
                </a:moveTo>
                <a:lnTo>
                  <a:pt x="0" y="0"/>
                </a:lnTo>
                <a:lnTo>
                  <a:pt x="0" y="307848"/>
                </a:lnTo>
                <a:lnTo>
                  <a:pt x="339852" y="307848"/>
                </a:lnTo>
                <a:lnTo>
                  <a:pt x="339852" y="0"/>
                </a:lnTo>
                <a:close/>
              </a:path>
            </a:pathLst>
          </a:custGeom>
          <a:solidFill>
            <a:srgbClr val="2D75B6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779" name="Google Shape;779;p89"/>
          <p:cNvSpPr txBox="1"/>
          <p:nvPr/>
        </p:nvSpPr>
        <p:spPr>
          <a:xfrm>
            <a:off x="497966" y="1310639"/>
            <a:ext cx="7346633" cy="18445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050">
            <a:spAutoFit/>
          </a:bodyPr>
          <a:lstStyle/>
          <a:p>
            <a:pPr indent="-349250" lvl="0" marL="355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Char char="•"/>
            </a:pPr>
            <a:r>
              <a:rPr lang="en" sz="2100">
                <a:latin typeface="Arial"/>
                <a:ea typeface="Arial"/>
                <a:cs typeface="Arial"/>
                <a:sym typeface="Arial"/>
              </a:rPr>
              <a:t>New version uploaded and accessible only to testers</a:t>
            </a:r>
            <a:endParaRPr sz="2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2100"/>
              <a:buFont typeface="Arial"/>
              <a:buNone/>
            </a:pPr>
            <a:r>
              <a:t/>
            </a:r>
            <a:endParaRPr sz="2100">
              <a:latin typeface="Arial"/>
              <a:ea typeface="Arial"/>
              <a:cs typeface="Arial"/>
              <a:sym typeface="Arial"/>
            </a:endParaRPr>
          </a:p>
          <a:p>
            <a:pPr indent="-349250" lvl="0" marL="355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Char char="•"/>
            </a:pPr>
            <a:r>
              <a:rPr lang="en" sz="2100">
                <a:latin typeface="Arial"/>
                <a:ea typeface="Arial"/>
                <a:cs typeface="Arial"/>
                <a:sym typeface="Arial"/>
              </a:rPr>
              <a:t>After verification complete, traffic is routed to new version</a:t>
            </a:r>
            <a:endParaRPr sz="2100">
              <a:latin typeface="Arial"/>
              <a:ea typeface="Arial"/>
              <a:cs typeface="Arial"/>
              <a:sym typeface="Arial"/>
            </a:endParaRPr>
          </a:p>
          <a:p>
            <a:pPr indent="0" lvl="0" marL="393700" marR="6692900" rtl="0" algn="l">
              <a:lnSpc>
                <a:spcPct val="1807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538235"/>
                </a:solidFill>
                <a:latin typeface="Arial"/>
                <a:ea typeface="Arial"/>
                <a:cs typeface="Arial"/>
                <a:sym typeface="Arial"/>
              </a:rPr>
              <a:t>v1 </a:t>
            </a:r>
            <a:r>
              <a:rPr lang="en" sz="2000">
                <a:solidFill>
                  <a:srgbClr val="2D75B6"/>
                </a:solidFill>
                <a:latin typeface="Arial"/>
                <a:ea typeface="Arial"/>
                <a:cs typeface="Arial"/>
                <a:sym typeface="Arial"/>
              </a:rPr>
              <a:t>v2</a:t>
            </a:r>
            <a:endParaRPr sz="20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80" name="Google Shape;780;p8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27831" y="3353664"/>
            <a:ext cx="661181" cy="662735"/>
          </a:xfrm>
          <a:prstGeom prst="rect">
            <a:avLst/>
          </a:prstGeom>
          <a:noFill/>
          <a:ln>
            <a:noFill/>
          </a:ln>
        </p:spPr>
      </p:pic>
      <p:pic>
        <p:nvPicPr>
          <p:cNvPr id="781" name="Google Shape;781;p8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27831" y="4332071"/>
            <a:ext cx="661181" cy="662735"/>
          </a:xfrm>
          <a:prstGeom prst="rect">
            <a:avLst/>
          </a:prstGeom>
          <a:noFill/>
          <a:ln>
            <a:noFill/>
          </a:ln>
        </p:spPr>
      </p:pic>
      <p:pic>
        <p:nvPicPr>
          <p:cNvPr id="782" name="Google Shape;782;p8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52770" y="2416404"/>
            <a:ext cx="662735" cy="6627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6" name="Shape 7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7" name="Google Shape;787;p90"/>
          <p:cNvSpPr txBox="1"/>
          <p:nvPr>
            <p:ph type="title"/>
          </p:nvPr>
        </p:nvSpPr>
        <p:spPr>
          <a:xfrm>
            <a:off x="158039" y="78961"/>
            <a:ext cx="7938135" cy="12148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Blue-Green Deployment</a:t>
            </a:r>
            <a:endParaRPr/>
          </a:p>
        </p:txBody>
      </p:sp>
      <p:sp>
        <p:nvSpPr>
          <p:cNvPr id="788" name="Google Shape;788;p90"/>
          <p:cNvSpPr txBox="1"/>
          <p:nvPr/>
        </p:nvSpPr>
        <p:spPr>
          <a:xfrm>
            <a:off x="1020699" y="1546479"/>
            <a:ext cx="2121694" cy="502920"/>
          </a:xfrm>
          <a:prstGeom prst="rect">
            <a:avLst/>
          </a:prstGeom>
          <a:solidFill>
            <a:srgbClr val="538235"/>
          </a:solidFill>
          <a:ln cap="flat" cmpd="sng" w="12700">
            <a:solidFill>
              <a:srgbClr val="172C5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79525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Pros</a:t>
            </a:r>
            <a:endParaRPr sz="23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9" name="Google Shape;789;p90"/>
          <p:cNvSpPr txBox="1"/>
          <p:nvPr/>
        </p:nvSpPr>
        <p:spPr>
          <a:xfrm>
            <a:off x="5775578" y="1546479"/>
            <a:ext cx="2121694" cy="502920"/>
          </a:xfrm>
          <a:prstGeom prst="rect">
            <a:avLst/>
          </a:prstGeom>
          <a:solidFill>
            <a:srgbClr val="FF0000"/>
          </a:solidFill>
          <a:ln cap="flat" cmpd="sng" w="12700">
            <a:solidFill>
              <a:srgbClr val="172C5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79525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Cons</a:t>
            </a:r>
            <a:endParaRPr sz="23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0" name="Google Shape;790;p90"/>
          <p:cNvSpPr txBox="1"/>
          <p:nvPr/>
        </p:nvSpPr>
        <p:spPr>
          <a:xfrm>
            <a:off x="1079944" y="2229977"/>
            <a:ext cx="2350770" cy="944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1925">
            <a:spAutoFit/>
          </a:bodyPr>
          <a:lstStyle/>
          <a:p>
            <a:pPr indent="-215900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5622"/>
              </a:buClr>
              <a:buSzPts val="1400"/>
              <a:buFont typeface="Arial"/>
              <a:buChar char="•"/>
            </a:pPr>
            <a:r>
              <a:rPr lang="en" sz="1400">
                <a:solidFill>
                  <a:srgbClr val="385622"/>
                </a:solidFill>
                <a:latin typeface="Arial"/>
                <a:ea typeface="Arial"/>
                <a:cs typeface="Arial"/>
                <a:sym typeface="Arial"/>
              </a:rPr>
              <a:t>Simple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215900" lvl="0" marL="2286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385622"/>
              </a:buClr>
              <a:buSzPts val="1400"/>
              <a:buFont typeface="Arial"/>
              <a:buChar char="•"/>
            </a:pPr>
            <a:r>
              <a:rPr lang="en" sz="1400">
                <a:solidFill>
                  <a:srgbClr val="385622"/>
                </a:solidFill>
                <a:latin typeface="Arial"/>
                <a:ea typeface="Arial"/>
                <a:cs typeface="Arial"/>
                <a:sym typeface="Arial"/>
              </a:rPr>
              <a:t>New environment is always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0" lvl="0" marL="2286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385622"/>
                </a:solidFill>
                <a:latin typeface="Arial"/>
                <a:ea typeface="Arial"/>
                <a:cs typeface="Arial"/>
                <a:sym typeface="Arial"/>
              </a:rPr>
              <a:t>tested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1" name="Google Shape;791;p90"/>
          <p:cNvSpPr txBox="1"/>
          <p:nvPr/>
        </p:nvSpPr>
        <p:spPr>
          <a:xfrm>
            <a:off x="5835776" y="2332482"/>
            <a:ext cx="579596" cy="2247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-215900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400"/>
              <a:buFont typeface="Arial"/>
              <a:buChar char="•"/>
            </a:pPr>
            <a:r>
              <a:rPr lang="en" sz="14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Cost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2" name="Google Shape;792;p90"/>
          <p:cNvSpPr txBox="1"/>
          <p:nvPr/>
        </p:nvSpPr>
        <p:spPr>
          <a:xfrm>
            <a:off x="6178867" y="2640863"/>
            <a:ext cx="1409223" cy="2252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-215900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400"/>
              <a:buFont typeface="Arial"/>
              <a:buChar char="•"/>
            </a:pPr>
            <a:r>
              <a:rPr lang="en" sz="14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More instances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6" name="Shape 7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7" name="Google Shape;797;p91"/>
          <p:cNvSpPr txBox="1"/>
          <p:nvPr>
            <p:ph type="title"/>
          </p:nvPr>
        </p:nvSpPr>
        <p:spPr>
          <a:xfrm>
            <a:off x="158039" y="78961"/>
            <a:ext cx="7938135" cy="12148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Blue-Green Deployment</a:t>
            </a:r>
            <a:endParaRPr/>
          </a:p>
        </p:txBody>
      </p:sp>
      <p:sp>
        <p:nvSpPr>
          <p:cNvPr id="798" name="Google Shape;798;p91"/>
          <p:cNvSpPr txBox="1"/>
          <p:nvPr/>
        </p:nvSpPr>
        <p:spPr>
          <a:xfrm>
            <a:off x="497966" y="1310639"/>
            <a:ext cx="5681186" cy="18707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050">
            <a:spAutoFit/>
          </a:bodyPr>
          <a:lstStyle/>
          <a:p>
            <a:pPr indent="-349250" lvl="0" marL="355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Char char="•"/>
            </a:pPr>
            <a:r>
              <a:rPr lang="en" sz="2100">
                <a:latin typeface="Arial"/>
                <a:ea typeface="Arial"/>
                <a:cs typeface="Arial"/>
                <a:sym typeface="Arial"/>
              </a:rPr>
              <a:t>App Service implementation:</a:t>
            </a:r>
            <a:endParaRPr sz="2100">
              <a:latin typeface="Arial"/>
              <a:ea typeface="Arial"/>
              <a:cs typeface="Arial"/>
              <a:sym typeface="Arial"/>
            </a:endParaRPr>
          </a:p>
          <a:p>
            <a:pPr indent="-349250" lvl="1" marL="698500" rtl="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SzPts val="1700"/>
              <a:buFont typeface="Arial"/>
              <a:buChar char="•"/>
            </a:pPr>
            <a:r>
              <a:rPr lang="en" sz="1700">
                <a:latin typeface="Arial"/>
                <a:ea typeface="Arial"/>
                <a:cs typeface="Arial"/>
                <a:sym typeface="Arial"/>
              </a:rPr>
              <a:t>Deploy to a new slot</a:t>
            </a:r>
            <a:endParaRPr sz="1700">
              <a:latin typeface="Arial"/>
              <a:ea typeface="Arial"/>
              <a:cs typeface="Arial"/>
              <a:sym typeface="Arial"/>
            </a:endParaRPr>
          </a:p>
          <a:p>
            <a:pPr indent="0" lvl="1" marL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1700"/>
              <a:buFont typeface="Arial"/>
              <a:buNone/>
            </a:pPr>
            <a:r>
              <a:t/>
            </a:r>
            <a:endParaRPr sz="1700">
              <a:latin typeface="Arial"/>
              <a:ea typeface="Arial"/>
              <a:cs typeface="Arial"/>
              <a:sym typeface="Arial"/>
            </a:endParaRPr>
          </a:p>
          <a:p>
            <a:pPr indent="-349250" lvl="1" marL="6985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Font typeface="Arial"/>
              <a:buChar char="•"/>
            </a:pPr>
            <a:r>
              <a:rPr lang="en" sz="1700">
                <a:latin typeface="Arial"/>
                <a:ea typeface="Arial"/>
                <a:cs typeface="Arial"/>
                <a:sym typeface="Arial"/>
              </a:rPr>
              <a:t>Testers work on the new slot using its dedicated URL</a:t>
            </a:r>
            <a:endParaRPr sz="1700">
              <a:latin typeface="Arial"/>
              <a:ea typeface="Arial"/>
              <a:cs typeface="Arial"/>
              <a:sym typeface="Arial"/>
            </a:endParaRPr>
          </a:p>
          <a:p>
            <a:pPr indent="0" lvl="1" marL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1700"/>
              <a:buFont typeface="Arial"/>
              <a:buNone/>
            </a:pPr>
            <a:r>
              <a:t/>
            </a:r>
            <a:endParaRPr sz="1700">
              <a:latin typeface="Arial"/>
              <a:ea typeface="Arial"/>
              <a:cs typeface="Arial"/>
              <a:sym typeface="Arial"/>
            </a:endParaRPr>
          </a:p>
          <a:p>
            <a:pPr indent="-349250" lvl="1" marL="6985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Font typeface="Arial"/>
              <a:buChar char="•"/>
            </a:pPr>
            <a:r>
              <a:rPr lang="en" sz="1700">
                <a:latin typeface="Arial"/>
                <a:ea typeface="Arial"/>
                <a:cs typeface="Arial"/>
                <a:sym typeface="Arial"/>
              </a:rPr>
              <a:t>After testing is complete – swap slots</a:t>
            </a:r>
            <a:endParaRPr sz="17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802" name="Shape 8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3" name="Google Shape;803;p9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33647" y="201266"/>
            <a:ext cx="1071941" cy="323370"/>
          </a:xfrm>
          <a:prstGeom prst="rect">
            <a:avLst/>
          </a:prstGeom>
          <a:noFill/>
          <a:ln>
            <a:noFill/>
          </a:ln>
        </p:spPr>
      </p:pic>
      <p:sp>
        <p:nvSpPr>
          <p:cNvPr id="804" name="Google Shape;804;p92"/>
          <p:cNvSpPr txBox="1"/>
          <p:nvPr>
            <p:ph type="title"/>
          </p:nvPr>
        </p:nvSpPr>
        <p:spPr>
          <a:xfrm>
            <a:off x="158039" y="78961"/>
            <a:ext cx="7938135" cy="12148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37950">
            <a:spAutoFit/>
          </a:bodyPr>
          <a:lstStyle/>
          <a:p>
            <a:pPr indent="0" lvl="0" marL="2844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C55A11"/>
                </a:solidFill>
              </a:rPr>
              <a:t>Cloud Architecture</a:t>
            </a:r>
            <a:endParaRPr sz="2900"/>
          </a:p>
        </p:txBody>
      </p:sp>
      <p:pic>
        <p:nvPicPr>
          <p:cNvPr id="805" name="Google Shape;805;p9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779132" y="2432332"/>
            <a:ext cx="414908" cy="387248"/>
          </a:xfrm>
          <a:prstGeom prst="rect">
            <a:avLst/>
          </a:prstGeom>
          <a:noFill/>
          <a:ln>
            <a:noFill/>
          </a:ln>
        </p:spPr>
      </p:pic>
      <p:pic>
        <p:nvPicPr>
          <p:cNvPr id="806" name="Google Shape;806;p9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57875" y="2432332"/>
            <a:ext cx="414908" cy="387248"/>
          </a:xfrm>
          <a:prstGeom prst="rect">
            <a:avLst/>
          </a:prstGeom>
          <a:noFill/>
          <a:ln>
            <a:noFill/>
          </a:ln>
        </p:spPr>
      </p:pic>
      <p:sp>
        <p:nvSpPr>
          <p:cNvPr id="807" name="Google Shape;807;p92"/>
          <p:cNvSpPr txBox="1"/>
          <p:nvPr/>
        </p:nvSpPr>
        <p:spPr>
          <a:xfrm>
            <a:off x="6669690" y="2867406"/>
            <a:ext cx="634841" cy="3167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VM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385622"/>
                </a:solidFill>
                <a:latin typeface="Arial"/>
                <a:ea typeface="Arial"/>
                <a:cs typeface="Arial"/>
                <a:sym typeface="Arial"/>
              </a:rPr>
              <a:t>Catalog App</a:t>
            </a:r>
            <a:endParaRPr sz="9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8" name="Google Shape;808;p92"/>
          <p:cNvSpPr txBox="1"/>
          <p:nvPr/>
        </p:nvSpPr>
        <p:spPr>
          <a:xfrm>
            <a:off x="5737669" y="2867406"/>
            <a:ext cx="655320" cy="3167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VM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385622"/>
                </a:solidFill>
                <a:latin typeface="Arial"/>
                <a:ea typeface="Arial"/>
                <a:cs typeface="Arial"/>
                <a:sym typeface="Arial"/>
              </a:rPr>
              <a:t>Weather API</a:t>
            </a:r>
            <a:endParaRPr sz="9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09" name="Google Shape;809;p9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986965" y="2439248"/>
            <a:ext cx="393077" cy="394163"/>
          </a:xfrm>
          <a:prstGeom prst="rect">
            <a:avLst/>
          </a:prstGeom>
          <a:noFill/>
          <a:ln>
            <a:noFill/>
          </a:ln>
        </p:spPr>
      </p:pic>
      <p:sp>
        <p:nvSpPr>
          <p:cNvPr id="810" name="Google Shape;810;p92"/>
          <p:cNvSpPr txBox="1"/>
          <p:nvPr/>
        </p:nvSpPr>
        <p:spPr>
          <a:xfrm>
            <a:off x="4794503" y="2867406"/>
            <a:ext cx="736758" cy="3167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127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App Service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127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385622"/>
                </a:solidFill>
                <a:latin typeface="Arial"/>
                <a:ea typeface="Arial"/>
                <a:cs typeface="Arial"/>
                <a:sym typeface="Arial"/>
              </a:rPr>
              <a:t>Inventory App</a:t>
            </a:r>
            <a:endParaRPr sz="9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4" name="Shape 8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5" name="Google Shape;815;p93"/>
          <p:cNvSpPr txBox="1"/>
          <p:nvPr>
            <p:ph type="title"/>
          </p:nvPr>
        </p:nvSpPr>
        <p:spPr>
          <a:xfrm>
            <a:off x="158065" y="78950"/>
            <a:ext cx="2151600" cy="59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AKS</a:t>
            </a:r>
            <a:endParaRPr/>
          </a:p>
        </p:txBody>
      </p:sp>
      <p:sp>
        <p:nvSpPr>
          <p:cNvPr id="816" name="Google Shape;816;p93"/>
          <p:cNvSpPr txBox="1"/>
          <p:nvPr/>
        </p:nvSpPr>
        <p:spPr>
          <a:xfrm>
            <a:off x="497966" y="1310639"/>
            <a:ext cx="8320564" cy="28998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050">
            <a:spAutoFit/>
          </a:bodyPr>
          <a:lstStyle/>
          <a:p>
            <a:pPr indent="-349250" lvl="0" marL="355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Char char="•"/>
            </a:pPr>
            <a:r>
              <a:rPr lang="en" sz="2100">
                <a:latin typeface="Arial"/>
                <a:ea typeface="Arial"/>
                <a:cs typeface="Arial"/>
                <a:sym typeface="Arial"/>
              </a:rPr>
              <a:t>Azure Kubernetes Services</a:t>
            </a:r>
            <a:endParaRPr sz="2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2100"/>
              <a:buFont typeface="Arial"/>
              <a:buNone/>
            </a:pPr>
            <a:r>
              <a:t/>
            </a:r>
            <a:endParaRPr sz="2100">
              <a:latin typeface="Arial"/>
              <a:ea typeface="Arial"/>
              <a:cs typeface="Arial"/>
              <a:sym typeface="Arial"/>
            </a:endParaRPr>
          </a:p>
          <a:p>
            <a:pPr indent="-349250" lvl="0" marL="355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Char char="•"/>
            </a:pPr>
            <a:r>
              <a:rPr lang="en" sz="2100">
                <a:latin typeface="Arial"/>
                <a:ea typeface="Arial"/>
                <a:cs typeface="Arial"/>
                <a:sym typeface="Arial"/>
              </a:rPr>
              <a:t>Managed Kubernetes on Azure</a:t>
            </a:r>
            <a:endParaRPr sz="2100">
              <a:latin typeface="Arial"/>
              <a:ea typeface="Arial"/>
              <a:cs typeface="Arial"/>
              <a:sym typeface="Arial"/>
            </a:endParaRPr>
          </a:p>
          <a:p>
            <a:pPr indent="-349250" lvl="0" marL="3556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Char char="•"/>
            </a:pPr>
            <a:r>
              <a:rPr lang="en" sz="2100">
                <a:latin typeface="Arial"/>
                <a:ea typeface="Arial"/>
                <a:cs typeface="Arial"/>
                <a:sym typeface="Arial"/>
              </a:rPr>
              <a:t>Allows deploying containers and managing them using Kubernetes on Azure</a:t>
            </a:r>
            <a:endParaRPr sz="2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2100"/>
              <a:buFont typeface="Arial"/>
              <a:buNone/>
            </a:pPr>
            <a:r>
              <a:t/>
            </a:r>
            <a:endParaRPr sz="2100">
              <a:latin typeface="Arial"/>
              <a:ea typeface="Arial"/>
              <a:cs typeface="Arial"/>
              <a:sym typeface="Arial"/>
            </a:endParaRPr>
          </a:p>
          <a:p>
            <a:pPr indent="-349250" lvl="0" marL="355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Char char="•"/>
            </a:pPr>
            <a:r>
              <a:rPr lang="en" sz="2100">
                <a:latin typeface="Arial"/>
                <a:ea typeface="Arial"/>
                <a:cs typeface="Arial"/>
                <a:sym typeface="Arial"/>
              </a:rPr>
              <a:t>Paying only on the instances (=VMs) used</a:t>
            </a:r>
            <a:endParaRPr sz="21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820" name="Shape 8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1" name="Google Shape;821;p9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33647" y="201266"/>
            <a:ext cx="1071941" cy="323370"/>
          </a:xfrm>
          <a:prstGeom prst="rect">
            <a:avLst/>
          </a:prstGeom>
          <a:noFill/>
          <a:ln>
            <a:noFill/>
          </a:ln>
        </p:spPr>
      </p:pic>
      <p:sp>
        <p:nvSpPr>
          <p:cNvPr id="822" name="Google Shape;822;p94"/>
          <p:cNvSpPr txBox="1"/>
          <p:nvPr>
            <p:ph type="title"/>
          </p:nvPr>
        </p:nvSpPr>
        <p:spPr>
          <a:xfrm>
            <a:off x="158039" y="78961"/>
            <a:ext cx="7938135" cy="12148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37950">
            <a:spAutoFit/>
          </a:bodyPr>
          <a:lstStyle/>
          <a:p>
            <a:pPr indent="0" lvl="0" marL="2844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C55A11"/>
                </a:solidFill>
              </a:rPr>
              <a:t>Cloud Architecture</a:t>
            </a:r>
            <a:endParaRPr sz="2900"/>
          </a:p>
        </p:txBody>
      </p:sp>
      <p:pic>
        <p:nvPicPr>
          <p:cNvPr id="823" name="Google Shape;823;p9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779132" y="2432332"/>
            <a:ext cx="414908" cy="387248"/>
          </a:xfrm>
          <a:prstGeom prst="rect">
            <a:avLst/>
          </a:prstGeom>
          <a:noFill/>
          <a:ln>
            <a:noFill/>
          </a:ln>
        </p:spPr>
      </p:pic>
      <p:pic>
        <p:nvPicPr>
          <p:cNvPr id="824" name="Google Shape;824;p9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57875" y="2432332"/>
            <a:ext cx="414908" cy="387248"/>
          </a:xfrm>
          <a:prstGeom prst="rect">
            <a:avLst/>
          </a:prstGeom>
          <a:noFill/>
          <a:ln>
            <a:noFill/>
          </a:ln>
        </p:spPr>
      </p:pic>
      <p:sp>
        <p:nvSpPr>
          <p:cNvPr id="825" name="Google Shape;825;p94"/>
          <p:cNvSpPr txBox="1"/>
          <p:nvPr/>
        </p:nvSpPr>
        <p:spPr>
          <a:xfrm>
            <a:off x="6669690" y="2867406"/>
            <a:ext cx="634841" cy="3167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VM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385622"/>
                </a:solidFill>
                <a:latin typeface="Arial"/>
                <a:ea typeface="Arial"/>
                <a:cs typeface="Arial"/>
                <a:sym typeface="Arial"/>
              </a:rPr>
              <a:t>Catalog App</a:t>
            </a:r>
            <a:endParaRPr sz="9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6" name="Google Shape;826;p94"/>
          <p:cNvSpPr txBox="1"/>
          <p:nvPr/>
        </p:nvSpPr>
        <p:spPr>
          <a:xfrm>
            <a:off x="5737669" y="2867406"/>
            <a:ext cx="655320" cy="3167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VM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385622"/>
                </a:solidFill>
                <a:latin typeface="Arial"/>
                <a:ea typeface="Arial"/>
                <a:cs typeface="Arial"/>
                <a:sym typeface="Arial"/>
              </a:rPr>
              <a:t>Weather API</a:t>
            </a:r>
            <a:endParaRPr sz="9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27" name="Google Shape;827;p9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986965" y="2439248"/>
            <a:ext cx="393077" cy="394163"/>
          </a:xfrm>
          <a:prstGeom prst="rect">
            <a:avLst/>
          </a:prstGeom>
          <a:noFill/>
          <a:ln>
            <a:noFill/>
          </a:ln>
        </p:spPr>
      </p:pic>
      <p:sp>
        <p:nvSpPr>
          <p:cNvPr id="828" name="Google Shape;828;p94"/>
          <p:cNvSpPr txBox="1"/>
          <p:nvPr/>
        </p:nvSpPr>
        <p:spPr>
          <a:xfrm>
            <a:off x="4794503" y="2867406"/>
            <a:ext cx="736758" cy="3167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127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App Service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127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385622"/>
                </a:solidFill>
                <a:latin typeface="Arial"/>
                <a:ea typeface="Arial"/>
                <a:cs typeface="Arial"/>
                <a:sym typeface="Arial"/>
              </a:rPr>
              <a:t>Inventory App</a:t>
            </a:r>
            <a:endParaRPr sz="9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29" name="Google Shape;829;p9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019931" y="2368447"/>
            <a:ext cx="468629" cy="416942"/>
          </a:xfrm>
          <a:prstGeom prst="rect">
            <a:avLst/>
          </a:prstGeom>
          <a:noFill/>
          <a:ln>
            <a:noFill/>
          </a:ln>
        </p:spPr>
      </p:pic>
      <p:sp>
        <p:nvSpPr>
          <p:cNvPr id="830" name="Google Shape;830;p94"/>
          <p:cNvSpPr txBox="1"/>
          <p:nvPr/>
        </p:nvSpPr>
        <p:spPr>
          <a:xfrm>
            <a:off x="4023455" y="2867406"/>
            <a:ext cx="465772" cy="3167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AKS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385622"/>
                </a:solidFill>
                <a:latin typeface="Arial"/>
                <a:ea typeface="Arial"/>
                <a:cs typeface="Arial"/>
                <a:sym typeface="Arial"/>
              </a:rPr>
              <a:t>Cart App</a:t>
            </a:r>
            <a:endParaRPr sz="90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31" name="Google Shape;831;p94"/>
          <p:cNvGrpSpPr/>
          <p:nvPr/>
        </p:nvGrpSpPr>
        <p:grpSpPr>
          <a:xfrm>
            <a:off x="3750850" y="2566988"/>
            <a:ext cx="751426" cy="1348913"/>
            <a:chOff x="5001133" y="3422650"/>
            <a:chExt cx="1001902" cy="1798550"/>
          </a:xfrm>
        </p:grpSpPr>
        <p:pic>
          <p:nvPicPr>
            <p:cNvPr id="832" name="Google Shape;832;p94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5378196" y="4656088"/>
              <a:ext cx="624839" cy="56511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33" name="Google Shape;833;p94"/>
            <p:cNvSpPr/>
            <p:nvPr/>
          </p:nvSpPr>
          <p:spPr>
            <a:xfrm>
              <a:off x="5001133" y="3422650"/>
              <a:ext cx="377825" cy="1529080"/>
            </a:xfrm>
            <a:custGeom>
              <a:rect b="b" l="l" r="r" t="t"/>
              <a:pathLst>
                <a:path extrusionOk="0" h="1529079" w="377825">
                  <a:moveTo>
                    <a:pt x="301370" y="1452372"/>
                  </a:moveTo>
                  <a:lnTo>
                    <a:pt x="301370" y="1528572"/>
                  </a:lnTo>
                  <a:lnTo>
                    <a:pt x="364870" y="1496822"/>
                  </a:lnTo>
                  <a:lnTo>
                    <a:pt x="314070" y="1496822"/>
                  </a:lnTo>
                  <a:lnTo>
                    <a:pt x="314070" y="1484122"/>
                  </a:lnTo>
                  <a:lnTo>
                    <a:pt x="364870" y="1484122"/>
                  </a:lnTo>
                  <a:lnTo>
                    <a:pt x="301370" y="1452372"/>
                  </a:lnTo>
                  <a:close/>
                </a:path>
                <a:path extrusionOk="0" h="1529079" w="377825">
                  <a:moveTo>
                    <a:pt x="358775" y="0"/>
                  </a:moveTo>
                  <a:lnTo>
                    <a:pt x="0" y="0"/>
                  </a:lnTo>
                  <a:lnTo>
                    <a:pt x="0" y="1496822"/>
                  </a:lnTo>
                  <a:lnTo>
                    <a:pt x="301370" y="1496822"/>
                  </a:lnTo>
                  <a:lnTo>
                    <a:pt x="301370" y="1490472"/>
                  </a:lnTo>
                  <a:lnTo>
                    <a:pt x="12700" y="1490472"/>
                  </a:lnTo>
                  <a:lnTo>
                    <a:pt x="6350" y="1484122"/>
                  </a:lnTo>
                  <a:lnTo>
                    <a:pt x="12700" y="1484122"/>
                  </a:lnTo>
                  <a:lnTo>
                    <a:pt x="12700" y="12700"/>
                  </a:lnTo>
                  <a:lnTo>
                    <a:pt x="6350" y="12700"/>
                  </a:lnTo>
                  <a:lnTo>
                    <a:pt x="12700" y="6350"/>
                  </a:lnTo>
                  <a:lnTo>
                    <a:pt x="358775" y="6350"/>
                  </a:lnTo>
                  <a:lnTo>
                    <a:pt x="358775" y="0"/>
                  </a:lnTo>
                  <a:close/>
                </a:path>
                <a:path extrusionOk="0" h="1529079" w="377825">
                  <a:moveTo>
                    <a:pt x="364870" y="1484122"/>
                  </a:moveTo>
                  <a:lnTo>
                    <a:pt x="314070" y="1484122"/>
                  </a:lnTo>
                  <a:lnTo>
                    <a:pt x="314070" y="1496822"/>
                  </a:lnTo>
                  <a:lnTo>
                    <a:pt x="364870" y="1496822"/>
                  </a:lnTo>
                  <a:lnTo>
                    <a:pt x="377570" y="1490472"/>
                  </a:lnTo>
                  <a:lnTo>
                    <a:pt x="364870" y="1484122"/>
                  </a:lnTo>
                  <a:close/>
                </a:path>
                <a:path extrusionOk="0" h="1529079" w="377825">
                  <a:moveTo>
                    <a:pt x="12700" y="1484122"/>
                  </a:moveTo>
                  <a:lnTo>
                    <a:pt x="6350" y="1484122"/>
                  </a:lnTo>
                  <a:lnTo>
                    <a:pt x="12700" y="1490472"/>
                  </a:lnTo>
                  <a:lnTo>
                    <a:pt x="12700" y="1484122"/>
                  </a:lnTo>
                  <a:close/>
                </a:path>
                <a:path extrusionOk="0" h="1529079" w="377825">
                  <a:moveTo>
                    <a:pt x="301370" y="1484122"/>
                  </a:moveTo>
                  <a:lnTo>
                    <a:pt x="12700" y="1484122"/>
                  </a:lnTo>
                  <a:lnTo>
                    <a:pt x="12700" y="1490472"/>
                  </a:lnTo>
                  <a:lnTo>
                    <a:pt x="301370" y="1490472"/>
                  </a:lnTo>
                  <a:lnTo>
                    <a:pt x="301370" y="1484122"/>
                  </a:lnTo>
                  <a:close/>
                </a:path>
                <a:path extrusionOk="0" h="1529079" w="377825">
                  <a:moveTo>
                    <a:pt x="12700" y="6350"/>
                  </a:moveTo>
                  <a:lnTo>
                    <a:pt x="6350" y="12700"/>
                  </a:lnTo>
                  <a:lnTo>
                    <a:pt x="12700" y="12700"/>
                  </a:lnTo>
                  <a:lnTo>
                    <a:pt x="12700" y="6350"/>
                  </a:lnTo>
                  <a:close/>
                </a:path>
                <a:path extrusionOk="0" h="1529079" w="377825">
                  <a:moveTo>
                    <a:pt x="358775" y="6350"/>
                  </a:moveTo>
                  <a:lnTo>
                    <a:pt x="12700" y="6350"/>
                  </a:lnTo>
                  <a:lnTo>
                    <a:pt x="12700" y="12700"/>
                  </a:lnTo>
                  <a:lnTo>
                    <a:pt x="358775" y="12700"/>
                  </a:lnTo>
                  <a:lnTo>
                    <a:pt x="358775" y="635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00"/>
            </a:p>
          </p:txBody>
        </p:sp>
      </p:grpSp>
      <p:sp>
        <p:nvSpPr>
          <p:cNvPr id="834" name="Google Shape;834;p94"/>
          <p:cNvSpPr txBox="1"/>
          <p:nvPr/>
        </p:nvSpPr>
        <p:spPr>
          <a:xfrm>
            <a:off x="3952113" y="3943635"/>
            <a:ext cx="631983" cy="3167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ACR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385622"/>
                </a:solidFill>
                <a:latin typeface="Arial"/>
                <a:ea typeface="Arial"/>
                <a:cs typeface="Arial"/>
                <a:sym typeface="Arial"/>
              </a:rPr>
              <a:t>Cart Docker</a:t>
            </a:r>
            <a:endParaRPr sz="9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8" name="Shape 8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" name="Google Shape;839;p95"/>
          <p:cNvSpPr txBox="1"/>
          <p:nvPr>
            <p:ph type="title"/>
          </p:nvPr>
        </p:nvSpPr>
        <p:spPr>
          <a:xfrm>
            <a:off x="158039" y="78961"/>
            <a:ext cx="7938135" cy="12148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Azure Functions</a:t>
            </a:r>
            <a:endParaRPr/>
          </a:p>
        </p:txBody>
      </p:sp>
      <p:sp>
        <p:nvSpPr>
          <p:cNvPr id="840" name="Google Shape;840;p95"/>
          <p:cNvSpPr txBox="1"/>
          <p:nvPr/>
        </p:nvSpPr>
        <p:spPr>
          <a:xfrm>
            <a:off x="497966" y="1310639"/>
            <a:ext cx="7017544" cy="35399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050">
            <a:spAutoFit/>
          </a:bodyPr>
          <a:lstStyle/>
          <a:p>
            <a:pPr indent="-349250" lvl="0" marL="355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Char char="•"/>
            </a:pPr>
            <a:r>
              <a:rPr lang="en" sz="2100">
                <a:latin typeface="Arial"/>
                <a:ea typeface="Arial"/>
                <a:cs typeface="Arial"/>
                <a:sym typeface="Arial"/>
              </a:rPr>
              <a:t>Small, focused functions running as a result of an event</a:t>
            </a:r>
            <a:endParaRPr sz="2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2100"/>
              <a:buFont typeface="Arial"/>
              <a:buNone/>
            </a:pPr>
            <a:r>
              <a:t/>
            </a:r>
            <a:endParaRPr sz="2100">
              <a:latin typeface="Arial"/>
              <a:ea typeface="Arial"/>
              <a:cs typeface="Arial"/>
              <a:sym typeface="Arial"/>
            </a:endParaRPr>
          </a:p>
          <a:p>
            <a:pPr indent="-349250" lvl="0" marL="355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Char char="•"/>
            </a:pPr>
            <a:r>
              <a:rPr lang="en" sz="2100">
                <a:latin typeface="Arial"/>
                <a:ea typeface="Arial"/>
                <a:cs typeface="Arial"/>
                <a:sym typeface="Arial"/>
              </a:rPr>
              <a:t>Great for Event Driven systems</a:t>
            </a:r>
            <a:endParaRPr sz="2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2100"/>
              <a:buFont typeface="Arial"/>
              <a:buNone/>
            </a:pPr>
            <a:r>
              <a:t/>
            </a:r>
            <a:endParaRPr sz="2100">
              <a:latin typeface="Arial"/>
              <a:ea typeface="Arial"/>
              <a:cs typeface="Arial"/>
              <a:sym typeface="Arial"/>
            </a:endParaRPr>
          </a:p>
          <a:p>
            <a:pPr indent="-349250" lvl="0" marL="355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Char char="•"/>
            </a:pPr>
            <a:r>
              <a:rPr lang="en" sz="2100">
                <a:latin typeface="Arial"/>
                <a:ea typeface="Arial"/>
                <a:cs typeface="Arial"/>
                <a:sym typeface="Arial"/>
              </a:rPr>
              <a:t>Automatically managed by Azure</a:t>
            </a:r>
            <a:endParaRPr sz="2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2100"/>
              <a:buFont typeface="Arial"/>
              <a:buNone/>
            </a:pPr>
            <a:r>
              <a:t/>
            </a:r>
            <a:endParaRPr sz="2100">
              <a:latin typeface="Arial"/>
              <a:ea typeface="Arial"/>
              <a:cs typeface="Arial"/>
              <a:sym typeface="Arial"/>
            </a:endParaRPr>
          </a:p>
          <a:p>
            <a:pPr indent="-349250" lvl="1" marL="6985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Char char="•"/>
            </a:pPr>
            <a:r>
              <a:rPr lang="en" sz="2100">
                <a:latin typeface="Arial"/>
                <a:ea typeface="Arial"/>
                <a:cs typeface="Arial"/>
                <a:sym typeface="Arial"/>
              </a:rPr>
              <a:t>Start, stop, autoscale</a:t>
            </a:r>
            <a:endParaRPr sz="2100">
              <a:latin typeface="Arial"/>
              <a:ea typeface="Arial"/>
              <a:cs typeface="Arial"/>
              <a:sym typeface="Arial"/>
            </a:endParaRPr>
          </a:p>
          <a:p>
            <a:pPr indent="0" lvl="1" marL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2100"/>
              <a:buFont typeface="Arial"/>
              <a:buNone/>
            </a:pPr>
            <a:r>
              <a:t/>
            </a:r>
            <a:endParaRPr sz="2100">
              <a:latin typeface="Arial"/>
              <a:ea typeface="Arial"/>
              <a:cs typeface="Arial"/>
              <a:sym typeface="Arial"/>
            </a:endParaRPr>
          </a:p>
          <a:p>
            <a:pPr indent="-349250" lvl="0" marL="355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Char char="•"/>
            </a:pPr>
            <a:r>
              <a:rPr lang="en" sz="2100">
                <a:latin typeface="Arial"/>
                <a:ea typeface="Arial"/>
                <a:cs typeface="Arial"/>
                <a:sym typeface="Arial"/>
              </a:rPr>
              <a:t>Flexible pricing plans</a:t>
            </a:r>
            <a:endParaRPr sz="2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2100"/>
              <a:buFont typeface="Arial"/>
              <a:buNone/>
            </a:pPr>
            <a:r>
              <a:t/>
            </a:r>
            <a:endParaRPr sz="2100">
              <a:latin typeface="Arial"/>
              <a:ea typeface="Arial"/>
              <a:cs typeface="Arial"/>
              <a:sym typeface="Arial"/>
            </a:endParaRPr>
          </a:p>
          <a:p>
            <a:pPr indent="-349250" lvl="0" marL="355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Char char="•"/>
            </a:pPr>
            <a:r>
              <a:rPr lang="en" sz="2100">
                <a:latin typeface="Arial"/>
                <a:ea typeface="Arial"/>
                <a:cs typeface="Arial"/>
                <a:sym typeface="Arial"/>
              </a:rPr>
              <a:t>Serverless</a:t>
            </a:r>
            <a:endParaRPr sz="21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4" name="Shape 8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5" name="Google Shape;845;p96"/>
          <p:cNvSpPr txBox="1"/>
          <p:nvPr>
            <p:ph type="title"/>
          </p:nvPr>
        </p:nvSpPr>
        <p:spPr>
          <a:xfrm>
            <a:off x="158039" y="78961"/>
            <a:ext cx="7938135" cy="12148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Serverless</a:t>
            </a:r>
            <a:endParaRPr/>
          </a:p>
        </p:txBody>
      </p:sp>
      <p:sp>
        <p:nvSpPr>
          <p:cNvPr id="846" name="Google Shape;846;p96"/>
          <p:cNvSpPr txBox="1"/>
          <p:nvPr/>
        </p:nvSpPr>
        <p:spPr>
          <a:xfrm>
            <a:off x="497966" y="1310639"/>
            <a:ext cx="7060883" cy="35399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050">
            <a:spAutoFit/>
          </a:bodyPr>
          <a:lstStyle/>
          <a:p>
            <a:pPr indent="-349250" lvl="0" marL="355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Char char="•"/>
            </a:pPr>
            <a:r>
              <a:rPr lang="en" sz="2100">
                <a:latin typeface="Arial"/>
                <a:ea typeface="Arial"/>
                <a:cs typeface="Arial"/>
                <a:sym typeface="Arial"/>
              </a:rPr>
              <a:t>Cloud resource that is completely managed by the cloud</a:t>
            </a:r>
            <a:endParaRPr sz="2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2100"/>
              <a:buFont typeface="Arial"/>
              <a:buNone/>
            </a:pPr>
            <a:r>
              <a:t/>
            </a:r>
            <a:endParaRPr sz="2100">
              <a:latin typeface="Arial"/>
              <a:ea typeface="Arial"/>
              <a:cs typeface="Arial"/>
              <a:sym typeface="Arial"/>
            </a:endParaRPr>
          </a:p>
          <a:p>
            <a:pPr indent="-349250" lvl="0" marL="355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Char char="•"/>
            </a:pPr>
            <a:r>
              <a:rPr lang="en" sz="2100">
                <a:latin typeface="Arial"/>
                <a:ea typeface="Arial"/>
                <a:cs typeface="Arial"/>
                <a:sym typeface="Arial"/>
              </a:rPr>
              <a:t>Users do not need to think about:</a:t>
            </a:r>
            <a:endParaRPr sz="2100">
              <a:latin typeface="Arial"/>
              <a:ea typeface="Arial"/>
              <a:cs typeface="Arial"/>
              <a:sym typeface="Arial"/>
            </a:endParaRPr>
          </a:p>
          <a:p>
            <a:pPr indent="-349250" lvl="1" marL="69850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100"/>
              <a:buFont typeface="Arial"/>
              <a:buChar char="•"/>
            </a:pPr>
            <a:r>
              <a:rPr lang="en" sz="2100">
                <a:latin typeface="Arial"/>
                <a:ea typeface="Arial"/>
                <a:cs typeface="Arial"/>
                <a:sym typeface="Arial"/>
              </a:rPr>
              <a:t>VMs</a:t>
            </a:r>
            <a:endParaRPr sz="2100">
              <a:latin typeface="Arial"/>
              <a:ea typeface="Arial"/>
              <a:cs typeface="Arial"/>
              <a:sym typeface="Arial"/>
            </a:endParaRPr>
          </a:p>
          <a:p>
            <a:pPr indent="-349250" lvl="1" marL="698500" rtl="0" algn="l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SzPts val="2100"/>
              <a:buFont typeface="Arial"/>
              <a:buChar char="•"/>
            </a:pPr>
            <a:r>
              <a:rPr lang="en" sz="2100">
                <a:latin typeface="Arial"/>
                <a:ea typeface="Arial"/>
                <a:cs typeface="Arial"/>
                <a:sym typeface="Arial"/>
              </a:rPr>
              <a:t>CPU</a:t>
            </a:r>
            <a:endParaRPr sz="2100">
              <a:latin typeface="Arial"/>
              <a:ea typeface="Arial"/>
              <a:cs typeface="Arial"/>
              <a:sym typeface="Arial"/>
            </a:endParaRPr>
          </a:p>
          <a:p>
            <a:pPr indent="-349250" lvl="1" marL="698500" rtl="0" algn="l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SzPts val="2100"/>
              <a:buFont typeface="Arial"/>
              <a:buChar char="•"/>
            </a:pPr>
            <a:r>
              <a:rPr lang="en" sz="2100">
                <a:latin typeface="Arial"/>
                <a:ea typeface="Arial"/>
                <a:cs typeface="Arial"/>
                <a:sym typeface="Arial"/>
              </a:rPr>
              <a:t>Memory</a:t>
            </a:r>
            <a:endParaRPr sz="2100">
              <a:latin typeface="Arial"/>
              <a:ea typeface="Arial"/>
              <a:cs typeface="Arial"/>
              <a:sym typeface="Arial"/>
            </a:endParaRPr>
          </a:p>
          <a:p>
            <a:pPr indent="-349250" lvl="1" marL="698500" rtl="0" algn="l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SzPts val="2100"/>
              <a:buFont typeface="Arial"/>
              <a:buChar char="•"/>
            </a:pPr>
            <a:r>
              <a:rPr lang="en" sz="2100">
                <a:latin typeface="Arial"/>
                <a:ea typeface="Arial"/>
                <a:cs typeface="Arial"/>
                <a:sym typeface="Arial"/>
              </a:rPr>
              <a:t>etc.</a:t>
            </a:r>
            <a:endParaRPr sz="2100">
              <a:latin typeface="Arial"/>
              <a:ea typeface="Arial"/>
              <a:cs typeface="Arial"/>
              <a:sym typeface="Arial"/>
            </a:endParaRPr>
          </a:p>
          <a:p>
            <a:pPr indent="-349250" lvl="0" marL="355600" rtl="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SzPts val="2100"/>
              <a:buFont typeface="Arial"/>
              <a:buChar char="•"/>
            </a:pPr>
            <a:r>
              <a:rPr lang="en" sz="2100">
                <a:latin typeface="Arial"/>
                <a:ea typeface="Arial"/>
                <a:cs typeface="Arial"/>
                <a:sym typeface="Arial"/>
              </a:rPr>
              <a:t>It just works</a:t>
            </a:r>
            <a:endParaRPr sz="21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0" name="Shape 8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1" name="Google Shape;851;p97"/>
          <p:cNvSpPr txBox="1"/>
          <p:nvPr>
            <p:ph type="ctrTitle"/>
          </p:nvPr>
        </p:nvSpPr>
        <p:spPr>
          <a:xfrm>
            <a:off x="158038" y="78961"/>
            <a:ext cx="4818221" cy="5910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Serverless</a:t>
            </a:r>
            <a:endParaRPr/>
          </a:p>
        </p:txBody>
      </p:sp>
      <p:sp>
        <p:nvSpPr>
          <p:cNvPr id="852" name="Google Shape;852;p97"/>
          <p:cNvSpPr txBox="1"/>
          <p:nvPr/>
        </p:nvSpPr>
        <p:spPr>
          <a:xfrm>
            <a:off x="497966" y="1310639"/>
            <a:ext cx="1397794" cy="339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latin typeface="Arial"/>
                <a:ea typeface="Arial"/>
                <a:cs typeface="Arial"/>
                <a:sym typeface="Arial"/>
              </a:rPr>
              <a:t>Remember:</a:t>
            </a:r>
            <a:endParaRPr sz="21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53" name="Google Shape;853;p9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92758" y="1713357"/>
            <a:ext cx="5465826" cy="33112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7" name="Shape 8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8" name="Google Shape;858;p98"/>
          <p:cNvSpPr txBox="1"/>
          <p:nvPr>
            <p:ph type="title"/>
          </p:nvPr>
        </p:nvSpPr>
        <p:spPr>
          <a:xfrm>
            <a:off x="158039" y="78961"/>
            <a:ext cx="7938135" cy="12148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Azure Function Example</a:t>
            </a:r>
            <a:endParaRPr/>
          </a:p>
        </p:txBody>
      </p:sp>
      <p:pic>
        <p:nvPicPr>
          <p:cNvPr id="859" name="Google Shape;859;p9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8594" y="1428750"/>
            <a:ext cx="8745093" cy="329298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3" name="Shape 8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4" name="Google Shape;864;p99"/>
          <p:cNvSpPr txBox="1"/>
          <p:nvPr>
            <p:ph type="title"/>
          </p:nvPr>
        </p:nvSpPr>
        <p:spPr>
          <a:xfrm>
            <a:off x="158039" y="78961"/>
            <a:ext cx="7938135" cy="12148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Triggers and Bindings</a:t>
            </a:r>
            <a:endParaRPr/>
          </a:p>
        </p:txBody>
      </p:sp>
      <p:sp>
        <p:nvSpPr>
          <p:cNvPr id="865" name="Google Shape;865;p99"/>
          <p:cNvSpPr txBox="1"/>
          <p:nvPr/>
        </p:nvSpPr>
        <p:spPr>
          <a:xfrm>
            <a:off x="870966" y="1890521"/>
            <a:ext cx="2533174" cy="548640"/>
          </a:xfrm>
          <a:prstGeom prst="rect">
            <a:avLst/>
          </a:prstGeom>
          <a:solidFill>
            <a:srgbClr val="6F2F9F"/>
          </a:solidFill>
          <a:ln cap="flat" cmpd="sng" w="12700">
            <a:solidFill>
              <a:srgbClr val="2E52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124300">
            <a:spAutoFit/>
          </a:bodyPr>
          <a:lstStyle/>
          <a:p>
            <a:pPr indent="0" lvl="0" marL="800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Triggers</a:t>
            </a:r>
            <a:endParaRPr sz="2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6" name="Google Shape;866;p99"/>
          <p:cNvSpPr txBox="1"/>
          <p:nvPr/>
        </p:nvSpPr>
        <p:spPr>
          <a:xfrm>
            <a:off x="5098923" y="1890521"/>
            <a:ext cx="2534126" cy="548640"/>
          </a:xfrm>
          <a:prstGeom prst="rect">
            <a:avLst/>
          </a:prstGeom>
          <a:solidFill>
            <a:srgbClr val="6F2F9F"/>
          </a:solidFill>
          <a:ln cap="flat" cmpd="sng" w="12700">
            <a:solidFill>
              <a:srgbClr val="2E52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124300">
            <a:spAutoFit/>
          </a:bodyPr>
          <a:lstStyle/>
          <a:p>
            <a:pPr indent="0" lvl="0" marL="787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Bindings</a:t>
            </a:r>
            <a:endParaRPr sz="2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7" name="Google Shape;867;p99"/>
          <p:cNvSpPr txBox="1"/>
          <p:nvPr/>
        </p:nvSpPr>
        <p:spPr>
          <a:xfrm>
            <a:off x="930020" y="2549632"/>
            <a:ext cx="3403759" cy="17340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3825">
            <a:spAutoFit/>
          </a:bodyPr>
          <a:lstStyle/>
          <a:p>
            <a:pPr indent="-260350" lvl="0" marL="266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Arial"/>
              <a:buChar char="•"/>
            </a:pPr>
            <a:r>
              <a:rPr lang="en" sz="1500">
                <a:latin typeface="Arial"/>
                <a:ea typeface="Arial"/>
                <a:cs typeface="Arial"/>
                <a:sym typeface="Arial"/>
              </a:rPr>
              <a:t>The event that made the function run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-260350" lvl="0" marL="26670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500"/>
              <a:buFont typeface="Arial"/>
              <a:buChar char="•"/>
            </a:pPr>
            <a:r>
              <a:rPr lang="en" sz="1500">
                <a:latin typeface="Arial"/>
                <a:ea typeface="Arial"/>
                <a:cs typeface="Arial"/>
                <a:sym typeface="Arial"/>
              </a:rPr>
              <a:t>Quite a few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-260350" lvl="0" marL="26670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500"/>
              <a:buFont typeface="Arial"/>
              <a:buChar char="•"/>
            </a:pPr>
            <a:r>
              <a:rPr lang="en" sz="1500">
                <a:latin typeface="Arial"/>
                <a:ea typeface="Arial"/>
                <a:cs typeface="Arial"/>
                <a:sym typeface="Arial"/>
              </a:rPr>
              <a:t>Deeply integrated into other Azure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0" lvl="0" marL="26670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lang="en" sz="1500">
                <a:latin typeface="Arial"/>
                <a:ea typeface="Arial"/>
                <a:cs typeface="Arial"/>
                <a:sym typeface="Arial"/>
              </a:rPr>
              <a:t>services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-260350" lvl="0" marL="26670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500"/>
              <a:buFont typeface="Arial"/>
              <a:buChar char="•"/>
            </a:pPr>
            <a:r>
              <a:rPr lang="en" sz="1500">
                <a:latin typeface="Arial"/>
                <a:ea typeface="Arial"/>
                <a:cs typeface="Arial"/>
                <a:sym typeface="Arial"/>
              </a:rPr>
              <a:t>Technically not mandatory, but…</a:t>
            </a:r>
            <a:endParaRPr sz="15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8" name="Google Shape;868;p99"/>
          <p:cNvSpPr txBox="1"/>
          <p:nvPr/>
        </p:nvSpPr>
        <p:spPr>
          <a:xfrm>
            <a:off x="5148358" y="2549632"/>
            <a:ext cx="3508057" cy="24198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-260350" lvl="0" marL="266700" marR="5588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Font typeface="Arial"/>
              <a:buChar char="•"/>
            </a:pPr>
            <a:r>
              <a:rPr lang="en" sz="1500">
                <a:latin typeface="Arial"/>
                <a:ea typeface="Arial"/>
                <a:cs typeface="Arial"/>
                <a:sym typeface="Arial"/>
              </a:rPr>
              <a:t>Declarative connection to other resource(s)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-260350" lvl="0" marL="26670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500"/>
              <a:buFont typeface="Arial"/>
              <a:buChar char="•"/>
            </a:pPr>
            <a:r>
              <a:rPr lang="en" sz="1500">
                <a:latin typeface="Arial"/>
                <a:ea typeface="Arial"/>
                <a:cs typeface="Arial"/>
                <a:sym typeface="Arial"/>
              </a:rPr>
              <a:t>Input, output, or both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-260350" lvl="0" marL="26670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500"/>
              <a:buFont typeface="Arial"/>
              <a:buChar char="•"/>
            </a:pPr>
            <a:r>
              <a:rPr lang="en" sz="1500">
                <a:latin typeface="Arial"/>
                <a:ea typeface="Arial"/>
                <a:cs typeface="Arial"/>
                <a:sym typeface="Arial"/>
              </a:rPr>
              <a:t>Provided as parameter to the function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-260350" lvl="0" marL="266700" marR="635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Font typeface="Arial"/>
              <a:buChar char="•"/>
            </a:pPr>
            <a:r>
              <a:rPr lang="en" sz="1500">
                <a:latin typeface="Arial"/>
                <a:ea typeface="Arial"/>
                <a:cs typeface="Arial"/>
                <a:sym typeface="Arial"/>
              </a:rPr>
              <a:t>Makes connecting to other resources extremely easy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-260350" lvl="0" marL="26670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500"/>
              <a:buFont typeface="Arial"/>
              <a:buChar char="•"/>
            </a:pPr>
            <a:r>
              <a:rPr lang="en" sz="1500">
                <a:latin typeface="Arial"/>
                <a:ea typeface="Arial"/>
                <a:cs typeface="Arial"/>
                <a:sym typeface="Arial"/>
              </a:rPr>
              <a:t>Not mandatory</a:t>
            </a:r>
            <a:endParaRPr sz="15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2" name="Shape 8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3" name="Google Shape;873;p100"/>
          <p:cNvSpPr txBox="1"/>
          <p:nvPr>
            <p:ph type="title"/>
          </p:nvPr>
        </p:nvSpPr>
        <p:spPr>
          <a:xfrm>
            <a:off x="158039" y="78961"/>
            <a:ext cx="7938135" cy="12148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Azure Function Example</a:t>
            </a:r>
            <a:endParaRPr/>
          </a:p>
        </p:txBody>
      </p:sp>
      <p:grpSp>
        <p:nvGrpSpPr>
          <p:cNvPr id="874" name="Google Shape;874;p100"/>
          <p:cNvGrpSpPr/>
          <p:nvPr/>
        </p:nvGrpSpPr>
        <p:grpSpPr>
          <a:xfrm>
            <a:off x="188594" y="1428750"/>
            <a:ext cx="8745093" cy="3292983"/>
            <a:chOff x="251459" y="1905000"/>
            <a:chExt cx="11660124" cy="4390644"/>
          </a:xfrm>
        </p:grpSpPr>
        <p:pic>
          <p:nvPicPr>
            <p:cNvPr id="875" name="Google Shape;875;p10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251459" y="1905000"/>
              <a:ext cx="11660124" cy="439064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76" name="Google Shape;876;p10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579119" y="2918447"/>
              <a:ext cx="1823466" cy="435114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877" name="Google Shape;877;p100"/>
          <p:cNvSpPr txBox="1"/>
          <p:nvPr/>
        </p:nvSpPr>
        <p:spPr>
          <a:xfrm>
            <a:off x="617524" y="2229421"/>
            <a:ext cx="1003935" cy="2247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Trigger (HTTP)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878" name="Google Shape;878;p100"/>
          <p:cNvGrpSpPr/>
          <p:nvPr/>
        </p:nvGrpSpPr>
        <p:grpSpPr>
          <a:xfrm>
            <a:off x="496062" y="2465832"/>
            <a:ext cx="6027801" cy="1161478"/>
            <a:chOff x="661416" y="3287776"/>
            <a:chExt cx="8037068" cy="1548637"/>
          </a:xfrm>
        </p:grpSpPr>
        <p:sp>
          <p:nvSpPr>
            <p:cNvPr id="879" name="Google Shape;879;p100"/>
            <p:cNvSpPr/>
            <p:nvPr/>
          </p:nvSpPr>
          <p:spPr>
            <a:xfrm>
              <a:off x="1331214" y="3551682"/>
              <a:ext cx="7367270" cy="233679"/>
            </a:xfrm>
            <a:custGeom>
              <a:rect b="b" l="l" r="r" t="t"/>
              <a:pathLst>
                <a:path extrusionOk="0" h="233679" w="7367270">
                  <a:moveTo>
                    <a:pt x="0" y="233171"/>
                  </a:moveTo>
                  <a:lnTo>
                    <a:pt x="7367016" y="233171"/>
                  </a:lnTo>
                  <a:lnTo>
                    <a:pt x="7367016" y="0"/>
                  </a:lnTo>
                  <a:lnTo>
                    <a:pt x="0" y="0"/>
                  </a:lnTo>
                  <a:lnTo>
                    <a:pt x="0" y="233171"/>
                  </a:lnTo>
                  <a:close/>
                </a:path>
              </a:pathLst>
            </a:custGeom>
            <a:noFill/>
            <a:ln cap="flat" cmpd="sng" w="3810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00"/>
            </a:p>
          </p:txBody>
        </p:sp>
        <p:sp>
          <p:nvSpPr>
            <p:cNvPr id="880" name="Google Shape;880;p100"/>
            <p:cNvSpPr/>
            <p:nvPr/>
          </p:nvSpPr>
          <p:spPr>
            <a:xfrm>
              <a:off x="1457960" y="3287776"/>
              <a:ext cx="158750" cy="258445"/>
            </a:xfrm>
            <a:custGeom>
              <a:rect b="b" l="l" r="r" t="t"/>
              <a:pathLst>
                <a:path extrusionOk="0" h="258445" w="158750">
                  <a:moveTo>
                    <a:pt x="85549" y="168508"/>
                  </a:moveTo>
                  <a:lnTo>
                    <a:pt x="52451" y="187451"/>
                  </a:lnTo>
                  <a:lnTo>
                    <a:pt x="158750" y="258318"/>
                  </a:lnTo>
                  <a:lnTo>
                    <a:pt x="154666" y="185038"/>
                  </a:lnTo>
                  <a:lnTo>
                    <a:pt x="94996" y="185038"/>
                  </a:lnTo>
                  <a:lnTo>
                    <a:pt x="85549" y="168508"/>
                  </a:lnTo>
                  <a:close/>
                </a:path>
                <a:path extrusionOk="0" h="258445" w="158750">
                  <a:moveTo>
                    <a:pt x="118574" y="149606"/>
                  </a:moveTo>
                  <a:lnTo>
                    <a:pt x="85549" y="168508"/>
                  </a:lnTo>
                  <a:lnTo>
                    <a:pt x="94996" y="185038"/>
                  </a:lnTo>
                  <a:lnTo>
                    <a:pt x="128015" y="166115"/>
                  </a:lnTo>
                  <a:lnTo>
                    <a:pt x="118574" y="149606"/>
                  </a:lnTo>
                  <a:close/>
                </a:path>
                <a:path extrusionOk="0" h="258445" w="158750">
                  <a:moveTo>
                    <a:pt x="151637" y="130683"/>
                  </a:moveTo>
                  <a:lnTo>
                    <a:pt x="118574" y="149606"/>
                  </a:lnTo>
                  <a:lnTo>
                    <a:pt x="128015" y="166115"/>
                  </a:lnTo>
                  <a:lnTo>
                    <a:pt x="94996" y="185038"/>
                  </a:lnTo>
                  <a:lnTo>
                    <a:pt x="154666" y="185038"/>
                  </a:lnTo>
                  <a:lnTo>
                    <a:pt x="151637" y="130683"/>
                  </a:lnTo>
                  <a:close/>
                </a:path>
                <a:path extrusionOk="0" h="258445" w="158750">
                  <a:moveTo>
                    <a:pt x="33020" y="0"/>
                  </a:moveTo>
                  <a:lnTo>
                    <a:pt x="0" y="18796"/>
                  </a:lnTo>
                  <a:lnTo>
                    <a:pt x="85549" y="168508"/>
                  </a:lnTo>
                  <a:lnTo>
                    <a:pt x="118574" y="149606"/>
                  </a:lnTo>
                  <a:lnTo>
                    <a:pt x="33020" y="0"/>
                  </a:ln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00"/>
            </a:p>
          </p:txBody>
        </p:sp>
        <p:pic>
          <p:nvPicPr>
            <p:cNvPr id="881" name="Google Shape;881;p100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661416" y="4401299"/>
              <a:ext cx="2224278" cy="435114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882" name="Google Shape;882;p100"/>
          <p:cNvSpPr txBox="1"/>
          <p:nvPr/>
        </p:nvSpPr>
        <p:spPr>
          <a:xfrm>
            <a:off x="644728" y="3342227"/>
            <a:ext cx="1372076" cy="2247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Binding (EventGrid)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883" name="Google Shape;883;p100"/>
          <p:cNvGrpSpPr/>
          <p:nvPr/>
        </p:nvGrpSpPr>
        <p:grpSpPr>
          <a:xfrm>
            <a:off x="998410" y="2835212"/>
            <a:ext cx="6676549" cy="483774"/>
            <a:chOff x="1331213" y="3780282"/>
            <a:chExt cx="8902065" cy="645032"/>
          </a:xfrm>
        </p:grpSpPr>
        <p:sp>
          <p:nvSpPr>
            <p:cNvPr id="884" name="Google Shape;884;p100"/>
            <p:cNvSpPr/>
            <p:nvPr/>
          </p:nvSpPr>
          <p:spPr>
            <a:xfrm>
              <a:off x="1331213" y="3780282"/>
              <a:ext cx="8902065" cy="391795"/>
            </a:xfrm>
            <a:custGeom>
              <a:rect b="b" l="l" r="r" t="t"/>
              <a:pathLst>
                <a:path extrusionOk="0" h="391795" w="8902065">
                  <a:moveTo>
                    <a:pt x="0" y="391668"/>
                  </a:moveTo>
                  <a:lnTo>
                    <a:pt x="8901684" y="391668"/>
                  </a:lnTo>
                  <a:lnTo>
                    <a:pt x="8901684" y="0"/>
                  </a:lnTo>
                  <a:lnTo>
                    <a:pt x="0" y="0"/>
                  </a:lnTo>
                  <a:lnTo>
                    <a:pt x="0" y="391668"/>
                  </a:lnTo>
                  <a:close/>
                </a:path>
              </a:pathLst>
            </a:custGeom>
            <a:noFill/>
            <a:ln cap="flat" cmpd="sng" w="3810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00"/>
            </a:p>
          </p:txBody>
        </p:sp>
        <p:sp>
          <p:nvSpPr>
            <p:cNvPr id="885" name="Google Shape;885;p100"/>
            <p:cNvSpPr/>
            <p:nvPr/>
          </p:nvSpPr>
          <p:spPr>
            <a:xfrm>
              <a:off x="1405762" y="4194810"/>
              <a:ext cx="266700" cy="230504"/>
            </a:xfrm>
            <a:custGeom>
              <a:rect b="b" l="l" r="r" t="t"/>
              <a:pathLst>
                <a:path extrusionOk="0" h="230504" w="266700">
                  <a:moveTo>
                    <a:pt x="166860" y="59450"/>
                  </a:moveTo>
                  <a:lnTo>
                    <a:pt x="0" y="201421"/>
                  </a:lnTo>
                  <a:lnTo>
                    <a:pt x="24637" y="230377"/>
                  </a:lnTo>
                  <a:lnTo>
                    <a:pt x="191588" y="88546"/>
                  </a:lnTo>
                  <a:lnTo>
                    <a:pt x="166860" y="59450"/>
                  </a:lnTo>
                  <a:close/>
                </a:path>
                <a:path extrusionOk="0" h="230504" w="266700">
                  <a:moveTo>
                    <a:pt x="246271" y="47116"/>
                  </a:moveTo>
                  <a:lnTo>
                    <a:pt x="181356" y="47116"/>
                  </a:lnTo>
                  <a:lnTo>
                    <a:pt x="206121" y="76200"/>
                  </a:lnTo>
                  <a:lnTo>
                    <a:pt x="191588" y="88546"/>
                  </a:lnTo>
                  <a:lnTo>
                    <a:pt x="216281" y="117601"/>
                  </a:lnTo>
                  <a:lnTo>
                    <a:pt x="246271" y="47116"/>
                  </a:lnTo>
                  <a:close/>
                </a:path>
                <a:path extrusionOk="0" h="230504" w="266700">
                  <a:moveTo>
                    <a:pt x="181356" y="47116"/>
                  </a:moveTo>
                  <a:lnTo>
                    <a:pt x="166860" y="59450"/>
                  </a:lnTo>
                  <a:lnTo>
                    <a:pt x="191588" y="88546"/>
                  </a:lnTo>
                  <a:lnTo>
                    <a:pt x="206121" y="76200"/>
                  </a:lnTo>
                  <a:lnTo>
                    <a:pt x="181356" y="47116"/>
                  </a:lnTo>
                  <a:close/>
                </a:path>
                <a:path extrusionOk="0" h="230504" w="266700">
                  <a:moveTo>
                    <a:pt x="266319" y="0"/>
                  </a:moveTo>
                  <a:lnTo>
                    <a:pt x="142240" y="30479"/>
                  </a:lnTo>
                  <a:lnTo>
                    <a:pt x="166860" y="59450"/>
                  </a:lnTo>
                  <a:lnTo>
                    <a:pt x="181356" y="47116"/>
                  </a:lnTo>
                  <a:lnTo>
                    <a:pt x="246271" y="47116"/>
                  </a:lnTo>
                  <a:lnTo>
                    <a:pt x="266319" y="0"/>
                  </a:ln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00"/>
            </a:p>
          </p:txBody>
        </p:sp>
      </p:grp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9" name="Shape 8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" name="Google Shape;890;p101"/>
          <p:cNvSpPr txBox="1"/>
          <p:nvPr>
            <p:ph type="title"/>
          </p:nvPr>
        </p:nvSpPr>
        <p:spPr>
          <a:xfrm>
            <a:off x="158039" y="78961"/>
            <a:ext cx="2895600" cy="5910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Trigger Types</a:t>
            </a:r>
            <a:endParaRPr/>
          </a:p>
        </p:txBody>
      </p:sp>
      <p:sp>
        <p:nvSpPr>
          <p:cNvPr id="891" name="Google Shape;891;p101"/>
          <p:cNvSpPr txBox="1"/>
          <p:nvPr/>
        </p:nvSpPr>
        <p:spPr>
          <a:xfrm>
            <a:off x="497966" y="1030147"/>
            <a:ext cx="2153126" cy="386048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9550">
            <a:spAutoFit/>
          </a:bodyPr>
          <a:lstStyle/>
          <a:p>
            <a:pPr indent="-349250" lvl="0" marL="355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Char char="•"/>
            </a:pPr>
            <a:r>
              <a:rPr lang="en" sz="2100">
                <a:latin typeface="Arial"/>
                <a:ea typeface="Arial"/>
                <a:cs typeface="Arial"/>
                <a:sym typeface="Arial"/>
              </a:rPr>
              <a:t>Blob Storage</a:t>
            </a:r>
            <a:endParaRPr sz="2100">
              <a:latin typeface="Arial"/>
              <a:ea typeface="Arial"/>
              <a:cs typeface="Arial"/>
              <a:sym typeface="Arial"/>
            </a:endParaRPr>
          </a:p>
          <a:p>
            <a:pPr indent="-349250" lvl="0" marL="355600" rtl="0" algn="l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SzPts val="2100"/>
              <a:buFont typeface="Arial"/>
              <a:buChar char="•"/>
            </a:pPr>
            <a:r>
              <a:rPr lang="en" sz="2100">
                <a:latin typeface="Arial"/>
                <a:ea typeface="Arial"/>
                <a:cs typeface="Arial"/>
                <a:sym typeface="Arial"/>
              </a:rPr>
              <a:t>Cosmos DB</a:t>
            </a:r>
            <a:endParaRPr sz="2100">
              <a:latin typeface="Arial"/>
              <a:ea typeface="Arial"/>
              <a:cs typeface="Arial"/>
              <a:sym typeface="Arial"/>
            </a:endParaRPr>
          </a:p>
          <a:p>
            <a:pPr indent="-349250" lvl="0" marL="355600" rtl="0" algn="l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SzPts val="2100"/>
              <a:buFont typeface="Arial"/>
              <a:buChar char="•"/>
            </a:pPr>
            <a:r>
              <a:rPr lang="en" sz="2100">
                <a:latin typeface="Arial"/>
                <a:ea typeface="Arial"/>
                <a:cs typeface="Arial"/>
                <a:sym typeface="Arial"/>
              </a:rPr>
              <a:t>Dapr</a:t>
            </a:r>
            <a:endParaRPr sz="2100">
              <a:latin typeface="Arial"/>
              <a:ea typeface="Arial"/>
              <a:cs typeface="Arial"/>
              <a:sym typeface="Arial"/>
            </a:endParaRPr>
          </a:p>
          <a:p>
            <a:pPr indent="-349250" lvl="0" marL="355600" rtl="0" algn="l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SzPts val="2100"/>
              <a:buFont typeface="Arial"/>
              <a:buChar char="•"/>
            </a:pPr>
            <a:r>
              <a:rPr lang="en" sz="2100">
                <a:latin typeface="Arial"/>
                <a:ea typeface="Arial"/>
                <a:cs typeface="Arial"/>
                <a:sym typeface="Arial"/>
              </a:rPr>
              <a:t>Event Grid</a:t>
            </a:r>
            <a:endParaRPr sz="2100">
              <a:latin typeface="Arial"/>
              <a:ea typeface="Arial"/>
              <a:cs typeface="Arial"/>
              <a:sym typeface="Arial"/>
            </a:endParaRPr>
          </a:p>
          <a:p>
            <a:pPr indent="-349250" lvl="0" marL="355600" rtl="0" algn="l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SzPts val="2100"/>
              <a:buFont typeface="Arial"/>
              <a:buChar char="•"/>
            </a:pPr>
            <a:r>
              <a:rPr lang="en" sz="2100">
                <a:latin typeface="Arial"/>
                <a:ea typeface="Arial"/>
                <a:cs typeface="Arial"/>
                <a:sym typeface="Arial"/>
              </a:rPr>
              <a:t>Event Hubs</a:t>
            </a:r>
            <a:endParaRPr sz="2100">
              <a:latin typeface="Arial"/>
              <a:ea typeface="Arial"/>
              <a:cs typeface="Arial"/>
              <a:sym typeface="Arial"/>
            </a:endParaRPr>
          </a:p>
          <a:p>
            <a:pPr indent="-349250" lvl="0" marL="355600" rtl="0" algn="l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SzPts val="2100"/>
              <a:buFont typeface="Arial"/>
              <a:buChar char="•"/>
            </a:pPr>
            <a:r>
              <a:rPr lang="en" sz="2100">
                <a:latin typeface="Arial"/>
                <a:ea typeface="Arial"/>
                <a:cs typeface="Arial"/>
                <a:sym typeface="Arial"/>
              </a:rPr>
              <a:t>HTTP Requests</a:t>
            </a:r>
            <a:endParaRPr sz="2100">
              <a:latin typeface="Arial"/>
              <a:ea typeface="Arial"/>
              <a:cs typeface="Arial"/>
              <a:sym typeface="Arial"/>
            </a:endParaRPr>
          </a:p>
          <a:p>
            <a:pPr indent="-349250" lvl="0" marL="355600" rtl="0" algn="l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SzPts val="2100"/>
              <a:buFont typeface="Arial"/>
              <a:buChar char="•"/>
            </a:pPr>
            <a:r>
              <a:rPr lang="en" sz="2100">
                <a:latin typeface="Arial"/>
                <a:ea typeface="Arial"/>
                <a:cs typeface="Arial"/>
                <a:sym typeface="Arial"/>
              </a:rPr>
              <a:t>IOT Hub</a:t>
            </a:r>
            <a:endParaRPr sz="2100">
              <a:latin typeface="Arial"/>
              <a:ea typeface="Arial"/>
              <a:cs typeface="Arial"/>
              <a:sym typeface="Arial"/>
            </a:endParaRPr>
          </a:p>
          <a:p>
            <a:pPr indent="-349250" lvl="0" marL="355600" rtl="0" algn="l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SzPts val="2100"/>
              <a:buFont typeface="Arial"/>
              <a:buChar char="•"/>
            </a:pPr>
            <a:r>
              <a:rPr lang="en" sz="2100">
                <a:latin typeface="Arial"/>
                <a:ea typeface="Arial"/>
                <a:cs typeface="Arial"/>
                <a:sym typeface="Arial"/>
              </a:rPr>
              <a:t>Kafka</a:t>
            </a:r>
            <a:endParaRPr sz="21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2" name="Google Shape;892;p101"/>
          <p:cNvSpPr txBox="1"/>
          <p:nvPr/>
        </p:nvSpPr>
        <p:spPr>
          <a:xfrm>
            <a:off x="3563969" y="1030148"/>
            <a:ext cx="2128838" cy="19397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9550">
            <a:spAutoFit/>
          </a:bodyPr>
          <a:lstStyle/>
          <a:p>
            <a:pPr indent="-349250" lvl="0" marL="355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Char char="•"/>
            </a:pPr>
            <a:r>
              <a:rPr lang="en" sz="2100">
                <a:latin typeface="Arial"/>
                <a:ea typeface="Arial"/>
                <a:cs typeface="Arial"/>
                <a:sym typeface="Arial"/>
              </a:rPr>
              <a:t>Queue Storage</a:t>
            </a:r>
            <a:endParaRPr sz="2100">
              <a:latin typeface="Arial"/>
              <a:ea typeface="Arial"/>
              <a:cs typeface="Arial"/>
              <a:sym typeface="Arial"/>
            </a:endParaRPr>
          </a:p>
          <a:p>
            <a:pPr indent="-349250" lvl="0" marL="355600" rtl="0" algn="l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SzPts val="2100"/>
              <a:buFont typeface="Arial"/>
              <a:buChar char="•"/>
            </a:pPr>
            <a:r>
              <a:rPr lang="en" sz="2100">
                <a:latin typeface="Arial"/>
                <a:ea typeface="Arial"/>
                <a:cs typeface="Arial"/>
                <a:sym typeface="Arial"/>
              </a:rPr>
              <a:t>RabbitMQ</a:t>
            </a:r>
            <a:endParaRPr sz="2100">
              <a:latin typeface="Arial"/>
              <a:ea typeface="Arial"/>
              <a:cs typeface="Arial"/>
              <a:sym typeface="Arial"/>
            </a:endParaRPr>
          </a:p>
          <a:p>
            <a:pPr indent="-349250" lvl="0" marL="355600" rtl="0" algn="l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SzPts val="2100"/>
              <a:buFont typeface="Arial"/>
              <a:buChar char="•"/>
            </a:pPr>
            <a:r>
              <a:rPr lang="en" sz="2100">
                <a:latin typeface="Arial"/>
                <a:ea typeface="Arial"/>
                <a:cs typeface="Arial"/>
                <a:sym typeface="Arial"/>
              </a:rPr>
              <a:t>Service Bus</a:t>
            </a:r>
            <a:endParaRPr sz="2100">
              <a:latin typeface="Arial"/>
              <a:ea typeface="Arial"/>
              <a:cs typeface="Arial"/>
              <a:sym typeface="Arial"/>
            </a:endParaRPr>
          </a:p>
          <a:p>
            <a:pPr indent="-349250" lvl="0" marL="355600" rtl="0" algn="l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SzPts val="2100"/>
              <a:buFont typeface="Arial"/>
              <a:buChar char="•"/>
            </a:pPr>
            <a:r>
              <a:rPr lang="en" sz="2100">
                <a:latin typeface="Arial"/>
                <a:ea typeface="Arial"/>
                <a:cs typeface="Arial"/>
                <a:sym typeface="Arial"/>
              </a:rPr>
              <a:t>Timer</a:t>
            </a:r>
            <a:endParaRPr sz="21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6" name="Shape 8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7" name="Google Shape;897;p102"/>
          <p:cNvSpPr txBox="1"/>
          <p:nvPr>
            <p:ph type="title"/>
          </p:nvPr>
        </p:nvSpPr>
        <p:spPr>
          <a:xfrm>
            <a:off x="158039" y="78961"/>
            <a:ext cx="6613684" cy="5910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Binding Types (Input or Output)</a:t>
            </a:r>
            <a:endParaRPr/>
          </a:p>
        </p:txBody>
      </p:sp>
      <p:sp>
        <p:nvSpPr>
          <p:cNvPr id="898" name="Google Shape;898;p102"/>
          <p:cNvSpPr txBox="1"/>
          <p:nvPr/>
        </p:nvSpPr>
        <p:spPr>
          <a:xfrm>
            <a:off x="497966" y="1030147"/>
            <a:ext cx="2153126" cy="386048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9550">
            <a:spAutoFit/>
          </a:bodyPr>
          <a:lstStyle/>
          <a:p>
            <a:pPr indent="-349250" lvl="0" marL="355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Char char="•"/>
            </a:pPr>
            <a:r>
              <a:rPr lang="en" sz="2100">
                <a:latin typeface="Arial"/>
                <a:ea typeface="Arial"/>
                <a:cs typeface="Arial"/>
                <a:sym typeface="Arial"/>
              </a:rPr>
              <a:t>Blob Storage</a:t>
            </a:r>
            <a:endParaRPr sz="2100">
              <a:latin typeface="Arial"/>
              <a:ea typeface="Arial"/>
              <a:cs typeface="Arial"/>
              <a:sym typeface="Arial"/>
            </a:endParaRPr>
          </a:p>
          <a:p>
            <a:pPr indent="-349250" lvl="0" marL="355600" rtl="0" algn="l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SzPts val="2100"/>
              <a:buFont typeface="Arial"/>
              <a:buChar char="•"/>
            </a:pPr>
            <a:r>
              <a:rPr lang="en" sz="2100">
                <a:latin typeface="Arial"/>
                <a:ea typeface="Arial"/>
                <a:cs typeface="Arial"/>
                <a:sym typeface="Arial"/>
              </a:rPr>
              <a:t>Cosmos DB</a:t>
            </a:r>
            <a:endParaRPr sz="2100">
              <a:latin typeface="Arial"/>
              <a:ea typeface="Arial"/>
              <a:cs typeface="Arial"/>
              <a:sym typeface="Arial"/>
            </a:endParaRPr>
          </a:p>
          <a:p>
            <a:pPr indent="-349250" lvl="0" marL="355600" rtl="0" algn="l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SzPts val="2100"/>
              <a:buFont typeface="Arial"/>
              <a:buChar char="•"/>
            </a:pPr>
            <a:r>
              <a:rPr lang="en" sz="2100">
                <a:latin typeface="Arial"/>
                <a:ea typeface="Arial"/>
                <a:cs typeface="Arial"/>
                <a:sym typeface="Arial"/>
              </a:rPr>
              <a:t>Dapr</a:t>
            </a:r>
            <a:endParaRPr sz="2100">
              <a:latin typeface="Arial"/>
              <a:ea typeface="Arial"/>
              <a:cs typeface="Arial"/>
              <a:sym typeface="Arial"/>
            </a:endParaRPr>
          </a:p>
          <a:p>
            <a:pPr indent="-349250" lvl="0" marL="355600" rtl="0" algn="l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SzPts val="2100"/>
              <a:buFont typeface="Arial"/>
              <a:buChar char="•"/>
            </a:pPr>
            <a:r>
              <a:rPr lang="en" sz="2100">
                <a:latin typeface="Arial"/>
                <a:ea typeface="Arial"/>
                <a:cs typeface="Arial"/>
                <a:sym typeface="Arial"/>
              </a:rPr>
              <a:t>Event Grid</a:t>
            </a:r>
            <a:endParaRPr sz="2100">
              <a:latin typeface="Arial"/>
              <a:ea typeface="Arial"/>
              <a:cs typeface="Arial"/>
              <a:sym typeface="Arial"/>
            </a:endParaRPr>
          </a:p>
          <a:p>
            <a:pPr indent="-349250" lvl="0" marL="355600" rtl="0" algn="l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SzPts val="2100"/>
              <a:buFont typeface="Arial"/>
              <a:buChar char="•"/>
            </a:pPr>
            <a:r>
              <a:rPr lang="en" sz="2100">
                <a:latin typeface="Arial"/>
                <a:ea typeface="Arial"/>
                <a:cs typeface="Arial"/>
                <a:sym typeface="Arial"/>
              </a:rPr>
              <a:t>Event Hubs</a:t>
            </a:r>
            <a:endParaRPr sz="2100">
              <a:latin typeface="Arial"/>
              <a:ea typeface="Arial"/>
              <a:cs typeface="Arial"/>
              <a:sym typeface="Arial"/>
            </a:endParaRPr>
          </a:p>
          <a:p>
            <a:pPr indent="-349250" lvl="0" marL="355600" rtl="0" algn="l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SzPts val="2100"/>
              <a:buFont typeface="Arial"/>
              <a:buChar char="•"/>
            </a:pPr>
            <a:r>
              <a:rPr lang="en" sz="2100">
                <a:latin typeface="Arial"/>
                <a:ea typeface="Arial"/>
                <a:cs typeface="Arial"/>
                <a:sym typeface="Arial"/>
              </a:rPr>
              <a:t>HTTP Requests</a:t>
            </a:r>
            <a:endParaRPr sz="2100">
              <a:latin typeface="Arial"/>
              <a:ea typeface="Arial"/>
              <a:cs typeface="Arial"/>
              <a:sym typeface="Arial"/>
            </a:endParaRPr>
          </a:p>
          <a:p>
            <a:pPr indent="-349250" lvl="0" marL="355600" rtl="0" algn="l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SzPts val="2100"/>
              <a:buFont typeface="Arial"/>
              <a:buChar char="•"/>
            </a:pPr>
            <a:r>
              <a:rPr lang="en" sz="2100">
                <a:latin typeface="Arial"/>
                <a:ea typeface="Arial"/>
                <a:cs typeface="Arial"/>
                <a:sym typeface="Arial"/>
              </a:rPr>
              <a:t>IOT Hub</a:t>
            </a:r>
            <a:endParaRPr sz="2100">
              <a:latin typeface="Arial"/>
              <a:ea typeface="Arial"/>
              <a:cs typeface="Arial"/>
              <a:sym typeface="Arial"/>
            </a:endParaRPr>
          </a:p>
          <a:p>
            <a:pPr indent="-349250" lvl="0" marL="355600" rtl="0" algn="l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SzPts val="2100"/>
              <a:buFont typeface="Arial"/>
              <a:buChar char="•"/>
            </a:pPr>
            <a:r>
              <a:rPr lang="en" sz="2100">
                <a:latin typeface="Arial"/>
                <a:ea typeface="Arial"/>
                <a:cs typeface="Arial"/>
                <a:sym typeface="Arial"/>
              </a:rPr>
              <a:t>Kafka</a:t>
            </a:r>
            <a:endParaRPr sz="21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9" name="Google Shape;899;p102"/>
          <p:cNvSpPr txBox="1"/>
          <p:nvPr/>
        </p:nvSpPr>
        <p:spPr>
          <a:xfrm>
            <a:off x="3563969" y="1030147"/>
            <a:ext cx="2267426" cy="386048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9550">
            <a:spAutoFit/>
          </a:bodyPr>
          <a:lstStyle/>
          <a:p>
            <a:pPr indent="-349250" lvl="0" marL="355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Char char="•"/>
            </a:pPr>
            <a:r>
              <a:rPr lang="en" sz="2100">
                <a:latin typeface="Arial"/>
                <a:ea typeface="Arial"/>
                <a:cs typeface="Arial"/>
                <a:sym typeface="Arial"/>
              </a:rPr>
              <a:t>Mobile Apps</a:t>
            </a:r>
            <a:endParaRPr sz="2100">
              <a:latin typeface="Arial"/>
              <a:ea typeface="Arial"/>
              <a:cs typeface="Arial"/>
              <a:sym typeface="Arial"/>
            </a:endParaRPr>
          </a:p>
          <a:p>
            <a:pPr indent="-349250" lvl="0" marL="355600" rtl="0" algn="l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SzPts val="2100"/>
              <a:buFont typeface="Arial"/>
              <a:buChar char="•"/>
            </a:pPr>
            <a:r>
              <a:rPr lang="en" sz="2100">
                <a:latin typeface="Arial"/>
                <a:ea typeface="Arial"/>
                <a:cs typeface="Arial"/>
                <a:sym typeface="Arial"/>
              </a:rPr>
              <a:t>Notification Hub</a:t>
            </a:r>
            <a:endParaRPr sz="2100">
              <a:latin typeface="Arial"/>
              <a:ea typeface="Arial"/>
              <a:cs typeface="Arial"/>
              <a:sym typeface="Arial"/>
            </a:endParaRPr>
          </a:p>
          <a:p>
            <a:pPr indent="-349250" lvl="0" marL="355600" rtl="0" algn="l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SzPts val="2100"/>
              <a:buFont typeface="Arial"/>
              <a:buChar char="•"/>
            </a:pPr>
            <a:r>
              <a:rPr lang="en" sz="2100">
                <a:latin typeface="Arial"/>
                <a:ea typeface="Arial"/>
                <a:cs typeface="Arial"/>
                <a:sym typeface="Arial"/>
              </a:rPr>
              <a:t>Queue Storage</a:t>
            </a:r>
            <a:endParaRPr sz="2100">
              <a:latin typeface="Arial"/>
              <a:ea typeface="Arial"/>
              <a:cs typeface="Arial"/>
              <a:sym typeface="Arial"/>
            </a:endParaRPr>
          </a:p>
          <a:p>
            <a:pPr indent="-349250" lvl="0" marL="355600" rtl="0" algn="l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SzPts val="2100"/>
              <a:buFont typeface="Arial"/>
              <a:buChar char="•"/>
            </a:pPr>
            <a:r>
              <a:rPr lang="en" sz="2100">
                <a:latin typeface="Arial"/>
                <a:ea typeface="Arial"/>
                <a:cs typeface="Arial"/>
                <a:sym typeface="Arial"/>
              </a:rPr>
              <a:t>RabbitMQ</a:t>
            </a:r>
            <a:endParaRPr sz="2100">
              <a:latin typeface="Arial"/>
              <a:ea typeface="Arial"/>
              <a:cs typeface="Arial"/>
              <a:sym typeface="Arial"/>
            </a:endParaRPr>
          </a:p>
          <a:p>
            <a:pPr indent="-349250" lvl="0" marL="355600" rtl="0" algn="l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SzPts val="2100"/>
              <a:buFont typeface="Arial"/>
              <a:buChar char="•"/>
            </a:pPr>
            <a:r>
              <a:rPr lang="en" sz="2100">
                <a:latin typeface="Arial"/>
                <a:ea typeface="Arial"/>
                <a:cs typeface="Arial"/>
                <a:sym typeface="Arial"/>
              </a:rPr>
              <a:t>SendGrid</a:t>
            </a:r>
            <a:endParaRPr sz="2100">
              <a:latin typeface="Arial"/>
              <a:ea typeface="Arial"/>
              <a:cs typeface="Arial"/>
              <a:sym typeface="Arial"/>
            </a:endParaRPr>
          </a:p>
          <a:p>
            <a:pPr indent="-349250" lvl="0" marL="355600" rtl="0" algn="l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SzPts val="2100"/>
              <a:buFont typeface="Arial"/>
              <a:buChar char="•"/>
            </a:pPr>
            <a:r>
              <a:rPr lang="en" sz="2100">
                <a:latin typeface="Arial"/>
                <a:ea typeface="Arial"/>
                <a:cs typeface="Arial"/>
                <a:sym typeface="Arial"/>
              </a:rPr>
              <a:t>Service Bus</a:t>
            </a:r>
            <a:endParaRPr sz="2100">
              <a:latin typeface="Arial"/>
              <a:ea typeface="Arial"/>
              <a:cs typeface="Arial"/>
              <a:sym typeface="Arial"/>
            </a:endParaRPr>
          </a:p>
          <a:p>
            <a:pPr indent="-349250" lvl="0" marL="355600" rtl="0" algn="l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SzPts val="2100"/>
              <a:buFont typeface="Arial"/>
              <a:buChar char="•"/>
            </a:pPr>
            <a:r>
              <a:rPr lang="en" sz="2100">
                <a:latin typeface="Arial"/>
                <a:ea typeface="Arial"/>
                <a:cs typeface="Arial"/>
                <a:sym typeface="Arial"/>
              </a:rPr>
              <a:t>SignalR</a:t>
            </a:r>
            <a:endParaRPr sz="2100">
              <a:latin typeface="Arial"/>
              <a:ea typeface="Arial"/>
              <a:cs typeface="Arial"/>
              <a:sym typeface="Arial"/>
            </a:endParaRPr>
          </a:p>
          <a:p>
            <a:pPr indent="-349250" lvl="0" marL="355600" rtl="0" algn="l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SzPts val="2100"/>
              <a:buFont typeface="Arial"/>
              <a:buChar char="•"/>
            </a:pPr>
            <a:r>
              <a:rPr lang="en" sz="2100">
                <a:latin typeface="Arial"/>
                <a:ea typeface="Arial"/>
                <a:cs typeface="Arial"/>
                <a:sym typeface="Arial"/>
              </a:rPr>
              <a:t>Table Storage</a:t>
            </a:r>
            <a:endParaRPr sz="21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3" name="Shape 9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4" name="Google Shape;904;p103"/>
          <p:cNvSpPr txBox="1"/>
          <p:nvPr>
            <p:ph type="title"/>
          </p:nvPr>
        </p:nvSpPr>
        <p:spPr>
          <a:xfrm>
            <a:off x="158039" y="78961"/>
            <a:ext cx="7938135" cy="12148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Triggers and Bindings</a:t>
            </a:r>
            <a:endParaRPr/>
          </a:p>
        </p:txBody>
      </p:sp>
      <p:sp>
        <p:nvSpPr>
          <p:cNvPr id="905" name="Google Shape;905;p103"/>
          <p:cNvSpPr txBox="1"/>
          <p:nvPr/>
        </p:nvSpPr>
        <p:spPr>
          <a:xfrm>
            <a:off x="497966" y="1310639"/>
            <a:ext cx="8230076" cy="22621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050">
            <a:spAutoFit/>
          </a:bodyPr>
          <a:lstStyle/>
          <a:p>
            <a:pPr indent="-349250" lvl="0" marL="355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Char char="•"/>
            </a:pPr>
            <a:r>
              <a:rPr lang="en" sz="2100">
                <a:latin typeface="Arial"/>
                <a:ea typeface="Arial"/>
                <a:cs typeface="Arial"/>
                <a:sym typeface="Arial"/>
              </a:rPr>
              <a:t>Example scenarios:</a:t>
            </a:r>
            <a:endParaRPr sz="2100">
              <a:latin typeface="Arial"/>
              <a:ea typeface="Arial"/>
              <a:cs typeface="Arial"/>
              <a:sym typeface="Arial"/>
            </a:endParaRPr>
          </a:p>
          <a:p>
            <a:pPr indent="-349250" lvl="1" marL="698500" marR="0" rtl="0" algn="l">
              <a:lnSpc>
                <a:spcPct val="227796"/>
              </a:lnSpc>
              <a:spcBef>
                <a:spcPts val="400"/>
              </a:spcBef>
              <a:spcAft>
                <a:spcPts val="0"/>
              </a:spcAft>
              <a:buSzPts val="2100"/>
              <a:buFont typeface="Arial"/>
              <a:buChar char="•"/>
            </a:pPr>
            <a:r>
              <a:rPr lang="en" sz="2100">
                <a:latin typeface="Arial"/>
                <a:ea typeface="Arial"/>
                <a:cs typeface="Arial"/>
                <a:sym typeface="Arial"/>
              </a:rPr>
              <a:t>Run every 5 minutes (</a:t>
            </a:r>
            <a:r>
              <a:rPr i="1" lang="en" sz="2200">
                <a:latin typeface="Arial"/>
                <a:ea typeface="Arial"/>
                <a:cs typeface="Arial"/>
                <a:sym typeface="Arial"/>
              </a:rPr>
              <a:t>Timer Trigger) </a:t>
            </a:r>
            <a:r>
              <a:rPr lang="en" sz="2100">
                <a:latin typeface="Arial"/>
                <a:ea typeface="Arial"/>
                <a:cs typeface="Arial"/>
                <a:sym typeface="Arial"/>
              </a:rPr>
              <a:t>and calculate the sum of a column in a DB. If it’s above 115, send an event in EventGrid (</a:t>
            </a:r>
            <a:r>
              <a:rPr i="1" lang="en" sz="2200">
                <a:latin typeface="Arial"/>
                <a:ea typeface="Arial"/>
                <a:cs typeface="Arial"/>
                <a:sym typeface="Arial"/>
              </a:rPr>
              <a:t>Binding)</a:t>
            </a:r>
            <a:endParaRPr sz="22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9" name="Shape 9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0" name="Google Shape;910;p104"/>
          <p:cNvSpPr txBox="1"/>
          <p:nvPr>
            <p:ph type="title"/>
          </p:nvPr>
        </p:nvSpPr>
        <p:spPr>
          <a:xfrm>
            <a:off x="158039" y="78961"/>
            <a:ext cx="7938135" cy="12148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Triggers and Bindings</a:t>
            </a:r>
            <a:endParaRPr/>
          </a:p>
        </p:txBody>
      </p:sp>
      <p:sp>
        <p:nvSpPr>
          <p:cNvPr id="911" name="Google Shape;911;p104"/>
          <p:cNvSpPr txBox="1"/>
          <p:nvPr/>
        </p:nvSpPr>
        <p:spPr>
          <a:xfrm>
            <a:off x="497966" y="1310639"/>
            <a:ext cx="8054340" cy="16221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050">
            <a:spAutoFit/>
          </a:bodyPr>
          <a:lstStyle/>
          <a:p>
            <a:pPr indent="-349250" lvl="0" marL="355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Char char="•"/>
            </a:pPr>
            <a:r>
              <a:rPr lang="en" sz="2100">
                <a:latin typeface="Arial"/>
                <a:ea typeface="Arial"/>
                <a:cs typeface="Arial"/>
                <a:sym typeface="Arial"/>
              </a:rPr>
              <a:t>Example scenarios:</a:t>
            </a:r>
            <a:endParaRPr sz="2100">
              <a:latin typeface="Arial"/>
              <a:ea typeface="Arial"/>
              <a:cs typeface="Arial"/>
              <a:sym typeface="Arial"/>
            </a:endParaRPr>
          </a:p>
          <a:p>
            <a:pPr indent="-349250" lvl="1" marL="698500" rtl="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SzPts val="2100"/>
              <a:buFont typeface="Arial"/>
              <a:buChar char="•"/>
            </a:pPr>
            <a:r>
              <a:rPr lang="en" sz="2100">
                <a:latin typeface="Arial"/>
                <a:ea typeface="Arial"/>
                <a:cs typeface="Arial"/>
                <a:sym typeface="Arial"/>
              </a:rPr>
              <a:t>When a message arrives in the Orders Queue (</a:t>
            </a:r>
            <a:r>
              <a:rPr i="1" lang="en" sz="2200">
                <a:latin typeface="Arial"/>
                <a:ea typeface="Arial"/>
                <a:cs typeface="Arial"/>
                <a:sym typeface="Arial"/>
              </a:rPr>
              <a:t>Queue Trigger)</a:t>
            </a:r>
            <a:endParaRPr sz="2200">
              <a:latin typeface="Arial"/>
              <a:ea typeface="Arial"/>
              <a:cs typeface="Arial"/>
              <a:sym typeface="Arial"/>
            </a:endParaRPr>
          </a:p>
          <a:p>
            <a:pPr indent="0" lvl="0" marL="698500" rtl="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None/>
            </a:pPr>
            <a:r>
              <a:rPr lang="en" sz="2100">
                <a:latin typeface="Arial"/>
                <a:ea typeface="Arial"/>
                <a:cs typeface="Arial"/>
                <a:sym typeface="Arial"/>
              </a:rPr>
              <a:t>save it in Cosmos DB (</a:t>
            </a:r>
            <a:r>
              <a:rPr i="1" lang="en" sz="2200">
                <a:latin typeface="Arial"/>
                <a:ea typeface="Arial"/>
                <a:cs typeface="Arial"/>
                <a:sym typeface="Arial"/>
              </a:rPr>
              <a:t>Binding) </a:t>
            </a:r>
            <a:r>
              <a:rPr lang="en" sz="2100">
                <a:latin typeface="Arial"/>
                <a:ea typeface="Arial"/>
                <a:cs typeface="Arial"/>
                <a:sym typeface="Arial"/>
              </a:rPr>
              <a:t>for future handling</a:t>
            </a:r>
            <a:endParaRPr sz="21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5" name="Shape 9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6" name="Google Shape;916;p105"/>
          <p:cNvSpPr txBox="1"/>
          <p:nvPr>
            <p:ph type="title"/>
          </p:nvPr>
        </p:nvSpPr>
        <p:spPr>
          <a:xfrm>
            <a:off x="158039" y="78961"/>
            <a:ext cx="7938135" cy="12148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Triggers and Bindings</a:t>
            </a:r>
            <a:endParaRPr/>
          </a:p>
        </p:txBody>
      </p:sp>
      <p:sp>
        <p:nvSpPr>
          <p:cNvPr id="917" name="Google Shape;917;p105"/>
          <p:cNvSpPr txBox="1"/>
          <p:nvPr/>
        </p:nvSpPr>
        <p:spPr>
          <a:xfrm>
            <a:off x="497966" y="1310639"/>
            <a:ext cx="7655719" cy="16221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050">
            <a:spAutoFit/>
          </a:bodyPr>
          <a:lstStyle/>
          <a:p>
            <a:pPr indent="-349250" lvl="0" marL="355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Char char="•"/>
            </a:pPr>
            <a:r>
              <a:rPr lang="en" sz="2100">
                <a:latin typeface="Arial"/>
                <a:ea typeface="Arial"/>
                <a:cs typeface="Arial"/>
                <a:sym typeface="Arial"/>
              </a:rPr>
              <a:t>Example scenarios:</a:t>
            </a:r>
            <a:endParaRPr sz="2100">
              <a:latin typeface="Arial"/>
              <a:ea typeface="Arial"/>
              <a:cs typeface="Arial"/>
              <a:sym typeface="Arial"/>
            </a:endParaRPr>
          </a:p>
          <a:p>
            <a:pPr indent="-349250" lvl="1" marL="698500" marR="0" rtl="0" algn="l">
              <a:lnSpc>
                <a:spcPct val="1899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Char char="•"/>
            </a:pPr>
            <a:r>
              <a:rPr lang="en" sz="2100">
                <a:latin typeface="Arial"/>
                <a:ea typeface="Arial"/>
                <a:cs typeface="Arial"/>
                <a:sym typeface="Arial"/>
              </a:rPr>
              <a:t>Receive HTTP Request (</a:t>
            </a:r>
            <a:r>
              <a:rPr i="1" lang="en" sz="2200">
                <a:latin typeface="Arial"/>
                <a:ea typeface="Arial"/>
                <a:cs typeface="Arial"/>
                <a:sym typeface="Arial"/>
              </a:rPr>
              <a:t>HTTP Trigger) </a:t>
            </a:r>
            <a:r>
              <a:rPr lang="en" sz="2100">
                <a:latin typeface="Arial"/>
                <a:ea typeface="Arial"/>
                <a:cs typeface="Arial"/>
                <a:sym typeface="Arial"/>
              </a:rPr>
              <a:t>with 4 numbers, and return the smallest one of them (</a:t>
            </a:r>
            <a:r>
              <a:rPr i="1" lang="en" sz="2200">
                <a:latin typeface="Arial"/>
                <a:ea typeface="Arial"/>
                <a:cs typeface="Arial"/>
                <a:sym typeface="Arial"/>
              </a:rPr>
              <a:t>no binding)</a:t>
            </a:r>
            <a:endParaRPr sz="22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1" name="Shape 9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" name="Google Shape;922;p106"/>
          <p:cNvSpPr txBox="1"/>
          <p:nvPr>
            <p:ph type="title"/>
          </p:nvPr>
        </p:nvSpPr>
        <p:spPr>
          <a:xfrm>
            <a:off x="158039" y="78961"/>
            <a:ext cx="7938135" cy="12148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Supported Languages</a:t>
            </a:r>
            <a:endParaRPr/>
          </a:p>
        </p:txBody>
      </p:sp>
      <p:pic>
        <p:nvPicPr>
          <p:cNvPr id="923" name="Google Shape;923;p10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4503" y="1395983"/>
            <a:ext cx="147638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924" name="Google Shape;924;p106"/>
          <p:cNvSpPr txBox="1"/>
          <p:nvPr/>
        </p:nvSpPr>
        <p:spPr>
          <a:xfrm>
            <a:off x="497966" y="1310639"/>
            <a:ext cx="2756059" cy="35399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050">
            <a:spAutoFit/>
          </a:bodyPr>
          <a:lstStyle/>
          <a:p>
            <a:pPr indent="-349250" lvl="0" marL="355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Char char="•"/>
            </a:pPr>
            <a:r>
              <a:rPr lang="en" sz="2100">
                <a:latin typeface="Arial"/>
                <a:ea typeface="Arial"/>
                <a:cs typeface="Arial"/>
                <a:sym typeface="Arial"/>
              </a:rPr>
              <a:t>C</a:t>
            </a:r>
            <a:endParaRPr sz="2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2100"/>
              <a:buFont typeface="Arial"/>
              <a:buNone/>
            </a:pPr>
            <a:r>
              <a:t/>
            </a:r>
            <a:endParaRPr sz="2100">
              <a:latin typeface="Arial"/>
              <a:ea typeface="Arial"/>
              <a:cs typeface="Arial"/>
              <a:sym typeface="Arial"/>
            </a:endParaRPr>
          </a:p>
          <a:p>
            <a:pPr indent="-349250" lvl="0" marL="355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Char char="•"/>
            </a:pPr>
            <a:r>
              <a:rPr lang="en" sz="2100">
                <a:latin typeface="Arial"/>
                <a:ea typeface="Arial"/>
                <a:cs typeface="Arial"/>
                <a:sym typeface="Arial"/>
              </a:rPr>
              <a:t>JavaScript (nodeJS)</a:t>
            </a:r>
            <a:endParaRPr sz="2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2100"/>
              <a:buFont typeface="Arial"/>
              <a:buNone/>
            </a:pPr>
            <a:r>
              <a:t/>
            </a:r>
            <a:endParaRPr sz="2100">
              <a:latin typeface="Arial"/>
              <a:ea typeface="Arial"/>
              <a:cs typeface="Arial"/>
              <a:sym typeface="Arial"/>
            </a:endParaRPr>
          </a:p>
          <a:p>
            <a:pPr indent="-349250" lvl="0" marL="355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Char char="•"/>
            </a:pPr>
            <a:r>
              <a:rPr lang="en" sz="2100">
                <a:latin typeface="Arial"/>
                <a:ea typeface="Arial"/>
                <a:cs typeface="Arial"/>
                <a:sym typeface="Arial"/>
              </a:rPr>
              <a:t>Java</a:t>
            </a:r>
            <a:endParaRPr sz="2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2100"/>
              <a:buFont typeface="Arial"/>
              <a:buNone/>
            </a:pPr>
            <a:r>
              <a:t/>
            </a:r>
            <a:endParaRPr sz="2100">
              <a:latin typeface="Arial"/>
              <a:ea typeface="Arial"/>
              <a:cs typeface="Arial"/>
              <a:sym typeface="Arial"/>
            </a:endParaRPr>
          </a:p>
          <a:p>
            <a:pPr indent="-349250" lvl="0" marL="355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Char char="•"/>
            </a:pPr>
            <a:r>
              <a:rPr lang="en" sz="2100">
                <a:latin typeface="Arial"/>
                <a:ea typeface="Arial"/>
                <a:cs typeface="Arial"/>
                <a:sym typeface="Arial"/>
              </a:rPr>
              <a:t>Python</a:t>
            </a:r>
            <a:endParaRPr sz="2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2100"/>
              <a:buFont typeface="Arial"/>
              <a:buNone/>
            </a:pPr>
            <a:r>
              <a:t/>
            </a:r>
            <a:endParaRPr sz="2100">
              <a:latin typeface="Arial"/>
              <a:ea typeface="Arial"/>
              <a:cs typeface="Arial"/>
              <a:sym typeface="Arial"/>
            </a:endParaRPr>
          </a:p>
          <a:p>
            <a:pPr indent="-349250" lvl="0" marL="355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Char char="•"/>
            </a:pPr>
            <a:r>
              <a:rPr lang="en" sz="2100">
                <a:latin typeface="Arial"/>
                <a:ea typeface="Arial"/>
                <a:cs typeface="Arial"/>
                <a:sym typeface="Arial"/>
              </a:rPr>
              <a:t>PowerShell</a:t>
            </a:r>
            <a:endParaRPr sz="2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2100"/>
              <a:buFont typeface="Arial"/>
              <a:buNone/>
            </a:pPr>
            <a:r>
              <a:t/>
            </a:r>
            <a:endParaRPr sz="2100">
              <a:latin typeface="Arial"/>
              <a:ea typeface="Arial"/>
              <a:cs typeface="Arial"/>
              <a:sym typeface="Arial"/>
            </a:endParaRPr>
          </a:p>
          <a:p>
            <a:pPr indent="-349250" lvl="0" marL="355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Char char="•"/>
            </a:pPr>
            <a:r>
              <a:rPr lang="en" sz="2100">
                <a:latin typeface="Arial"/>
                <a:ea typeface="Arial"/>
                <a:cs typeface="Arial"/>
                <a:sym typeface="Arial"/>
              </a:rPr>
              <a:t>F</a:t>
            </a:r>
            <a:endParaRPr sz="21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25" name="Google Shape;925;p10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8501" y="4597070"/>
            <a:ext cx="147638" cy="190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9" name="Shape 9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0" name="Google Shape;930;p107"/>
          <p:cNvSpPr txBox="1"/>
          <p:nvPr>
            <p:ph type="title"/>
          </p:nvPr>
        </p:nvSpPr>
        <p:spPr>
          <a:xfrm>
            <a:off x="158039" y="78961"/>
            <a:ext cx="2157889" cy="5910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Cold Start</a:t>
            </a:r>
            <a:endParaRPr/>
          </a:p>
        </p:txBody>
      </p:sp>
      <p:sp>
        <p:nvSpPr>
          <p:cNvPr id="931" name="Google Shape;931;p107"/>
          <p:cNvSpPr txBox="1"/>
          <p:nvPr/>
        </p:nvSpPr>
        <p:spPr>
          <a:xfrm>
            <a:off x="497966" y="1310639"/>
            <a:ext cx="8279606" cy="35399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050">
            <a:spAutoFit/>
          </a:bodyPr>
          <a:lstStyle/>
          <a:p>
            <a:pPr indent="-349250" lvl="0" marL="355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Char char="•"/>
            </a:pPr>
            <a:r>
              <a:rPr lang="en" sz="2100">
                <a:latin typeface="Arial"/>
                <a:ea typeface="Arial"/>
                <a:cs typeface="Arial"/>
                <a:sym typeface="Arial"/>
              </a:rPr>
              <a:t>Azure Functions are completely managed by Azure</a:t>
            </a:r>
            <a:endParaRPr sz="2100">
              <a:latin typeface="Arial"/>
              <a:ea typeface="Arial"/>
              <a:cs typeface="Arial"/>
              <a:sym typeface="Arial"/>
            </a:endParaRPr>
          </a:p>
          <a:p>
            <a:pPr indent="-349250" lvl="0" marL="355600" marR="0" rtl="0" algn="l">
              <a:lnSpc>
                <a:spcPct val="240000"/>
              </a:lnSpc>
              <a:spcBef>
                <a:spcPts val="600"/>
              </a:spcBef>
              <a:spcAft>
                <a:spcPts val="0"/>
              </a:spcAft>
              <a:buSzPts val="2100"/>
              <a:buFont typeface="Arial"/>
              <a:buChar char="•"/>
            </a:pPr>
            <a:r>
              <a:rPr lang="en" sz="2100">
                <a:latin typeface="Arial"/>
                <a:ea typeface="Arial"/>
                <a:cs typeface="Arial"/>
                <a:sym typeface="Arial"/>
              </a:rPr>
              <a:t>After some time of inactivity Azure might take down the Function’s host</a:t>
            </a:r>
            <a:endParaRPr sz="2100">
              <a:latin typeface="Arial"/>
              <a:ea typeface="Arial"/>
              <a:cs typeface="Arial"/>
              <a:sym typeface="Arial"/>
            </a:endParaRPr>
          </a:p>
          <a:p>
            <a:pPr indent="-349250" lvl="0" marL="355600" rtl="0" algn="l">
              <a:lnSpc>
                <a:spcPct val="100000"/>
              </a:lnSpc>
              <a:spcBef>
                <a:spcPts val="1900"/>
              </a:spcBef>
              <a:spcAft>
                <a:spcPts val="0"/>
              </a:spcAft>
              <a:buSzPts val="2100"/>
              <a:buFont typeface="Arial"/>
              <a:buChar char="•"/>
            </a:pPr>
            <a:r>
              <a:rPr lang="en" sz="2100">
                <a:latin typeface="Arial"/>
                <a:ea typeface="Arial"/>
                <a:cs typeface="Arial"/>
                <a:sym typeface="Arial"/>
              </a:rPr>
              <a:t>The next activation of the Function will take time</a:t>
            </a:r>
            <a:endParaRPr sz="2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2100"/>
              <a:buFont typeface="Arial"/>
              <a:buNone/>
            </a:pPr>
            <a:r>
              <a:t/>
            </a:r>
            <a:endParaRPr sz="2100">
              <a:latin typeface="Arial"/>
              <a:ea typeface="Arial"/>
              <a:cs typeface="Arial"/>
              <a:sym typeface="Arial"/>
            </a:endParaRPr>
          </a:p>
          <a:p>
            <a:pPr indent="-349250" lvl="1" marL="6985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Char char="•"/>
            </a:pPr>
            <a:r>
              <a:rPr lang="en" sz="2100">
                <a:latin typeface="Arial"/>
                <a:ea typeface="Arial"/>
                <a:cs typeface="Arial"/>
                <a:sym typeface="Arial"/>
              </a:rPr>
              <a:t>2-3 seconds before the code runs</a:t>
            </a:r>
            <a:endParaRPr sz="2100">
              <a:latin typeface="Arial"/>
              <a:ea typeface="Arial"/>
              <a:cs typeface="Arial"/>
              <a:sym typeface="Arial"/>
            </a:endParaRPr>
          </a:p>
          <a:p>
            <a:pPr indent="0" lvl="1" marL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2100"/>
              <a:buFont typeface="Arial"/>
              <a:buNone/>
            </a:pPr>
            <a:r>
              <a:t/>
            </a:r>
            <a:endParaRPr sz="2100">
              <a:latin typeface="Arial"/>
              <a:ea typeface="Arial"/>
              <a:cs typeface="Arial"/>
              <a:sym typeface="Arial"/>
            </a:endParaRPr>
          </a:p>
          <a:p>
            <a:pPr indent="-349250" lvl="0" marL="355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Char char="•"/>
            </a:pPr>
            <a:r>
              <a:rPr lang="en" sz="2100">
                <a:latin typeface="Arial"/>
                <a:ea typeface="Arial"/>
                <a:cs typeface="Arial"/>
                <a:sym typeface="Arial"/>
              </a:rPr>
              <a:t>A problem mainly for HTTP-Triggered functions</a:t>
            </a:r>
            <a:endParaRPr sz="21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5" name="Shape 9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6" name="Google Shape;936;p108"/>
          <p:cNvSpPr txBox="1"/>
          <p:nvPr>
            <p:ph type="title"/>
          </p:nvPr>
        </p:nvSpPr>
        <p:spPr>
          <a:xfrm>
            <a:off x="158039" y="78961"/>
            <a:ext cx="2157889" cy="5910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Cold Start</a:t>
            </a:r>
            <a:endParaRPr/>
          </a:p>
        </p:txBody>
      </p:sp>
      <p:pic>
        <p:nvPicPr>
          <p:cNvPr id="937" name="Google Shape;937;p10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" y="1072133"/>
            <a:ext cx="7315200" cy="3821049"/>
          </a:xfrm>
          <a:prstGeom prst="rect">
            <a:avLst/>
          </a:prstGeom>
          <a:noFill/>
          <a:ln>
            <a:noFill/>
          </a:ln>
        </p:spPr>
      </p:pic>
      <p:sp>
        <p:nvSpPr>
          <p:cNvPr id="938" name="Google Shape;938;p108"/>
          <p:cNvSpPr txBox="1"/>
          <p:nvPr/>
        </p:nvSpPr>
        <p:spPr>
          <a:xfrm>
            <a:off x="2244470" y="4930063"/>
            <a:ext cx="4646771" cy="1795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Calibri"/>
                <a:ea typeface="Calibri"/>
                <a:cs typeface="Calibri"/>
                <a:sym typeface="Calibri"/>
              </a:rPr>
              <a:t>Source: </a:t>
            </a:r>
            <a:r>
              <a:rPr lang="en" sz="11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https://azure.microsoft.com/en-us/blog/understanding-serverless-cold-start/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2" name="Shape 9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3" name="Google Shape;943;p109"/>
          <p:cNvSpPr txBox="1"/>
          <p:nvPr>
            <p:ph type="title"/>
          </p:nvPr>
        </p:nvSpPr>
        <p:spPr>
          <a:xfrm>
            <a:off x="158039" y="78961"/>
            <a:ext cx="2157889" cy="5910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Cold Start</a:t>
            </a:r>
            <a:endParaRPr/>
          </a:p>
        </p:txBody>
      </p:sp>
      <p:sp>
        <p:nvSpPr>
          <p:cNvPr id="944" name="Google Shape;944;p109"/>
          <p:cNvSpPr txBox="1"/>
          <p:nvPr/>
        </p:nvSpPr>
        <p:spPr>
          <a:xfrm>
            <a:off x="497966" y="1310639"/>
            <a:ext cx="4069080" cy="9791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050">
            <a:spAutoFit/>
          </a:bodyPr>
          <a:lstStyle/>
          <a:p>
            <a:pPr indent="-349250" lvl="0" marL="355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Char char="•"/>
            </a:pPr>
            <a:r>
              <a:rPr lang="en" sz="2100">
                <a:latin typeface="Arial"/>
                <a:ea typeface="Arial"/>
                <a:cs typeface="Arial"/>
                <a:sym typeface="Arial"/>
              </a:rPr>
              <a:t>How to avoid cold start?</a:t>
            </a:r>
            <a:endParaRPr sz="2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2100"/>
              <a:buFont typeface="Arial"/>
              <a:buNone/>
            </a:pPr>
            <a:r>
              <a:t/>
            </a:r>
            <a:endParaRPr sz="2100">
              <a:latin typeface="Arial"/>
              <a:ea typeface="Arial"/>
              <a:cs typeface="Arial"/>
              <a:sym typeface="Arial"/>
            </a:endParaRPr>
          </a:p>
          <a:p>
            <a:pPr indent="-349250" lvl="1" marL="6985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Char char="•"/>
            </a:pPr>
            <a:r>
              <a:rPr lang="en" sz="2100">
                <a:latin typeface="Arial"/>
                <a:ea typeface="Arial"/>
                <a:cs typeface="Arial"/>
                <a:sym typeface="Arial"/>
              </a:rPr>
              <a:t>Select the right hosting plan</a:t>
            </a:r>
            <a:endParaRPr sz="21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8" name="Shape 9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9" name="Google Shape;949;p110"/>
          <p:cNvSpPr txBox="1"/>
          <p:nvPr>
            <p:ph type="title"/>
          </p:nvPr>
        </p:nvSpPr>
        <p:spPr>
          <a:xfrm>
            <a:off x="158039" y="78961"/>
            <a:ext cx="6577965" cy="5910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Azure Functions Hosting Plans</a:t>
            </a:r>
            <a:endParaRPr/>
          </a:p>
        </p:txBody>
      </p:sp>
      <p:sp>
        <p:nvSpPr>
          <p:cNvPr id="950" name="Google Shape;950;p110"/>
          <p:cNvSpPr txBox="1"/>
          <p:nvPr/>
        </p:nvSpPr>
        <p:spPr>
          <a:xfrm>
            <a:off x="2785491" y="1482470"/>
            <a:ext cx="2533174" cy="548640"/>
          </a:xfrm>
          <a:prstGeom prst="rect">
            <a:avLst/>
          </a:prstGeom>
          <a:solidFill>
            <a:srgbClr val="6F2F9F"/>
          </a:solidFill>
          <a:ln cap="flat" cmpd="sng" w="12700">
            <a:solidFill>
              <a:srgbClr val="2E52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123825">
            <a:spAutoFit/>
          </a:bodyPr>
          <a:lstStyle/>
          <a:p>
            <a:pPr indent="0" lvl="0" marL="533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Consumption</a:t>
            </a:r>
            <a:endParaRPr sz="2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1" name="Google Shape;951;p110"/>
          <p:cNvSpPr txBox="1"/>
          <p:nvPr/>
        </p:nvSpPr>
        <p:spPr>
          <a:xfrm>
            <a:off x="2785491" y="2552318"/>
            <a:ext cx="2533174" cy="548640"/>
          </a:xfrm>
          <a:prstGeom prst="rect">
            <a:avLst/>
          </a:prstGeom>
          <a:solidFill>
            <a:srgbClr val="6F2F9F"/>
          </a:solidFill>
          <a:ln cap="flat" cmpd="sng" w="12700">
            <a:solidFill>
              <a:srgbClr val="2E52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124775">
            <a:spAutoFit/>
          </a:bodyPr>
          <a:lstStyle/>
          <a:p>
            <a:pPr indent="0" lvl="0" marL="762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Premium</a:t>
            </a:r>
            <a:endParaRPr sz="2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2" name="Google Shape;952;p110"/>
          <p:cNvSpPr txBox="1"/>
          <p:nvPr/>
        </p:nvSpPr>
        <p:spPr>
          <a:xfrm>
            <a:off x="2785491" y="3623309"/>
            <a:ext cx="2533174" cy="548640"/>
          </a:xfrm>
          <a:prstGeom prst="rect">
            <a:avLst/>
          </a:prstGeom>
          <a:solidFill>
            <a:srgbClr val="6F2F9F"/>
          </a:solidFill>
          <a:ln cap="flat" cmpd="sng" w="12700">
            <a:solidFill>
              <a:srgbClr val="2E52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124775">
            <a:spAutoFit/>
          </a:bodyPr>
          <a:lstStyle/>
          <a:p>
            <a:pPr indent="0" lvl="0" marL="723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Dedicated</a:t>
            </a:r>
            <a:endParaRPr sz="20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6" name="Shape 9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7" name="Google Shape;957;p111"/>
          <p:cNvSpPr txBox="1"/>
          <p:nvPr>
            <p:ph type="title"/>
          </p:nvPr>
        </p:nvSpPr>
        <p:spPr>
          <a:xfrm>
            <a:off x="158038" y="78961"/>
            <a:ext cx="3900964" cy="5910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Consumption Plan</a:t>
            </a:r>
            <a:endParaRPr/>
          </a:p>
        </p:txBody>
      </p:sp>
      <p:sp>
        <p:nvSpPr>
          <p:cNvPr id="958" name="Google Shape;958;p111"/>
          <p:cNvSpPr txBox="1"/>
          <p:nvPr/>
        </p:nvSpPr>
        <p:spPr>
          <a:xfrm>
            <a:off x="497966" y="1310639"/>
            <a:ext cx="4441031" cy="339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050">
            <a:spAutoFit/>
          </a:bodyPr>
          <a:lstStyle/>
          <a:p>
            <a:pPr indent="-349250" lvl="0" marL="355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Char char="•"/>
            </a:pPr>
            <a:r>
              <a:rPr lang="en" sz="2100">
                <a:latin typeface="Arial"/>
                <a:ea typeface="Arial"/>
                <a:cs typeface="Arial"/>
                <a:sym typeface="Arial"/>
              </a:rPr>
              <a:t>Pay only for what you actually use</a:t>
            </a:r>
            <a:endParaRPr sz="210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59" name="Google Shape;959;p111"/>
          <p:cNvGrpSpPr/>
          <p:nvPr/>
        </p:nvGrpSpPr>
        <p:grpSpPr>
          <a:xfrm>
            <a:off x="257104" y="1674450"/>
            <a:ext cx="8317753" cy="2108828"/>
            <a:chOff x="342805" y="2232600"/>
            <a:chExt cx="11090337" cy="2811771"/>
          </a:xfrm>
        </p:grpSpPr>
        <p:pic>
          <p:nvPicPr>
            <p:cNvPr id="960" name="Google Shape;960;p11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42805" y="2232600"/>
              <a:ext cx="11090337" cy="281177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61" name="Google Shape;961;p11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501396" y="2391156"/>
              <a:ext cx="10593324" cy="2314956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962" name="Google Shape;962;p111"/>
          <p:cNvSpPr txBox="1"/>
          <p:nvPr/>
        </p:nvSpPr>
        <p:spPr>
          <a:xfrm>
            <a:off x="497966" y="3745001"/>
            <a:ext cx="6813233" cy="339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050">
            <a:spAutoFit/>
          </a:bodyPr>
          <a:lstStyle/>
          <a:p>
            <a:pPr indent="-349250" lvl="0" marL="355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Char char="•"/>
            </a:pPr>
            <a:r>
              <a:rPr lang="en" sz="2100">
                <a:latin typeface="Arial"/>
                <a:ea typeface="Arial"/>
                <a:cs typeface="Arial"/>
                <a:sym typeface="Arial"/>
              </a:rPr>
              <a:t>Note: In consumption plan there’s a limit of 1.5GB RAM</a:t>
            </a:r>
            <a:endParaRPr sz="21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6" name="Shape 9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67" name="Google Shape;967;p112"/>
          <p:cNvGrpSpPr/>
          <p:nvPr/>
        </p:nvGrpSpPr>
        <p:grpSpPr>
          <a:xfrm>
            <a:off x="3272409" y="886967"/>
            <a:ext cx="5871591" cy="1242536"/>
            <a:chOff x="4363212" y="1182623"/>
            <a:chExt cx="7828788" cy="1656714"/>
          </a:xfrm>
        </p:grpSpPr>
        <p:pic>
          <p:nvPicPr>
            <p:cNvPr id="968" name="Google Shape;968;p11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4363212" y="1182623"/>
              <a:ext cx="7828788" cy="165671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69" name="Google Shape;969;p11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4558283" y="1377695"/>
              <a:ext cx="7592567" cy="108661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970" name="Google Shape;970;p112"/>
          <p:cNvSpPr txBox="1"/>
          <p:nvPr>
            <p:ph type="title"/>
          </p:nvPr>
        </p:nvSpPr>
        <p:spPr>
          <a:xfrm>
            <a:off x="158038" y="78961"/>
            <a:ext cx="3900964" cy="5910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Consumption Plan</a:t>
            </a:r>
            <a:endParaRPr/>
          </a:p>
        </p:txBody>
      </p:sp>
      <p:sp>
        <p:nvSpPr>
          <p:cNvPr id="971" name="Google Shape;971;p112"/>
          <p:cNvSpPr/>
          <p:nvPr/>
        </p:nvSpPr>
        <p:spPr>
          <a:xfrm>
            <a:off x="2378297" y="2888360"/>
            <a:ext cx="128588" cy="287179"/>
          </a:xfrm>
          <a:custGeom>
            <a:rect b="b" l="l" r="r" t="t"/>
            <a:pathLst>
              <a:path extrusionOk="0" h="382904" w="171450">
                <a:moveTo>
                  <a:pt x="57150" y="210946"/>
                </a:moveTo>
                <a:lnTo>
                  <a:pt x="0" y="210946"/>
                </a:lnTo>
                <a:lnTo>
                  <a:pt x="85725" y="382396"/>
                </a:lnTo>
                <a:lnTo>
                  <a:pt x="157162" y="239521"/>
                </a:lnTo>
                <a:lnTo>
                  <a:pt x="57150" y="239521"/>
                </a:lnTo>
                <a:lnTo>
                  <a:pt x="57150" y="210946"/>
                </a:lnTo>
                <a:close/>
              </a:path>
              <a:path extrusionOk="0" h="382904" w="171450">
                <a:moveTo>
                  <a:pt x="114300" y="0"/>
                </a:moveTo>
                <a:lnTo>
                  <a:pt x="57150" y="0"/>
                </a:lnTo>
                <a:lnTo>
                  <a:pt x="57150" y="239521"/>
                </a:lnTo>
                <a:lnTo>
                  <a:pt x="114300" y="239521"/>
                </a:lnTo>
                <a:lnTo>
                  <a:pt x="114300" y="0"/>
                </a:lnTo>
                <a:close/>
              </a:path>
              <a:path extrusionOk="0" h="382904" w="171450">
                <a:moveTo>
                  <a:pt x="171450" y="210946"/>
                </a:moveTo>
                <a:lnTo>
                  <a:pt x="114300" y="210946"/>
                </a:lnTo>
                <a:lnTo>
                  <a:pt x="114300" y="239521"/>
                </a:lnTo>
                <a:lnTo>
                  <a:pt x="157162" y="239521"/>
                </a:lnTo>
                <a:lnTo>
                  <a:pt x="171450" y="210946"/>
                </a:lnTo>
                <a:close/>
              </a:path>
            </a:pathLst>
          </a:custGeom>
          <a:solidFill>
            <a:srgbClr val="538235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972" name="Google Shape;972;p112"/>
          <p:cNvSpPr txBox="1"/>
          <p:nvPr/>
        </p:nvSpPr>
        <p:spPr>
          <a:xfrm>
            <a:off x="435559" y="1310639"/>
            <a:ext cx="5626894" cy="3018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050">
            <a:spAutoFit/>
          </a:bodyPr>
          <a:lstStyle/>
          <a:p>
            <a:pPr indent="-349250" lvl="0" marL="419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Char char="•"/>
            </a:pPr>
            <a:r>
              <a:rPr lang="en" sz="2100">
                <a:latin typeface="Arial"/>
                <a:ea typeface="Arial"/>
                <a:cs typeface="Arial"/>
                <a:sym typeface="Arial"/>
              </a:rPr>
              <a:t>Calculation example:</a:t>
            </a:r>
            <a:endParaRPr sz="2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100"/>
              <a:buFont typeface="Arial"/>
              <a:buNone/>
            </a:pPr>
            <a:r>
              <a:t/>
            </a:r>
            <a:endParaRPr sz="2100">
              <a:latin typeface="Arial"/>
              <a:ea typeface="Arial"/>
              <a:cs typeface="Arial"/>
              <a:sym typeface="Arial"/>
            </a:endParaRPr>
          </a:p>
          <a:p>
            <a:pPr indent="-355600" lvl="0" marL="419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•"/>
            </a:pPr>
            <a:r>
              <a:rPr lang="en" sz="1400">
                <a:latin typeface="Arial"/>
                <a:ea typeface="Arial"/>
                <a:cs typeface="Arial"/>
                <a:sym typeface="Arial"/>
              </a:rPr>
              <a:t>Executions / month: 9m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55600" lvl="0" marL="4191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Font typeface="Arial"/>
              <a:buChar char="•"/>
            </a:pPr>
            <a:r>
              <a:rPr lang="en" sz="1400">
                <a:latin typeface="Arial"/>
                <a:ea typeface="Arial"/>
                <a:cs typeface="Arial"/>
                <a:sym typeface="Arial"/>
              </a:rPr>
              <a:t>Avg. memory consumed / execution: 800MB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55600" lvl="0" marL="4191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Font typeface="Arial"/>
              <a:buChar char="•"/>
            </a:pPr>
            <a:r>
              <a:rPr lang="en" sz="1400">
                <a:latin typeface="Arial"/>
                <a:ea typeface="Arial"/>
                <a:cs typeface="Arial"/>
                <a:sym typeface="Arial"/>
              </a:rPr>
              <a:t>Avg. execution duration: 1.5s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42900" lvl="0" marL="355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•"/>
            </a:pPr>
            <a:r>
              <a:rPr lang="en" sz="1400">
                <a:latin typeface="Arial"/>
                <a:ea typeface="Arial"/>
                <a:cs typeface="Arial"/>
                <a:sym typeface="Arial"/>
              </a:rPr>
              <a:t>Total seconds: 9m * 1.5s = 13.5m secs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42900" lvl="0" marL="3556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Font typeface="Arial"/>
              <a:buChar char="•"/>
            </a:pPr>
            <a:r>
              <a:rPr lang="en" sz="1400">
                <a:latin typeface="Arial"/>
                <a:ea typeface="Arial"/>
                <a:cs typeface="Arial"/>
                <a:sym typeface="Arial"/>
              </a:rPr>
              <a:t>Total GB / sec = 13.5m * 0.8 = 10.8m – 400K free grant = 10.4m GB/sec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42900" lvl="0" marL="3556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Font typeface="Arial"/>
              <a:buChar char="•"/>
            </a:pPr>
            <a:r>
              <a:rPr lang="en" sz="1400">
                <a:latin typeface="Arial"/>
                <a:ea typeface="Arial"/>
                <a:cs typeface="Arial"/>
                <a:sym typeface="Arial"/>
              </a:rPr>
              <a:t>Payment for execution time: 10.4m * 0.000016$ = 166.4$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42900" lvl="0" marL="3556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Font typeface="Arial"/>
              <a:buChar char="•"/>
            </a:pPr>
            <a:r>
              <a:rPr lang="en" sz="1400">
                <a:latin typeface="Arial"/>
                <a:ea typeface="Arial"/>
                <a:cs typeface="Arial"/>
                <a:sym typeface="Arial"/>
              </a:rPr>
              <a:t>Payment for executions: 9m-1m free grant = 8m * 0.2$ / m = 1.6$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3" name="Google Shape;973;p112"/>
          <p:cNvSpPr txBox="1"/>
          <p:nvPr/>
        </p:nvSpPr>
        <p:spPr>
          <a:xfrm>
            <a:off x="2389442" y="4523422"/>
            <a:ext cx="4045268" cy="478155"/>
          </a:xfrm>
          <a:prstGeom prst="rect">
            <a:avLst/>
          </a:prstGeom>
          <a:noFill/>
          <a:ln cap="flat" cmpd="sng" w="38100">
            <a:solidFill>
              <a:srgbClr val="5382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6715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rgbClr val="538235"/>
                </a:solidFill>
                <a:latin typeface="Arial"/>
                <a:ea typeface="Arial"/>
                <a:cs typeface="Arial"/>
                <a:sym typeface="Arial"/>
              </a:rPr>
              <a:t>Total Payment: 168$</a:t>
            </a:r>
            <a:endParaRPr sz="23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7" name="Shape 9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8" name="Google Shape;978;p113"/>
          <p:cNvSpPr txBox="1"/>
          <p:nvPr>
            <p:ph type="title"/>
          </p:nvPr>
        </p:nvSpPr>
        <p:spPr>
          <a:xfrm>
            <a:off x="158038" y="78961"/>
            <a:ext cx="3900964" cy="5910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Consumption Plan</a:t>
            </a:r>
            <a:endParaRPr/>
          </a:p>
        </p:txBody>
      </p:sp>
      <p:sp>
        <p:nvSpPr>
          <p:cNvPr id="979" name="Google Shape;979;p113"/>
          <p:cNvSpPr txBox="1"/>
          <p:nvPr/>
        </p:nvSpPr>
        <p:spPr>
          <a:xfrm>
            <a:off x="497966" y="1310639"/>
            <a:ext cx="2567940" cy="1619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050">
            <a:spAutoFit/>
          </a:bodyPr>
          <a:lstStyle/>
          <a:p>
            <a:pPr indent="-349250" lvl="0" marL="355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Char char="•"/>
            </a:pPr>
            <a:r>
              <a:rPr lang="en" sz="2100">
                <a:latin typeface="Arial"/>
                <a:ea typeface="Arial"/>
                <a:cs typeface="Arial"/>
                <a:sym typeface="Arial"/>
              </a:rPr>
              <a:t>Downsides:</a:t>
            </a:r>
            <a:endParaRPr sz="2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2100"/>
              <a:buFont typeface="Arial"/>
              <a:buNone/>
            </a:pPr>
            <a:r>
              <a:t/>
            </a:r>
            <a:endParaRPr sz="2100">
              <a:latin typeface="Arial"/>
              <a:ea typeface="Arial"/>
              <a:cs typeface="Arial"/>
              <a:sym typeface="Arial"/>
            </a:endParaRPr>
          </a:p>
          <a:p>
            <a:pPr indent="-349250" lvl="1" marL="6985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Char char="•"/>
            </a:pPr>
            <a:r>
              <a:rPr lang="en" sz="2100">
                <a:latin typeface="Arial"/>
                <a:ea typeface="Arial"/>
                <a:cs typeface="Arial"/>
                <a:sym typeface="Arial"/>
              </a:rPr>
              <a:t>1.5GB RAM limit</a:t>
            </a:r>
            <a:endParaRPr sz="2100">
              <a:latin typeface="Arial"/>
              <a:ea typeface="Arial"/>
              <a:cs typeface="Arial"/>
              <a:sym typeface="Arial"/>
            </a:endParaRPr>
          </a:p>
          <a:p>
            <a:pPr indent="0" lvl="1" marL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2100"/>
              <a:buFont typeface="Arial"/>
              <a:buNone/>
            </a:pPr>
            <a:r>
              <a:t/>
            </a:r>
            <a:endParaRPr sz="2100">
              <a:latin typeface="Arial"/>
              <a:ea typeface="Arial"/>
              <a:cs typeface="Arial"/>
              <a:sym typeface="Arial"/>
            </a:endParaRPr>
          </a:p>
          <a:p>
            <a:pPr indent="-349250" lvl="1" marL="6985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Char char="•"/>
            </a:pPr>
            <a:r>
              <a:rPr lang="en" sz="2100">
                <a:latin typeface="Arial"/>
                <a:ea typeface="Arial"/>
                <a:cs typeface="Arial"/>
                <a:sym typeface="Arial"/>
              </a:rPr>
              <a:t>Cold Start</a:t>
            </a:r>
            <a:endParaRPr sz="21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3" name="Shape 9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4" name="Google Shape;984;p114"/>
          <p:cNvSpPr txBox="1"/>
          <p:nvPr>
            <p:ph type="title"/>
          </p:nvPr>
        </p:nvSpPr>
        <p:spPr>
          <a:xfrm>
            <a:off x="158038" y="78961"/>
            <a:ext cx="3057525" cy="5910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Premium Plan</a:t>
            </a:r>
            <a:endParaRPr/>
          </a:p>
        </p:txBody>
      </p:sp>
      <p:sp>
        <p:nvSpPr>
          <p:cNvPr id="985" name="Google Shape;985;p114"/>
          <p:cNvSpPr txBox="1"/>
          <p:nvPr/>
        </p:nvSpPr>
        <p:spPr>
          <a:xfrm>
            <a:off x="497966" y="1310639"/>
            <a:ext cx="4917757" cy="339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050">
            <a:spAutoFit/>
          </a:bodyPr>
          <a:lstStyle/>
          <a:p>
            <a:pPr indent="-349250" lvl="0" marL="355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Char char="•"/>
            </a:pPr>
            <a:r>
              <a:rPr lang="en" sz="2100">
                <a:latin typeface="Arial"/>
                <a:ea typeface="Arial"/>
                <a:cs typeface="Arial"/>
                <a:sym typeface="Arial"/>
              </a:rPr>
              <a:t>Pay for pre-warmed instances (hosts)</a:t>
            </a:r>
            <a:endParaRPr sz="21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86" name="Google Shape;986;p1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9243" y="2784989"/>
            <a:ext cx="3065554" cy="870551"/>
          </a:xfrm>
          <a:prstGeom prst="rect">
            <a:avLst/>
          </a:prstGeom>
          <a:noFill/>
          <a:ln>
            <a:noFill/>
          </a:ln>
        </p:spPr>
      </p:pic>
      <p:pic>
        <p:nvPicPr>
          <p:cNvPr id="987" name="Google Shape;987;p1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44964" y="1738472"/>
            <a:ext cx="5901021" cy="885353"/>
          </a:xfrm>
          <a:prstGeom prst="rect">
            <a:avLst/>
          </a:prstGeom>
          <a:noFill/>
          <a:ln>
            <a:noFill/>
          </a:ln>
        </p:spPr>
      </p:pic>
      <p:sp>
        <p:nvSpPr>
          <p:cNvPr id="988" name="Google Shape;988;p114"/>
          <p:cNvSpPr txBox="1"/>
          <p:nvPr/>
        </p:nvSpPr>
        <p:spPr>
          <a:xfrm>
            <a:off x="497966" y="3758945"/>
            <a:ext cx="3643313" cy="339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050">
            <a:spAutoFit/>
          </a:bodyPr>
          <a:lstStyle/>
          <a:p>
            <a:pPr indent="-349250" lvl="0" marL="355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Char char="•"/>
            </a:pPr>
            <a:r>
              <a:rPr lang="en" sz="2100">
                <a:latin typeface="Arial"/>
                <a:ea typeface="Arial"/>
                <a:cs typeface="Arial"/>
                <a:sym typeface="Arial"/>
              </a:rPr>
              <a:t>Pay for scale-out instances</a:t>
            </a:r>
            <a:endParaRPr sz="21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2" name="Shape 9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" name="Google Shape;993;p115"/>
          <p:cNvSpPr txBox="1"/>
          <p:nvPr>
            <p:ph type="title"/>
          </p:nvPr>
        </p:nvSpPr>
        <p:spPr>
          <a:xfrm>
            <a:off x="158038" y="78961"/>
            <a:ext cx="3057525" cy="5910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Premium Plan</a:t>
            </a:r>
            <a:endParaRPr/>
          </a:p>
        </p:txBody>
      </p:sp>
      <p:sp>
        <p:nvSpPr>
          <p:cNvPr id="994" name="Google Shape;994;p115"/>
          <p:cNvSpPr txBox="1"/>
          <p:nvPr/>
        </p:nvSpPr>
        <p:spPr>
          <a:xfrm>
            <a:off x="497966" y="1310639"/>
            <a:ext cx="4758690" cy="35399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050">
            <a:spAutoFit/>
          </a:bodyPr>
          <a:lstStyle/>
          <a:p>
            <a:pPr indent="-349250" lvl="0" marL="355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Char char="•"/>
            </a:pPr>
            <a:r>
              <a:rPr lang="en" sz="2100">
                <a:latin typeface="Arial"/>
                <a:ea typeface="Arial"/>
                <a:cs typeface="Arial"/>
                <a:sym typeface="Arial"/>
              </a:rPr>
              <a:t>What you get:</a:t>
            </a:r>
            <a:endParaRPr sz="2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2100"/>
              <a:buFont typeface="Arial"/>
              <a:buNone/>
            </a:pPr>
            <a:r>
              <a:t/>
            </a:r>
            <a:endParaRPr sz="2100">
              <a:latin typeface="Arial"/>
              <a:ea typeface="Arial"/>
              <a:cs typeface="Arial"/>
              <a:sym typeface="Arial"/>
            </a:endParaRPr>
          </a:p>
          <a:p>
            <a:pPr indent="-349250" lvl="1" marL="6985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Char char="•"/>
            </a:pPr>
            <a:r>
              <a:rPr lang="en" sz="2100">
                <a:latin typeface="Arial"/>
                <a:ea typeface="Arial"/>
                <a:cs typeface="Arial"/>
                <a:sym typeface="Arial"/>
              </a:rPr>
              <a:t>No cold starts</a:t>
            </a:r>
            <a:endParaRPr sz="2100">
              <a:latin typeface="Arial"/>
              <a:ea typeface="Arial"/>
              <a:cs typeface="Arial"/>
              <a:sym typeface="Arial"/>
            </a:endParaRPr>
          </a:p>
          <a:p>
            <a:pPr indent="0" lvl="1" marL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2100"/>
              <a:buFont typeface="Arial"/>
              <a:buNone/>
            </a:pPr>
            <a:r>
              <a:t/>
            </a:r>
            <a:endParaRPr sz="2100">
              <a:latin typeface="Arial"/>
              <a:ea typeface="Arial"/>
              <a:cs typeface="Arial"/>
              <a:sym typeface="Arial"/>
            </a:endParaRPr>
          </a:p>
          <a:p>
            <a:pPr indent="-349250" lvl="1" marL="6985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Char char="•"/>
            </a:pPr>
            <a:r>
              <a:rPr lang="en" sz="2100">
                <a:latin typeface="Arial"/>
                <a:ea typeface="Arial"/>
                <a:cs typeface="Arial"/>
                <a:sym typeface="Arial"/>
              </a:rPr>
              <a:t>No memory limit (up to host RAM)</a:t>
            </a:r>
            <a:endParaRPr sz="2100">
              <a:latin typeface="Arial"/>
              <a:ea typeface="Arial"/>
              <a:cs typeface="Arial"/>
              <a:sym typeface="Arial"/>
            </a:endParaRPr>
          </a:p>
          <a:p>
            <a:pPr indent="0" lvl="1" marL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2100"/>
              <a:buFont typeface="Arial"/>
              <a:buNone/>
            </a:pPr>
            <a:r>
              <a:t/>
            </a:r>
            <a:endParaRPr sz="2100">
              <a:latin typeface="Arial"/>
              <a:ea typeface="Arial"/>
              <a:cs typeface="Arial"/>
              <a:sym typeface="Arial"/>
            </a:endParaRPr>
          </a:p>
          <a:p>
            <a:pPr indent="-349250" lvl="1" marL="6985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Char char="•"/>
            </a:pPr>
            <a:r>
              <a:rPr lang="en" sz="2100">
                <a:latin typeface="Arial"/>
                <a:ea typeface="Arial"/>
                <a:cs typeface="Arial"/>
                <a:sym typeface="Arial"/>
              </a:rPr>
              <a:t>Better performance</a:t>
            </a:r>
            <a:endParaRPr sz="2100">
              <a:latin typeface="Arial"/>
              <a:ea typeface="Arial"/>
              <a:cs typeface="Arial"/>
              <a:sym typeface="Arial"/>
            </a:endParaRPr>
          </a:p>
          <a:p>
            <a:pPr indent="0" lvl="1" marL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2100"/>
              <a:buFont typeface="Arial"/>
              <a:buNone/>
            </a:pPr>
            <a:r>
              <a:t/>
            </a:r>
            <a:endParaRPr sz="2100">
              <a:latin typeface="Arial"/>
              <a:ea typeface="Arial"/>
              <a:cs typeface="Arial"/>
              <a:sym typeface="Arial"/>
            </a:endParaRPr>
          </a:p>
          <a:p>
            <a:pPr indent="-349250" lvl="1" marL="6985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Char char="•"/>
            </a:pPr>
            <a:r>
              <a:rPr lang="en" sz="2100">
                <a:latin typeface="Arial"/>
                <a:ea typeface="Arial"/>
                <a:cs typeface="Arial"/>
                <a:sym typeface="Arial"/>
              </a:rPr>
              <a:t>VNet integration</a:t>
            </a:r>
            <a:endParaRPr sz="2100">
              <a:latin typeface="Arial"/>
              <a:ea typeface="Arial"/>
              <a:cs typeface="Arial"/>
              <a:sym typeface="Arial"/>
            </a:endParaRPr>
          </a:p>
          <a:p>
            <a:pPr indent="0" lvl="1" marL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2100"/>
              <a:buFont typeface="Arial"/>
              <a:buNone/>
            </a:pPr>
            <a:r>
              <a:t/>
            </a:r>
            <a:endParaRPr sz="2100">
              <a:latin typeface="Arial"/>
              <a:ea typeface="Arial"/>
              <a:cs typeface="Arial"/>
              <a:sym typeface="Arial"/>
            </a:endParaRPr>
          </a:p>
          <a:p>
            <a:pPr indent="-349250" lvl="1" marL="6985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Char char="•"/>
            </a:pPr>
            <a:r>
              <a:rPr lang="en" sz="2100">
                <a:latin typeface="Arial"/>
                <a:ea typeface="Arial"/>
                <a:cs typeface="Arial"/>
                <a:sym typeface="Arial"/>
              </a:rPr>
              <a:t>Predictable price</a:t>
            </a:r>
            <a:endParaRPr sz="21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8" name="Shape 9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9" name="Google Shape;999;p116"/>
          <p:cNvSpPr txBox="1"/>
          <p:nvPr>
            <p:ph type="title"/>
          </p:nvPr>
        </p:nvSpPr>
        <p:spPr>
          <a:xfrm>
            <a:off x="158038" y="78961"/>
            <a:ext cx="3057525" cy="5910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Premium Plan</a:t>
            </a:r>
            <a:endParaRPr/>
          </a:p>
        </p:txBody>
      </p:sp>
      <p:sp>
        <p:nvSpPr>
          <p:cNvPr id="1000" name="Google Shape;1000;p116"/>
          <p:cNvSpPr/>
          <p:nvPr/>
        </p:nvSpPr>
        <p:spPr>
          <a:xfrm>
            <a:off x="2378297" y="2888360"/>
            <a:ext cx="128588" cy="287179"/>
          </a:xfrm>
          <a:custGeom>
            <a:rect b="b" l="l" r="r" t="t"/>
            <a:pathLst>
              <a:path extrusionOk="0" h="382904" w="171450">
                <a:moveTo>
                  <a:pt x="57150" y="210946"/>
                </a:moveTo>
                <a:lnTo>
                  <a:pt x="0" y="210946"/>
                </a:lnTo>
                <a:lnTo>
                  <a:pt x="85725" y="382396"/>
                </a:lnTo>
                <a:lnTo>
                  <a:pt x="157162" y="239521"/>
                </a:lnTo>
                <a:lnTo>
                  <a:pt x="57150" y="239521"/>
                </a:lnTo>
                <a:lnTo>
                  <a:pt x="57150" y="210946"/>
                </a:lnTo>
                <a:close/>
              </a:path>
              <a:path extrusionOk="0" h="382904" w="171450">
                <a:moveTo>
                  <a:pt x="114300" y="0"/>
                </a:moveTo>
                <a:lnTo>
                  <a:pt x="57150" y="0"/>
                </a:lnTo>
                <a:lnTo>
                  <a:pt x="57150" y="239521"/>
                </a:lnTo>
                <a:lnTo>
                  <a:pt x="114300" y="239521"/>
                </a:lnTo>
                <a:lnTo>
                  <a:pt x="114300" y="0"/>
                </a:lnTo>
                <a:close/>
              </a:path>
              <a:path extrusionOk="0" h="382904" w="171450">
                <a:moveTo>
                  <a:pt x="171450" y="210946"/>
                </a:moveTo>
                <a:lnTo>
                  <a:pt x="114300" y="210946"/>
                </a:lnTo>
                <a:lnTo>
                  <a:pt x="114300" y="239521"/>
                </a:lnTo>
                <a:lnTo>
                  <a:pt x="157162" y="239521"/>
                </a:lnTo>
                <a:lnTo>
                  <a:pt x="171450" y="210946"/>
                </a:lnTo>
                <a:close/>
              </a:path>
            </a:pathLst>
          </a:custGeom>
          <a:solidFill>
            <a:srgbClr val="538235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1001" name="Google Shape;1001;p116"/>
          <p:cNvSpPr txBox="1"/>
          <p:nvPr/>
        </p:nvSpPr>
        <p:spPr>
          <a:xfrm>
            <a:off x="435559" y="1310639"/>
            <a:ext cx="2906553" cy="24012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050">
            <a:spAutoFit/>
          </a:bodyPr>
          <a:lstStyle/>
          <a:p>
            <a:pPr indent="-349250" lvl="0" marL="419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Char char="•"/>
            </a:pPr>
            <a:r>
              <a:rPr lang="en" sz="2100">
                <a:latin typeface="Arial"/>
                <a:ea typeface="Arial"/>
                <a:cs typeface="Arial"/>
                <a:sym typeface="Arial"/>
              </a:rPr>
              <a:t>Calculation example:</a:t>
            </a:r>
            <a:endParaRPr sz="2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100"/>
              <a:buFont typeface="Arial"/>
              <a:buNone/>
            </a:pPr>
            <a:r>
              <a:t/>
            </a:r>
            <a:endParaRPr sz="2100">
              <a:latin typeface="Arial"/>
              <a:ea typeface="Arial"/>
              <a:cs typeface="Arial"/>
              <a:sym typeface="Arial"/>
            </a:endParaRPr>
          </a:p>
          <a:p>
            <a:pPr indent="-355600" lvl="0" marL="419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•"/>
            </a:pPr>
            <a:r>
              <a:rPr lang="en" sz="1400">
                <a:latin typeface="Arial"/>
                <a:ea typeface="Arial"/>
                <a:cs typeface="Arial"/>
                <a:sym typeface="Arial"/>
              </a:rPr>
              <a:t>1 pre-warmed instance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55600" lvl="0" marL="4191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Font typeface="Arial"/>
              <a:buChar char="•"/>
            </a:pPr>
            <a:r>
              <a:rPr lang="en" sz="1400">
                <a:latin typeface="Arial"/>
                <a:ea typeface="Arial"/>
                <a:cs typeface="Arial"/>
                <a:sym typeface="Arial"/>
              </a:rPr>
              <a:t>2 vCpus, 7GB RAM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55600" lvl="0" marL="4191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Font typeface="Arial"/>
              <a:buChar char="•"/>
            </a:pPr>
            <a:r>
              <a:rPr lang="en" sz="1400">
                <a:latin typeface="Arial"/>
                <a:ea typeface="Arial"/>
                <a:cs typeface="Arial"/>
                <a:sym typeface="Arial"/>
              </a:rPr>
              <a:t>No scale out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42900" lvl="0" marL="355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•"/>
            </a:pPr>
            <a:r>
              <a:rPr lang="en" sz="1400">
                <a:latin typeface="Arial"/>
                <a:ea typeface="Arial"/>
                <a:cs typeface="Arial"/>
                <a:sym typeface="Arial"/>
              </a:rPr>
              <a:t>vCPU cost: 123.37 X 2 = 246.74$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42900" lvl="0" marL="3556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Font typeface="Arial"/>
              <a:buChar char="•"/>
            </a:pPr>
            <a:r>
              <a:rPr lang="en" sz="1400">
                <a:latin typeface="Arial"/>
                <a:ea typeface="Arial"/>
                <a:cs typeface="Arial"/>
                <a:sym typeface="Arial"/>
              </a:rPr>
              <a:t>Memory cost: 8.833 X 7 = 61.83$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2" name="Google Shape;1002;p116"/>
          <p:cNvSpPr txBox="1"/>
          <p:nvPr/>
        </p:nvSpPr>
        <p:spPr>
          <a:xfrm>
            <a:off x="2443163" y="3940493"/>
            <a:ext cx="4045268" cy="478155"/>
          </a:xfrm>
          <a:prstGeom prst="rect">
            <a:avLst/>
          </a:prstGeom>
          <a:noFill/>
          <a:ln cap="flat" cmpd="sng" w="38100">
            <a:solidFill>
              <a:srgbClr val="5382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6715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rgbClr val="538235"/>
                </a:solidFill>
                <a:latin typeface="Arial"/>
                <a:ea typeface="Arial"/>
                <a:cs typeface="Arial"/>
                <a:sym typeface="Arial"/>
              </a:rPr>
              <a:t>Total Payment: 308.57$</a:t>
            </a:r>
            <a:endParaRPr sz="23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03" name="Google Shape;1003;p1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69895" y="1097081"/>
            <a:ext cx="5530645" cy="8296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7" name="Shape 10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8" name="Google Shape;1008;p117"/>
          <p:cNvSpPr txBox="1"/>
          <p:nvPr>
            <p:ph type="title"/>
          </p:nvPr>
        </p:nvSpPr>
        <p:spPr>
          <a:xfrm>
            <a:off x="158038" y="78961"/>
            <a:ext cx="3057525" cy="5910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Premium Plan</a:t>
            </a:r>
            <a:endParaRPr/>
          </a:p>
        </p:txBody>
      </p:sp>
      <p:sp>
        <p:nvSpPr>
          <p:cNvPr id="1009" name="Google Shape;1009;p117"/>
          <p:cNvSpPr txBox="1"/>
          <p:nvPr/>
        </p:nvSpPr>
        <p:spPr>
          <a:xfrm>
            <a:off x="497966" y="1310639"/>
            <a:ext cx="2585561" cy="9791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050">
            <a:spAutoFit/>
          </a:bodyPr>
          <a:lstStyle/>
          <a:p>
            <a:pPr indent="-349250" lvl="0" marL="355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Char char="•"/>
            </a:pPr>
            <a:r>
              <a:rPr lang="en" sz="2100">
                <a:latin typeface="Arial"/>
                <a:ea typeface="Arial"/>
                <a:cs typeface="Arial"/>
                <a:sym typeface="Arial"/>
              </a:rPr>
              <a:t>Downsides:</a:t>
            </a:r>
            <a:endParaRPr sz="2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2100"/>
              <a:buFont typeface="Arial"/>
              <a:buNone/>
            </a:pPr>
            <a:r>
              <a:t/>
            </a:r>
            <a:endParaRPr sz="2100">
              <a:latin typeface="Arial"/>
              <a:ea typeface="Arial"/>
              <a:cs typeface="Arial"/>
              <a:sym typeface="Arial"/>
            </a:endParaRPr>
          </a:p>
          <a:p>
            <a:pPr indent="-349250" lvl="1" marL="6985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Char char="•"/>
            </a:pPr>
            <a:r>
              <a:rPr lang="en" sz="2100">
                <a:latin typeface="Arial"/>
                <a:ea typeface="Arial"/>
                <a:cs typeface="Arial"/>
                <a:sym typeface="Arial"/>
              </a:rPr>
              <a:t>More expensive</a:t>
            </a:r>
            <a:endParaRPr sz="21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3" name="Shape 10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4" name="Google Shape;1014;p118"/>
          <p:cNvSpPr txBox="1"/>
          <p:nvPr>
            <p:ph type="title"/>
          </p:nvPr>
        </p:nvSpPr>
        <p:spPr>
          <a:xfrm>
            <a:off x="158038" y="78961"/>
            <a:ext cx="3205163" cy="5910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Dedicated Plan</a:t>
            </a:r>
            <a:endParaRPr/>
          </a:p>
        </p:txBody>
      </p:sp>
      <p:sp>
        <p:nvSpPr>
          <p:cNvPr id="1015" name="Google Shape;1015;p118"/>
          <p:cNvSpPr txBox="1"/>
          <p:nvPr/>
        </p:nvSpPr>
        <p:spPr>
          <a:xfrm>
            <a:off x="497966" y="1310639"/>
            <a:ext cx="5735955" cy="1619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050">
            <a:spAutoFit/>
          </a:bodyPr>
          <a:lstStyle/>
          <a:p>
            <a:pPr indent="-349250" lvl="0" marL="355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Char char="•"/>
            </a:pPr>
            <a:r>
              <a:rPr lang="en" sz="2100">
                <a:latin typeface="Arial"/>
                <a:ea typeface="Arial"/>
                <a:cs typeface="Arial"/>
                <a:sym typeface="Arial"/>
              </a:rPr>
              <a:t>The Functions run on an existing App Service</a:t>
            </a:r>
            <a:endParaRPr sz="2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2100"/>
              <a:buFont typeface="Arial"/>
              <a:buNone/>
            </a:pPr>
            <a:r>
              <a:t/>
            </a:r>
            <a:endParaRPr sz="2100">
              <a:latin typeface="Arial"/>
              <a:ea typeface="Arial"/>
              <a:cs typeface="Arial"/>
              <a:sym typeface="Arial"/>
            </a:endParaRPr>
          </a:p>
          <a:p>
            <a:pPr indent="-349250" lvl="0" marL="355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Char char="•"/>
            </a:pPr>
            <a:r>
              <a:rPr lang="en" sz="2100">
                <a:latin typeface="Arial"/>
                <a:ea typeface="Arial"/>
                <a:cs typeface="Arial"/>
                <a:sym typeface="Arial"/>
              </a:rPr>
              <a:t>Great if server is under-utilized</a:t>
            </a:r>
            <a:endParaRPr sz="2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2100"/>
              <a:buFont typeface="Arial"/>
              <a:buNone/>
            </a:pPr>
            <a:r>
              <a:t/>
            </a:r>
            <a:endParaRPr sz="2100">
              <a:latin typeface="Arial"/>
              <a:ea typeface="Arial"/>
              <a:cs typeface="Arial"/>
              <a:sym typeface="Arial"/>
            </a:endParaRPr>
          </a:p>
          <a:p>
            <a:pPr indent="-349250" lvl="0" marL="355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Char char="•"/>
            </a:pPr>
            <a:r>
              <a:rPr lang="en" sz="2100">
                <a:latin typeface="Arial"/>
                <a:ea typeface="Arial"/>
                <a:cs typeface="Arial"/>
                <a:sym typeface="Arial"/>
              </a:rPr>
              <a:t>No additional costs</a:t>
            </a:r>
            <a:endParaRPr sz="21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9" name="Shape 10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0" name="Google Shape;1020;p119"/>
          <p:cNvSpPr txBox="1"/>
          <p:nvPr>
            <p:ph type="title"/>
          </p:nvPr>
        </p:nvSpPr>
        <p:spPr>
          <a:xfrm>
            <a:off x="158038" y="78961"/>
            <a:ext cx="3205163" cy="5910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Dedicated Plan</a:t>
            </a:r>
            <a:endParaRPr/>
          </a:p>
        </p:txBody>
      </p:sp>
      <p:sp>
        <p:nvSpPr>
          <p:cNvPr id="1021" name="Google Shape;1021;p119"/>
          <p:cNvSpPr txBox="1"/>
          <p:nvPr/>
        </p:nvSpPr>
        <p:spPr>
          <a:xfrm>
            <a:off x="497966" y="1310639"/>
            <a:ext cx="7399020" cy="9791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050">
            <a:spAutoFit/>
          </a:bodyPr>
          <a:lstStyle/>
          <a:p>
            <a:pPr indent="-349250" lvl="0" marL="355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Char char="•"/>
            </a:pPr>
            <a:r>
              <a:rPr lang="en" sz="2100">
                <a:latin typeface="Arial"/>
                <a:ea typeface="Arial"/>
                <a:cs typeface="Arial"/>
                <a:sym typeface="Arial"/>
              </a:rPr>
              <a:t>Make sure Always On setting is activated to avoid disabling</a:t>
            </a:r>
            <a:endParaRPr sz="2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Arial"/>
              <a:ea typeface="Arial"/>
              <a:cs typeface="Arial"/>
              <a:sym typeface="Arial"/>
            </a:endParaRPr>
          </a:p>
          <a:p>
            <a:pPr indent="0" lvl="0" marL="355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latin typeface="Arial"/>
                <a:ea typeface="Arial"/>
                <a:cs typeface="Arial"/>
                <a:sym typeface="Arial"/>
              </a:rPr>
              <a:t>functions:</a:t>
            </a:r>
            <a:endParaRPr sz="210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022" name="Google Shape;1022;p119"/>
          <p:cNvGrpSpPr/>
          <p:nvPr/>
        </p:nvGrpSpPr>
        <p:grpSpPr>
          <a:xfrm>
            <a:off x="2376272" y="2613729"/>
            <a:ext cx="4850943" cy="1437374"/>
            <a:chOff x="3168362" y="3484972"/>
            <a:chExt cx="6467924" cy="1916499"/>
          </a:xfrm>
        </p:grpSpPr>
        <p:pic>
          <p:nvPicPr>
            <p:cNvPr id="1023" name="Google Shape;1023;p11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168362" y="3484972"/>
              <a:ext cx="6467924" cy="19164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24" name="Google Shape;1024;p11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3326892" y="3643884"/>
              <a:ext cx="5971032" cy="1418844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8" name="Shape 10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9" name="Google Shape;1029;p120"/>
          <p:cNvSpPr txBox="1"/>
          <p:nvPr>
            <p:ph type="title"/>
          </p:nvPr>
        </p:nvSpPr>
        <p:spPr>
          <a:xfrm>
            <a:off x="158038" y="78961"/>
            <a:ext cx="3205163" cy="5910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Dedicated Plan</a:t>
            </a:r>
            <a:endParaRPr/>
          </a:p>
        </p:txBody>
      </p:sp>
      <p:sp>
        <p:nvSpPr>
          <p:cNvPr id="1030" name="Google Shape;1030;p120"/>
          <p:cNvSpPr txBox="1"/>
          <p:nvPr/>
        </p:nvSpPr>
        <p:spPr>
          <a:xfrm>
            <a:off x="497966" y="1310639"/>
            <a:ext cx="2447925" cy="9791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050">
            <a:spAutoFit/>
          </a:bodyPr>
          <a:lstStyle/>
          <a:p>
            <a:pPr indent="-349250" lvl="0" marL="355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Char char="•"/>
            </a:pPr>
            <a:r>
              <a:rPr lang="en" sz="2100">
                <a:latin typeface="Arial"/>
                <a:ea typeface="Arial"/>
                <a:cs typeface="Arial"/>
                <a:sym typeface="Arial"/>
              </a:rPr>
              <a:t>Downsides:</a:t>
            </a:r>
            <a:endParaRPr sz="2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2100"/>
              <a:buFont typeface="Arial"/>
              <a:buNone/>
            </a:pPr>
            <a:r>
              <a:t/>
            </a:r>
            <a:endParaRPr sz="2100">
              <a:latin typeface="Arial"/>
              <a:ea typeface="Arial"/>
              <a:cs typeface="Arial"/>
              <a:sym typeface="Arial"/>
            </a:endParaRPr>
          </a:p>
          <a:p>
            <a:pPr indent="-349250" lvl="1" marL="6985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Char char="•"/>
            </a:pPr>
            <a:r>
              <a:rPr lang="en" sz="2100">
                <a:latin typeface="Arial"/>
                <a:ea typeface="Arial"/>
                <a:cs typeface="Arial"/>
                <a:sym typeface="Arial"/>
              </a:rPr>
              <a:t>No Auto-Scale</a:t>
            </a:r>
            <a:endParaRPr sz="21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4" name="Shape 10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5" name="Google Shape;1035;p121"/>
          <p:cNvSpPr txBox="1"/>
          <p:nvPr>
            <p:ph type="title"/>
          </p:nvPr>
        </p:nvSpPr>
        <p:spPr>
          <a:xfrm>
            <a:off x="158039" y="78961"/>
            <a:ext cx="7938135" cy="12148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Durable Functions</a:t>
            </a:r>
            <a:endParaRPr/>
          </a:p>
        </p:txBody>
      </p:sp>
      <p:sp>
        <p:nvSpPr>
          <p:cNvPr id="1036" name="Google Shape;1036;p121"/>
          <p:cNvSpPr txBox="1"/>
          <p:nvPr/>
        </p:nvSpPr>
        <p:spPr>
          <a:xfrm>
            <a:off x="497966" y="1310639"/>
            <a:ext cx="8145780" cy="2259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050">
            <a:spAutoFit/>
          </a:bodyPr>
          <a:lstStyle/>
          <a:p>
            <a:pPr indent="-349250" lvl="0" marL="355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Char char="•"/>
            </a:pPr>
            <a:r>
              <a:rPr lang="en" sz="2100">
                <a:latin typeface="Arial"/>
                <a:ea typeface="Arial"/>
                <a:cs typeface="Arial"/>
                <a:sym typeface="Arial"/>
              </a:rPr>
              <a:t>Stateful Functions that interact with external resources and keep</a:t>
            </a:r>
            <a:endParaRPr sz="2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2100"/>
              <a:buFont typeface="Arial"/>
              <a:buNone/>
            </a:pPr>
            <a:r>
              <a:t/>
            </a:r>
            <a:endParaRPr sz="2100">
              <a:latin typeface="Arial"/>
              <a:ea typeface="Arial"/>
              <a:cs typeface="Arial"/>
              <a:sym typeface="Arial"/>
            </a:endParaRPr>
          </a:p>
          <a:p>
            <a:pPr indent="0" lvl="0" marL="355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latin typeface="Arial"/>
                <a:ea typeface="Arial"/>
                <a:cs typeface="Arial"/>
                <a:sym typeface="Arial"/>
              </a:rPr>
              <a:t>track of flow</a:t>
            </a:r>
            <a:endParaRPr sz="2100">
              <a:latin typeface="Arial"/>
              <a:ea typeface="Arial"/>
              <a:cs typeface="Arial"/>
              <a:sym typeface="Arial"/>
            </a:endParaRPr>
          </a:p>
          <a:p>
            <a:pPr indent="-349250" lvl="0" marL="355600" marR="3937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Char char="•"/>
            </a:pPr>
            <a:r>
              <a:rPr lang="en" sz="2100">
                <a:latin typeface="Arial"/>
                <a:ea typeface="Arial"/>
                <a:cs typeface="Arial"/>
                <a:sym typeface="Arial"/>
              </a:rPr>
              <a:t>Offer very simple syntax, hide complexities of managing state, retries, etc.</a:t>
            </a:r>
            <a:endParaRPr sz="21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0" name="Shape 10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1" name="Google Shape;1041;p122"/>
          <p:cNvSpPr txBox="1"/>
          <p:nvPr>
            <p:ph type="title"/>
          </p:nvPr>
        </p:nvSpPr>
        <p:spPr>
          <a:xfrm>
            <a:off x="158039" y="78961"/>
            <a:ext cx="7938135" cy="12148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Durable Functions</a:t>
            </a:r>
            <a:endParaRPr/>
          </a:p>
        </p:txBody>
      </p:sp>
      <p:sp>
        <p:nvSpPr>
          <p:cNvPr id="1042" name="Google Shape;1042;p122"/>
          <p:cNvSpPr txBox="1"/>
          <p:nvPr/>
        </p:nvSpPr>
        <p:spPr>
          <a:xfrm>
            <a:off x="497966" y="1310639"/>
            <a:ext cx="7836218" cy="1619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050">
            <a:spAutoFit/>
          </a:bodyPr>
          <a:lstStyle/>
          <a:p>
            <a:pPr indent="-349250" lvl="0" marL="355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Char char="•"/>
            </a:pPr>
            <a:r>
              <a:rPr lang="en" sz="2100">
                <a:latin typeface="Arial"/>
                <a:ea typeface="Arial"/>
                <a:cs typeface="Arial"/>
                <a:sym typeface="Arial"/>
              </a:rPr>
              <a:t>For example:</a:t>
            </a:r>
            <a:endParaRPr sz="2100">
              <a:latin typeface="Arial"/>
              <a:ea typeface="Arial"/>
              <a:cs typeface="Arial"/>
              <a:sym typeface="Arial"/>
            </a:endParaRPr>
          </a:p>
          <a:p>
            <a:pPr indent="-349250" lvl="1" marL="698500" marR="0" rtl="0" algn="l">
              <a:lnSpc>
                <a:spcPct val="240000"/>
              </a:lnSpc>
              <a:spcBef>
                <a:spcPts val="400"/>
              </a:spcBef>
              <a:spcAft>
                <a:spcPts val="0"/>
              </a:spcAft>
              <a:buSzPts val="2100"/>
              <a:buFont typeface="Arial"/>
              <a:buChar char="•"/>
            </a:pPr>
            <a:r>
              <a:rPr lang="en" sz="2100">
                <a:latin typeface="Arial"/>
                <a:ea typeface="Arial"/>
                <a:cs typeface="Arial"/>
                <a:sym typeface="Arial"/>
              </a:rPr>
              <a:t>Function Chaining – call various Functions sequentially, and apply the output of each function to the next one:</a:t>
            </a:r>
            <a:endParaRPr sz="21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43" name="Google Shape;1043;p1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93329" y="3321464"/>
            <a:ext cx="5864734" cy="8137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7" name="Shape 10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" name="Google Shape;1048;p123"/>
          <p:cNvSpPr txBox="1"/>
          <p:nvPr>
            <p:ph type="title"/>
          </p:nvPr>
        </p:nvSpPr>
        <p:spPr>
          <a:xfrm>
            <a:off x="158039" y="78961"/>
            <a:ext cx="7938135" cy="12148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Durable Functions</a:t>
            </a:r>
            <a:endParaRPr/>
          </a:p>
        </p:txBody>
      </p:sp>
      <p:pic>
        <p:nvPicPr>
          <p:cNvPr id="1049" name="Google Shape;1049;p1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69898" y="1223009"/>
            <a:ext cx="5957316" cy="3437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053" name="Shape 10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4" name="Google Shape;1054;p1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33647" y="201266"/>
            <a:ext cx="1071941" cy="323370"/>
          </a:xfrm>
          <a:prstGeom prst="rect">
            <a:avLst/>
          </a:prstGeom>
          <a:noFill/>
          <a:ln>
            <a:noFill/>
          </a:ln>
        </p:spPr>
      </p:pic>
      <p:sp>
        <p:nvSpPr>
          <p:cNvPr id="1055" name="Google Shape;1055;p124"/>
          <p:cNvSpPr txBox="1"/>
          <p:nvPr>
            <p:ph type="title"/>
          </p:nvPr>
        </p:nvSpPr>
        <p:spPr>
          <a:xfrm>
            <a:off x="158039" y="78961"/>
            <a:ext cx="7938135" cy="12148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37950">
            <a:spAutoFit/>
          </a:bodyPr>
          <a:lstStyle/>
          <a:p>
            <a:pPr indent="0" lvl="0" marL="2844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C55A11"/>
                </a:solidFill>
              </a:rPr>
              <a:t>Cloud Architecture</a:t>
            </a:r>
            <a:endParaRPr sz="2900"/>
          </a:p>
        </p:txBody>
      </p:sp>
      <p:pic>
        <p:nvPicPr>
          <p:cNvPr id="1056" name="Google Shape;1056;p1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779132" y="2432332"/>
            <a:ext cx="414908" cy="387248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7" name="Google Shape;1057;p1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57875" y="2432332"/>
            <a:ext cx="414908" cy="387248"/>
          </a:xfrm>
          <a:prstGeom prst="rect">
            <a:avLst/>
          </a:prstGeom>
          <a:noFill/>
          <a:ln>
            <a:noFill/>
          </a:ln>
        </p:spPr>
      </p:pic>
      <p:sp>
        <p:nvSpPr>
          <p:cNvPr id="1058" name="Google Shape;1058;p124"/>
          <p:cNvSpPr txBox="1"/>
          <p:nvPr/>
        </p:nvSpPr>
        <p:spPr>
          <a:xfrm>
            <a:off x="6669690" y="2867406"/>
            <a:ext cx="634841" cy="3167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VM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385622"/>
                </a:solidFill>
                <a:latin typeface="Arial"/>
                <a:ea typeface="Arial"/>
                <a:cs typeface="Arial"/>
                <a:sym typeface="Arial"/>
              </a:rPr>
              <a:t>Catalog App</a:t>
            </a:r>
            <a:endParaRPr sz="9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9" name="Google Shape;1059;p124"/>
          <p:cNvSpPr txBox="1"/>
          <p:nvPr/>
        </p:nvSpPr>
        <p:spPr>
          <a:xfrm>
            <a:off x="5737669" y="2867406"/>
            <a:ext cx="655320" cy="3167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VM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385622"/>
                </a:solidFill>
                <a:latin typeface="Arial"/>
                <a:ea typeface="Arial"/>
                <a:cs typeface="Arial"/>
                <a:sym typeface="Arial"/>
              </a:rPr>
              <a:t>Weather API</a:t>
            </a:r>
            <a:endParaRPr sz="9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60" name="Google Shape;1060;p1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986965" y="2439248"/>
            <a:ext cx="393077" cy="394163"/>
          </a:xfrm>
          <a:prstGeom prst="rect">
            <a:avLst/>
          </a:prstGeom>
          <a:noFill/>
          <a:ln>
            <a:noFill/>
          </a:ln>
        </p:spPr>
      </p:pic>
      <p:sp>
        <p:nvSpPr>
          <p:cNvPr id="1061" name="Google Shape;1061;p124"/>
          <p:cNvSpPr txBox="1"/>
          <p:nvPr/>
        </p:nvSpPr>
        <p:spPr>
          <a:xfrm>
            <a:off x="4794503" y="2867406"/>
            <a:ext cx="736758" cy="3167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127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App Service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127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385622"/>
                </a:solidFill>
                <a:latin typeface="Arial"/>
                <a:ea typeface="Arial"/>
                <a:cs typeface="Arial"/>
                <a:sym typeface="Arial"/>
              </a:rPr>
              <a:t>Inventory App</a:t>
            </a:r>
            <a:endParaRPr sz="9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62" name="Google Shape;1062;p12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019931" y="2368447"/>
            <a:ext cx="468629" cy="416942"/>
          </a:xfrm>
          <a:prstGeom prst="rect">
            <a:avLst/>
          </a:prstGeom>
          <a:noFill/>
          <a:ln>
            <a:noFill/>
          </a:ln>
        </p:spPr>
      </p:pic>
      <p:sp>
        <p:nvSpPr>
          <p:cNvPr id="1063" name="Google Shape;1063;p124"/>
          <p:cNvSpPr txBox="1"/>
          <p:nvPr/>
        </p:nvSpPr>
        <p:spPr>
          <a:xfrm>
            <a:off x="4023455" y="2867406"/>
            <a:ext cx="465772" cy="3167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AKS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385622"/>
                </a:solidFill>
                <a:latin typeface="Arial"/>
                <a:ea typeface="Arial"/>
                <a:cs typeface="Arial"/>
                <a:sym typeface="Arial"/>
              </a:rPr>
              <a:t>Cart App</a:t>
            </a:r>
            <a:endParaRPr sz="90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064" name="Google Shape;1064;p124"/>
          <p:cNvGrpSpPr/>
          <p:nvPr/>
        </p:nvGrpSpPr>
        <p:grpSpPr>
          <a:xfrm>
            <a:off x="3750850" y="2566988"/>
            <a:ext cx="751426" cy="1348913"/>
            <a:chOff x="5001133" y="3422650"/>
            <a:chExt cx="1001902" cy="1798550"/>
          </a:xfrm>
        </p:grpSpPr>
        <p:pic>
          <p:nvPicPr>
            <p:cNvPr id="1065" name="Google Shape;1065;p124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5378196" y="4656088"/>
              <a:ext cx="624839" cy="56511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66" name="Google Shape;1066;p124"/>
            <p:cNvSpPr/>
            <p:nvPr/>
          </p:nvSpPr>
          <p:spPr>
            <a:xfrm>
              <a:off x="5001133" y="3422650"/>
              <a:ext cx="377825" cy="1529080"/>
            </a:xfrm>
            <a:custGeom>
              <a:rect b="b" l="l" r="r" t="t"/>
              <a:pathLst>
                <a:path extrusionOk="0" h="1529079" w="377825">
                  <a:moveTo>
                    <a:pt x="301370" y="1452372"/>
                  </a:moveTo>
                  <a:lnTo>
                    <a:pt x="301370" y="1528572"/>
                  </a:lnTo>
                  <a:lnTo>
                    <a:pt x="364870" y="1496822"/>
                  </a:lnTo>
                  <a:lnTo>
                    <a:pt x="314070" y="1496822"/>
                  </a:lnTo>
                  <a:lnTo>
                    <a:pt x="314070" y="1484122"/>
                  </a:lnTo>
                  <a:lnTo>
                    <a:pt x="364870" y="1484122"/>
                  </a:lnTo>
                  <a:lnTo>
                    <a:pt x="301370" y="1452372"/>
                  </a:lnTo>
                  <a:close/>
                </a:path>
                <a:path extrusionOk="0" h="1529079" w="377825">
                  <a:moveTo>
                    <a:pt x="358775" y="0"/>
                  </a:moveTo>
                  <a:lnTo>
                    <a:pt x="0" y="0"/>
                  </a:lnTo>
                  <a:lnTo>
                    <a:pt x="0" y="1496822"/>
                  </a:lnTo>
                  <a:lnTo>
                    <a:pt x="301370" y="1496822"/>
                  </a:lnTo>
                  <a:lnTo>
                    <a:pt x="301370" y="1490472"/>
                  </a:lnTo>
                  <a:lnTo>
                    <a:pt x="12700" y="1490472"/>
                  </a:lnTo>
                  <a:lnTo>
                    <a:pt x="6350" y="1484122"/>
                  </a:lnTo>
                  <a:lnTo>
                    <a:pt x="12700" y="1484122"/>
                  </a:lnTo>
                  <a:lnTo>
                    <a:pt x="12700" y="12700"/>
                  </a:lnTo>
                  <a:lnTo>
                    <a:pt x="6350" y="12700"/>
                  </a:lnTo>
                  <a:lnTo>
                    <a:pt x="12700" y="6350"/>
                  </a:lnTo>
                  <a:lnTo>
                    <a:pt x="358775" y="6350"/>
                  </a:lnTo>
                  <a:lnTo>
                    <a:pt x="358775" y="0"/>
                  </a:lnTo>
                  <a:close/>
                </a:path>
                <a:path extrusionOk="0" h="1529079" w="377825">
                  <a:moveTo>
                    <a:pt x="364870" y="1484122"/>
                  </a:moveTo>
                  <a:lnTo>
                    <a:pt x="314070" y="1484122"/>
                  </a:lnTo>
                  <a:lnTo>
                    <a:pt x="314070" y="1496822"/>
                  </a:lnTo>
                  <a:lnTo>
                    <a:pt x="364870" y="1496822"/>
                  </a:lnTo>
                  <a:lnTo>
                    <a:pt x="377570" y="1490472"/>
                  </a:lnTo>
                  <a:lnTo>
                    <a:pt x="364870" y="1484122"/>
                  </a:lnTo>
                  <a:close/>
                </a:path>
                <a:path extrusionOk="0" h="1529079" w="377825">
                  <a:moveTo>
                    <a:pt x="12700" y="1484122"/>
                  </a:moveTo>
                  <a:lnTo>
                    <a:pt x="6350" y="1484122"/>
                  </a:lnTo>
                  <a:lnTo>
                    <a:pt x="12700" y="1490472"/>
                  </a:lnTo>
                  <a:lnTo>
                    <a:pt x="12700" y="1484122"/>
                  </a:lnTo>
                  <a:close/>
                </a:path>
                <a:path extrusionOk="0" h="1529079" w="377825">
                  <a:moveTo>
                    <a:pt x="301370" y="1484122"/>
                  </a:moveTo>
                  <a:lnTo>
                    <a:pt x="12700" y="1484122"/>
                  </a:lnTo>
                  <a:lnTo>
                    <a:pt x="12700" y="1490472"/>
                  </a:lnTo>
                  <a:lnTo>
                    <a:pt x="301370" y="1490472"/>
                  </a:lnTo>
                  <a:lnTo>
                    <a:pt x="301370" y="1484122"/>
                  </a:lnTo>
                  <a:close/>
                </a:path>
                <a:path extrusionOk="0" h="1529079" w="377825">
                  <a:moveTo>
                    <a:pt x="12700" y="6350"/>
                  </a:moveTo>
                  <a:lnTo>
                    <a:pt x="6350" y="12700"/>
                  </a:lnTo>
                  <a:lnTo>
                    <a:pt x="12700" y="12700"/>
                  </a:lnTo>
                  <a:lnTo>
                    <a:pt x="12700" y="6350"/>
                  </a:lnTo>
                  <a:close/>
                </a:path>
                <a:path extrusionOk="0" h="1529079" w="377825">
                  <a:moveTo>
                    <a:pt x="358775" y="6350"/>
                  </a:moveTo>
                  <a:lnTo>
                    <a:pt x="12700" y="6350"/>
                  </a:lnTo>
                  <a:lnTo>
                    <a:pt x="12700" y="12700"/>
                  </a:lnTo>
                  <a:lnTo>
                    <a:pt x="358775" y="12700"/>
                  </a:lnTo>
                  <a:lnTo>
                    <a:pt x="358775" y="635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00"/>
            </a:p>
          </p:txBody>
        </p:sp>
      </p:grpSp>
      <p:sp>
        <p:nvSpPr>
          <p:cNvPr id="1067" name="Google Shape;1067;p124"/>
          <p:cNvSpPr txBox="1"/>
          <p:nvPr/>
        </p:nvSpPr>
        <p:spPr>
          <a:xfrm>
            <a:off x="3952113" y="3943635"/>
            <a:ext cx="631983" cy="3167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ACR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385622"/>
                </a:solidFill>
                <a:latin typeface="Arial"/>
                <a:ea typeface="Arial"/>
                <a:cs typeface="Arial"/>
                <a:sym typeface="Arial"/>
              </a:rPr>
              <a:t>Cart Docker</a:t>
            </a:r>
            <a:endParaRPr sz="9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68" name="Google Shape;1068;p12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2939813" y="2456441"/>
            <a:ext cx="465184" cy="416942"/>
          </a:xfrm>
          <a:prstGeom prst="rect">
            <a:avLst/>
          </a:prstGeom>
          <a:noFill/>
          <a:ln>
            <a:noFill/>
          </a:ln>
        </p:spPr>
      </p:pic>
      <p:sp>
        <p:nvSpPr>
          <p:cNvPr id="1069" name="Google Shape;1069;p124"/>
          <p:cNvSpPr txBox="1"/>
          <p:nvPr/>
        </p:nvSpPr>
        <p:spPr>
          <a:xfrm>
            <a:off x="2658903" y="2867406"/>
            <a:ext cx="917257" cy="3167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635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Function App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127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385622"/>
                </a:solidFill>
                <a:latin typeface="Arial"/>
                <a:ea typeface="Arial"/>
                <a:cs typeface="Arial"/>
                <a:sym typeface="Arial"/>
              </a:rPr>
              <a:t>Order Processing</a:t>
            </a:r>
            <a:endParaRPr sz="9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3" name="Shape 10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4" name="Google Shape;1074;p125"/>
          <p:cNvSpPr txBox="1"/>
          <p:nvPr>
            <p:ph type="title"/>
          </p:nvPr>
        </p:nvSpPr>
        <p:spPr>
          <a:xfrm>
            <a:off x="158039" y="78961"/>
            <a:ext cx="7938135" cy="12148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to Choose Compute Type?</a:t>
            </a:r>
            <a:endParaRPr/>
          </a:p>
        </p:txBody>
      </p:sp>
      <p:pic>
        <p:nvPicPr>
          <p:cNvPr id="1075" name="Google Shape;1075;p1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92883" y="1245881"/>
            <a:ext cx="5158159" cy="33110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9" name="Shape 10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0" name="Google Shape;1080;p126"/>
          <p:cNvSpPr txBox="1"/>
          <p:nvPr>
            <p:ph type="title"/>
          </p:nvPr>
        </p:nvSpPr>
        <p:spPr>
          <a:xfrm>
            <a:off x="158039" y="78961"/>
            <a:ext cx="7938135" cy="12148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More Compute Options</a:t>
            </a:r>
            <a:endParaRPr/>
          </a:p>
        </p:txBody>
      </p:sp>
      <p:sp>
        <p:nvSpPr>
          <p:cNvPr id="1081" name="Google Shape;1081;p126"/>
          <p:cNvSpPr txBox="1"/>
          <p:nvPr/>
        </p:nvSpPr>
        <p:spPr>
          <a:xfrm>
            <a:off x="497966" y="1310639"/>
            <a:ext cx="6829901" cy="1619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050">
            <a:spAutoFit/>
          </a:bodyPr>
          <a:lstStyle/>
          <a:p>
            <a:pPr indent="-349250" lvl="0" marL="355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Char char="•"/>
            </a:pPr>
            <a:r>
              <a:rPr lang="en" sz="2100">
                <a:latin typeface="Arial"/>
                <a:ea typeface="Arial"/>
                <a:cs typeface="Arial"/>
                <a:sym typeface="Arial"/>
              </a:rPr>
              <a:t>Logic Apps</a:t>
            </a:r>
            <a:endParaRPr sz="2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2100"/>
              <a:buFont typeface="Arial"/>
              <a:buNone/>
            </a:pPr>
            <a:r>
              <a:t/>
            </a:r>
            <a:endParaRPr sz="2100">
              <a:latin typeface="Arial"/>
              <a:ea typeface="Arial"/>
              <a:cs typeface="Arial"/>
              <a:sym typeface="Arial"/>
            </a:endParaRPr>
          </a:p>
          <a:p>
            <a:pPr indent="-349250" lvl="0" marL="355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Char char="•"/>
            </a:pPr>
            <a:r>
              <a:rPr lang="en" sz="2100">
                <a:latin typeface="Arial"/>
                <a:ea typeface="Arial"/>
                <a:cs typeface="Arial"/>
                <a:sym typeface="Arial"/>
              </a:rPr>
              <a:t>ACI – Azure Container Instance</a:t>
            </a:r>
            <a:endParaRPr sz="2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2100"/>
              <a:buFont typeface="Arial"/>
              <a:buNone/>
            </a:pPr>
            <a:r>
              <a:t/>
            </a:r>
            <a:endParaRPr sz="2100">
              <a:latin typeface="Arial"/>
              <a:ea typeface="Arial"/>
              <a:cs typeface="Arial"/>
              <a:sym typeface="Arial"/>
            </a:endParaRPr>
          </a:p>
          <a:p>
            <a:pPr indent="-349250" lvl="0" marL="355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Char char="•"/>
            </a:pPr>
            <a:r>
              <a:rPr lang="en" sz="2100">
                <a:latin typeface="Arial"/>
                <a:ea typeface="Arial"/>
                <a:cs typeface="Arial"/>
                <a:sym typeface="Arial"/>
              </a:rPr>
              <a:t>App Service Container – Deploy docker to App Service</a:t>
            </a:r>
            <a:endParaRPr sz="21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