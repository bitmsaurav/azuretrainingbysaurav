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4" r:id="rId4"/>
    <p:sldMasterId id="214748366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953318c99_2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b953318c99_2_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953318c99_2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b953318c99_2_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953318c99_2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b953318c99_2_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953318c99_2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b953318c99_2_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953318c99_2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b953318c99_2_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953318c99_2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b953318c99_2_7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953318c99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b953318c99_2_7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953318c99_2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b953318c99_2_7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953318c99_2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b953318c99_2_9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953318c99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b953318c99_2_9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953318c99_2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b953318c99_2_10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953318c99_2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b953318c99_2_1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 type="obj">
  <p:cSld name="OBJECT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00" y="814958"/>
            <a:ext cx="9021699" cy="14516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/>
          <p:nvPr>
            <p:ph type="title"/>
          </p:nvPr>
        </p:nvSpPr>
        <p:spPr>
          <a:xfrm>
            <a:off x="158039" y="78961"/>
            <a:ext cx="3267075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800">
                <a:solidFill>
                  <a:srgbClr val="532708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497966" y="1310639"/>
            <a:ext cx="8323898" cy="353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1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3524" y="556061"/>
            <a:ext cx="7386638" cy="35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800">
                <a:solidFill>
                  <a:srgbClr val="532708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1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158039" y="78961"/>
            <a:ext cx="3267075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800">
                <a:solidFill>
                  <a:srgbClr val="532708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158039" y="78961"/>
            <a:ext cx="3267075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800">
                <a:solidFill>
                  <a:srgbClr val="532708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58039" y="78961"/>
            <a:ext cx="3267075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800" u="none" cap="none" strike="noStrike">
                <a:solidFill>
                  <a:srgbClr val="532708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97966" y="1310639"/>
            <a:ext cx="8323898" cy="353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1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1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8.jpg"/><Relationship Id="rId5" Type="http://schemas.openxmlformats.org/officeDocument/2006/relationships/image" Target="../media/image12.png"/><Relationship Id="rId6" Type="http://schemas.openxmlformats.org/officeDocument/2006/relationships/image" Target="../media/image9.jpg"/><Relationship Id="rId7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azure.microsoft.com/en-us/global-infrastructure/geographies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hyperlink" Target="https://azure.microsoft.com/en-us/global-infrastructure/geographies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Relationship Id="rId6" Type="http://schemas.openxmlformats.org/officeDocument/2006/relationships/hyperlink" Target="https://azure.microsoft.com/en-us/global-infrastructure/geographies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azure.microsoft.com/en-us/servic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620725" y="359854"/>
            <a:ext cx="5458778" cy="1848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001F5F"/>
                </a:solidFill>
              </a:rPr>
              <a:t>Introduction to Microsoft Azure</a:t>
            </a:r>
            <a:endParaRPr sz="6000"/>
          </a:p>
        </p:txBody>
      </p:sp>
      <p:sp>
        <p:nvSpPr>
          <p:cNvPr id="91" name="Google Shape;91;p19"/>
          <p:cNvSpPr txBox="1"/>
          <p:nvPr/>
        </p:nvSpPr>
        <p:spPr>
          <a:xfrm>
            <a:off x="333375" y="4262100"/>
            <a:ext cx="39906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001F5F"/>
                </a:solidFill>
                <a:latin typeface="Lucida Sans"/>
                <a:ea typeface="Lucida Sans"/>
                <a:cs typeface="Lucida Sans"/>
                <a:sym typeface="Lucida Sans"/>
              </a:rPr>
              <a:t>Saurav Kunal</a:t>
            </a:r>
            <a:endParaRPr sz="2300">
              <a:latin typeface="Lucida Sans"/>
              <a:ea typeface="Lucida Sans"/>
              <a:cs typeface="Lucida Sans"/>
              <a:sym typeface="Lucida Sans"/>
            </a:endParaRPr>
          </a:p>
        </p:txBody>
      </p:sp>
      <p:grpSp>
        <p:nvGrpSpPr>
          <p:cNvPr id="92" name="Google Shape;92;p19"/>
          <p:cNvGrpSpPr/>
          <p:nvPr/>
        </p:nvGrpSpPr>
        <p:grpSpPr>
          <a:xfrm>
            <a:off x="328040" y="452628"/>
            <a:ext cx="114300" cy="3535680"/>
            <a:chOff x="437387" y="603504"/>
            <a:chExt cx="152400" cy="4714240"/>
          </a:xfrm>
        </p:grpSpPr>
        <p:sp>
          <p:nvSpPr>
            <p:cNvPr id="93" name="Google Shape;93;p19"/>
            <p:cNvSpPr/>
            <p:nvPr/>
          </p:nvSpPr>
          <p:spPr>
            <a:xfrm>
              <a:off x="437387" y="603504"/>
              <a:ext cx="152400" cy="4714240"/>
            </a:xfrm>
            <a:custGeom>
              <a:rect b="b" l="l" r="r" t="t"/>
              <a:pathLst>
                <a:path extrusionOk="0" h="4714240" w="152400">
                  <a:moveTo>
                    <a:pt x="152400" y="0"/>
                  </a:moveTo>
                  <a:lnTo>
                    <a:pt x="0" y="0"/>
                  </a:lnTo>
                  <a:lnTo>
                    <a:pt x="0" y="4713732"/>
                  </a:lnTo>
                  <a:lnTo>
                    <a:pt x="152400" y="4713732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1F5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94" name="Google Shape;94;p19"/>
            <p:cNvSpPr/>
            <p:nvPr/>
          </p:nvSpPr>
          <p:spPr>
            <a:xfrm>
              <a:off x="437387" y="603504"/>
              <a:ext cx="152400" cy="4714240"/>
            </a:xfrm>
            <a:custGeom>
              <a:rect b="b" l="l" r="r" t="t"/>
              <a:pathLst>
                <a:path extrusionOk="0" h="4714240" w="152400">
                  <a:moveTo>
                    <a:pt x="0" y="4713732"/>
                  </a:moveTo>
                  <a:lnTo>
                    <a:pt x="152400" y="4713732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4713732"/>
                  </a:lnTo>
                  <a:close/>
                </a:path>
              </a:pathLst>
            </a:custGeom>
            <a:noFill/>
            <a:ln cap="flat" cmpd="sng" w="12700">
              <a:solidFill>
                <a:srgbClr val="2E52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pic>
        <p:nvPicPr>
          <p:cNvPr id="95" name="Google Shape;95;p19" title="DSC_0352 (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3200" y="1895350"/>
            <a:ext cx="2759701" cy="324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/>
        </p:nvSpPr>
        <p:spPr>
          <a:xfrm>
            <a:off x="459866" y="1567814"/>
            <a:ext cx="3705225" cy="289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93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Microsoft’s public cloud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93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Announced in October 2008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93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Released in February 2010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93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The 2</a:t>
            </a:r>
            <a:r>
              <a:rPr baseline="30000" lang="en" sz="2100">
                <a:latin typeface="Lucida Sans"/>
                <a:ea typeface="Lucida Sans"/>
                <a:cs typeface="Lucida Sans"/>
                <a:sym typeface="Lucida Sans"/>
              </a:rPr>
              <a:t>nd </a:t>
            </a: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largest public cloud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93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Closing the gap…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101" name="Google Shape;10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7979" y="82296"/>
            <a:ext cx="4286528" cy="12361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/>
        </p:nvSpPr>
        <p:spPr>
          <a:xfrm>
            <a:off x="497966" y="1567814"/>
            <a:ext cx="6624161" cy="2259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36550" lvl="0" marL="342900" marR="25781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First focused on PaaS services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36550" lvl="1" marL="342900" marR="25146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To counter AWS’s IaaS focus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Later added IaaS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Currently offers the largest variety of cloud services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107" name="Google Shape;10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7979" y="82296"/>
            <a:ext cx="4286528" cy="12361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/>
        </p:nvSpPr>
        <p:spPr>
          <a:xfrm>
            <a:off x="497966" y="1567814"/>
            <a:ext cx="1966913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Major clients: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113" name="Google Shape;1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7979" y="82296"/>
            <a:ext cx="4286528" cy="1236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6075" y="2222250"/>
            <a:ext cx="3158011" cy="729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91480" y="1938528"/>
            <a:ext cx="3214688" cy="1282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7759" y="3198114"/>
            <a:ext cx="3015234" cy="822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04169" y="3435329"/>
            <a:ext cx="1486073" cy="151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158039" y="78961"/>
            <a:ext cx="3267075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Regions</a:t>
            </a:r>
            <a:endParaRPr/>
          </a:p>
        </p:txBody>
      </p:sp>
      <p:sp>
        <p:nvSpPr>
          <p:cNvPr id="123" name="Google Shape;123;p23"/>
          <p:cNvSpPr txBox="1"/>
          <p:nvPr/>
        </p:nvSpPr>
        <p:spPr>
          <a:xfrm>
            <a:off x="497966" y="1310639"/>
            <a:ext cx="8031480" cy="289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Microsoft built a lot of datacenters for Azure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Each datacenters’ location is called </a:t>
            </a:r>
            <a:r>
              <a:rPr b="1" lang="en" sz="2100">
                <a:latin typeface="Arial"/>
                <a:ea typeface="Arial"/>
                <a:cs typeface="Arial"/>
                <a:sym typeface="Arial"/>
              </a:rPr>
              <a:t>Region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There are ~60 Azure Regions (more than any other cloud)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Almost every new resource in the cloud should be allocated to a region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/>
        </p:nvSpPr>
        <p:spPr>
          <a:xfrm>
            <a:off x="2288096" y="4767758"/>
            <a:ext cx="4253389" cy="179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lang="en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https://azure.microsoft.com/en-us/global-infrastructure/geographies/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158039" y="78961"/>
            <a:ext cx="3267075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Zones</a:t>
            </a:r>
            <a:endParaRPr/>
          </a:p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497966" y="1310639"/>
            <a:ext cx="8323898" cy="353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"/>
              <a:t>Some of the regions have more than one physical datacenter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/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"/>
              <a:t>Great for availability in case one datacenter fails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/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"/>
              <a:t>Each datacenter is called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Zone</a:t>
            </a:r>
            <a:endParaRPr/>
          </a:p>
          <a:p>
            <a:pPr indent="-349250" lvl="0" marL="3556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"/>
              <a:t>When there are more than one datacenter in a region, the region is said to have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Availability Zones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"/>
              <a:t>Some cloud services benefit from Availability Zones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26"/>
          <p:cNvGrpSpPr/>
          <p:nvPr/>
        </p:nvGrpSpPr>
        <p:grpSpPr>
          <a:xfrm>
            <a:off x="766952" y="1010412"/>
            <a:ext cx="6845427" cy="2631377"/>
            <a:chOff x="1022603" y="1347216"/>
            <a:chExt cx="9127236" cy="3508502"/>
          </a:xfrm>
        </p:grpSpPr>
        <p:sp>
          <p:nvSpPr>
            <p:cNvPr id="140" name="Google Shape;140;p26"/>
            <p:cNvSpPr/>
            <p:nvPr/>
          </p:nvSpPr>
          <p:spPr>
            <a:xfrm>
              <a:off x="1022603" y="4658868"/>
              <a:ext cx="1100455" cy="196850"/>
            </a:xfrm>
            <a:custGeom>
              <a:rect b="b" l="l" r="r" t="t"/>
              <a:pathLst>
                <a:path extrusionOk="0" h="196850" w="1100455">
                  <a:moveTo>
                    <a:pt x="0" y="196595"/>
                  </a:moveTo>
                  <a:lnTo>
                    <a:pt x="1100328" y="196595"/>
                  </a:lnTo>
                  <a:lnTo>
                    <a:pt x="1100328" y="0"/>
                  </a:lnTo>
                  <a:lnTo>
                    <a:pt x="0" y="0"/>
                  </a:lnTo>
                  <a:lnTo>
                    <a:pt x="0" y="196595"/>
                  </a:lnTo>
                  <a:close/>
                </a:path>
              </a:pathLst>
            </a:custGeom>
            <a:noFill/>
            <a:ln cap="flat" cmpd="sng" w="12675">
              <a:solidFill>
                <a:srgbClr val="5382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pic>
          <p:nvPicPr>
            <p:cNvPr id="141" name="Google Shape;141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761743" y="1578863"/>
              <a:ext cx="76200" cy="2503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" name="Google Shape;142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031236" y="1597152"/>
              <a:ext cx="76200" cy="2503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507736" y="1347216"/>
              <a:ext cx="76200" cy="2503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636251" y="1847088"/>
              <a:ext cx="76200" cy="2503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073639" y="4259580"/>
              <a:ext cx="76200" cy="25031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6" name="Google Shape;146;p26"/>
          <p:cNvSpPr txBox="1"/>
          <p:nvPr/>
        </p:nvSpPr>
        <p:spPr>
          <a:xfrm>
            <a:off x="2288096" y="4767758"/>
            <a:ext cx="4253389" cy="179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lang="en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https://azure.microsoft.com/en-us/global-infrastructure/geographies/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158039" y="78961"/>
            <a:ext cx="3267075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Paired Regions</a:t>
            </a:r>
            <a:endParaRPr/>
          </a:p>
        </p:txBody>
      </p:sp>
      <p:sp>
        <p:nvSpPr>
          <p:cNvPr id="152" name="Google Shape;152;p27"/>
          <p:cNvSpPr txBox="1"/>
          <p:nvPr/>
        </p:nvSpPr>
        <p:spPr>
          <a:xfrm>
            <a:off x="497966" y="1310639"/>
            <a:ext cx="6949916" cy="289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Some regions have designated pair region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For increased availability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When a full region fails – the other one can fill its place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Relevant for some of the cloud services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Pairs are set by Azure and cannot be changed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oogle Shape;157;p28"/>
          <p:cNvGrpSpPr/>
          <p:nvPr/>
        </p:nvGrpSpPr>
        <p:grpSpPr>
          <a:xfrm>
            <a:off x="1888522" y="1165288"/>
            <a:ext cx="4111943" cy="1186719"/>
            <a:chOff x="2518029" y="1553718"/>
            <a:chExt cx="5482590" cy="1582292"/>
          </a:xfrm>
        </p:grpSpPr>
        <p:pic>
          <p:nvPicPr>
            <p:cNvPr id="158" name="Google Shape;158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84145" y="2321433"/>
              <a:ext cx="166878" cy="1546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518029" y="1896236"/>
              <a:ext cx="168401" cy="1546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" name="Google Shape;160;p28"/>
            <p:cNvSpPr/>
            <p:nvPr/>
          </p:nvSpPr>
          <p:spPr>
            <a:xfrm>
              <a:off x="2602230" y="2041397"/>
              <a:ext cx="154940" cy="290195"/>
            </a:xfrm>
            <a:custGeom>
              <a:rect b="b" l="l" r="r" t="t"/>
              <a:pathLst>
                <a:path extrusionOk="0" h="290194" w="154939">
                  <a:moveTo>
                    <a:pt x="110270" y="227241"/>
                  </a:moveTo>
                  <a:lnTo>
                    <a:pt x="85089" y="240664"/>
                  </a:lnTo>
                  <a:lnTo>
                    <a:pt x="154558" y="289940"/>
                  </a:lnTo>
                  <a:lnTo>
                    <a:pt x="153235" y="240664"/>
                  </a:lnTo>
                  <a:lnTo>
                    <a:pt x="153173" y="238378"/>
                  </a:lnTo>
                  <a:lnTo>
                    <a:pt x="116205" y="238378"/>
                  </a:lnTo>
                  <a:lnTo>
                    <a:pt x="110270" y="227241"/>
                  </a:lnTo>
                  <a:close/>
                </a:path>
                <a:path extrusionOk="0" h="290194" w="154939">
                  <a:moveTo>
                    <a:pt x="127111" y="218264"/>
                  </a:moveTo>
                  <a:lnTo>
                    <a:pt x="110270" y="227241"/>
                  </a:lnTo>
                  <a:lnTo>
                    <a:pt x="116205" y="238378"/>
                  </a:lnTo>
                  <a:lnTo>
                    <a:pt x="133095" y="229488"/>
                  </a:lnTo>
                  <a:lnTo>
                    <a:pt x="127111" y="218264"/>
                  </a:lnTo>
                  <a:close/>
                </a:path>
                <a:path extrusionOk="0" h="290194" w="154939">
                  <a:moveTo>
                    <a:pt x="152272" y="204850"/>
                  </a:moveTo>
                  <a:lnTo>
                    <a:pt x="127111" y="218264"/>
                  </a:lnTo>
                  <a:lnTo>
                    <a:pt x="133095" y="229488"/>
                  </a:lnTo>
                  <a:lnTo>
                    <a:pt x="116205" y="238378"/>
                  </a:lnTo>
                  <a:lnTo>
                    <a:pt x="153173" y="238378"/>
                  </a:lnTo>
                  <a:lnTo>
                    <a:pt x="152272" y="204850"/>
                  </a:lnTo>
                  <a:close/>
                </a:path>
                <a:path extrusionOk="0" h="290194" w="154939">
                  <a:moveTo>
                    <a:pt x="44201" y="62767"/>
                  </a:moveTo>
                  <a:lnTo>
                    <a:pt x="27407" y="71735"/>
                  </a:lnTo>
                  <a:lnTo>
                    <a:pt x="110270" y="227241"/>
                  </a:lnTo>
                  <a:lnTo>
                    <a:pt x="127111" y="218264"/>
                  </a:lnTo>
                  <a:lnTo>
                    <a:pt x="44201" y="62767"/>
                  </a:lnTo>
                  <a:close/>
                </a:path>
                <a:path extrusionOk="0" h="290194" w="154939">
                  <a:moveTo>
                    <a:pt x="0" y="0"/>
                  </a:moveTo>
                  <a:lnTo>
                    <a:pt x="2158" y="85216"/>
                  </a:lnTo>
                  <a:lnTo>
                    <a:pt x="27407" y="71735"/>
                  </a:lnTo>
                  <a:lnTo>
                    <a:pt x="21462" y="60578"/>
                  </a:lnTo>
                  <a:lnTo>
                    <a:pt x="38226" y="51562"/>
                  </a:lnTo>
                  <a:lnTo>
                    <a:pt x="65187" y="51562"/>
                  </a:lnTo>
                  <a:lnTo>
                    <a:pt x="69468" y="49275"/>
                  </a:lnTo>
                  <a:lnTo>
                    <a:pt x="0" y="0"/>
                  </a:lnTo>
                  <a:close/>
                </a:path>
                <a:path extrusionOk="0" h="290194" w="154939">
                  <a:moveTo>
                    <a:pt x="38226" y="51562"/>
                  </a:moveTo>
                  <a:lnTo>
                    <a:pt x="21462" y="60578"/>
                  </a:lnTo>
                  <a:lnTo>
                    <a:pt x="27407" y="71735"/>
                  </a:lnTo>
                  <a:lnTo>
                    <a:pt x="44201" y="62767"/>
                  </a:lnTo>
                  <a:lnTo>
                    <a:pt x="38226" y="51562"/>
                  </a:lnTo>
                  <a:close/>
                </a:path>
                <a:path extrusionOk="0" h="290194" w="154939">
                  <a:moveTo>
                    <a:pt x="65187" y="51562"/>
                  </a:moveTo>
                  <a:lnTo>
                    <a:pt x="38226" y="51562"/>
                  </a:lnTo>
                  <a:lnTo>
                    <a:pt x="44201" y="62767"/>
                  </a:lnTo>
                  <a:lnTo>
                    <a:pt x="65187" y="51562"/>
                  </a:lnTo>
                  <a:close/>
                </a:path>
              </a:pathLst>
            </a:custGeom>
            <a:solidFill>
              <a:srgbClr val="53270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161" name="Google Shape;161;p28"/>
            <p:cNvSpPr/>
            <p:nvPr/>
          </p:nvSpPr>
          <p:spPr>
            <a:xfrm>
              <a:off x="5089397" y="1553718"/>
              <a:ext cx="521334" cy="190500"/>
            </a:xfrm>
            <a:custGeom>
              <a:rect b="b" l="l" r="r" t="t"/>
              <a:pathLst>
                <a:path extrusionOk="0" h="190500" w="521335">
                  <a:moveTo>
                    <a:pt x="371855" y="123444"/>
                  </a:moveTo>
                  <a:lnTo>
                    <a:pt x="377719" y="97321"/>
                  </a:lnTo>
                  <a:lnTo>
                    <a:pt x="393715" y="76009"/>
                  </a:lnTo>
                  <a:lnTo>
                    <a:pt x="417450" y="61650"/>
                  </a:lnTo>
                  <a:lnTo>
                    <a:pt x="446531" y="56387"/>
                  </a:lnTo>
                  <a:lnTo>
                    <a:pt x="475613" y="61650"/>
                  </a:lnTo>
                  <a:lnTo>
                    <a:pt x="499348" y="76009"/>
                  </a:lnTo>
                  <a:lnTo>
                    <a:pt x="515344" y="97321"/>
                  </a:lnTo>
                  <a:lnTo>
                    <a:pt x="521207" y="123444"/>
                  </a:lnTo>
                  <a:lnTo>
                    <a:pt x="515344" y="149566"/>
                  </a:lnTo>
                  <a:lnTo>
                    <a:pt x="499348" y="170878"/>
                  </a:lnTo>
                  <a:lnTo>
                    <a:pt x="475613" y="185237"/>
                  </a:lnTo>
                  <a:lnTo>
                    <a:pt x="446531" y="190500"/>
                  </a:lnTo>
                  <a:lnTo>
                    <a:pt x="417450" y="185237"/>
                  </a:lnTo>
                  <a:lnTo>
                    <a:pt x="393715" y="170878"/>
                  </a:lnTo>
                  <a:lnTo>
                    <a:pt x="377719" y="149566"/>
                  </a:lnTo>
                  <a:lnTo>
                    <a:pt x="371855" y="123444"/>
                  </a:lnTo>
                  <a:close/>
                </a:path>
                <a:path extrusionOk="0" h="190500" w="521335">
                  <a:moveTo>
                    <a:pt x="0" y="67818"/>
                  </a:moveTo>
                  <a:lnTo>
                    <a:pt x="5816" y="41415"/>
                  </a:lnTo>
                  <a:lnTo>
                    <a:pt x="21669" y="19859"/>
                  </a:lnTo>
                  <a:lnTo>
                    <a:pt x="45166" y="5328"/>
                  </a:lnTo>
                  <a:lnTo>
                    <a:pt x="73913" y="0"/>
                  </a:lnTo>
                  <a:lnTo>
                    <a:pt x="102661" y="5328"/>
                  </a:lnTo>
                  <a:lnTo>
                    <a:pt x="126158" y="19859"/>
                  </a:lnTo>
                  <a:lnTo>
                    <a:pt x="142011" y="41415"/>
                  </a:lnTo>
                  <a:lnTo>
                    <a:pt x="147827" y="67818"/>
                  </a:lnTo>
                  <a:lnTo>
                    <a:pt x="142011" y="94220"/>
                  </a:lnTo>
                  <a:lnTo>
                    <a:pt x="126158" y="115776"/>
                  </a:lnTo>
                  <a:lnTo>
                    <a:pt x="102661" y="130307"/>
                  </a:lnTo>
                  <a:lnTo>
                    <a:pt x="73913" y="135636"/>
                  </a:lnTo>
                  <a:lnTo>
                    <a:pt x="45166" y="130307"/>
                  </a:lnTo>
                  <a:lnTo>
                    <a:pt x="21669" y="115776"/>
                  </a:lnTo>
                  <a:lnTo>
                    <a:pt x="5816" y="94220"/>
                  </a:lnTo>
                  <a:lnTo>
                    <a:pt x="0" y="67818"/>
                  </a:lnTo>
                  <a:close/>
                </a:path>
              </a:pathLst>
            </a:custGeom>
            <a:noFill/>
            <a:ln cap="flat" cmpd="sng" w="19050">
              <a:solidFill>
                <a:srgbClr val="53270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162" name="Google Shape;162;p28"/>
            <p:cNvSpPr/>
            <p:nvPr/>
          </p:nvSpPr>
          <p:spPr>
            <a:xfrm>
              <a:off x="5237226" y="1595627"/>
              <a:ext cx="224790" cy="97155"/>
            </a:xfrm>
            <a:custGeom>
              <a:rect b="b" l="l" r="r" t="t"/>
              <a:pathLst>
                <a:path extrusionOk="0" h="97155" w="224789">
                  <a:moveTo>
                    <a:pt x="148685" y="69361"/>
                  </a:moveTo>
                  <a:lnTo>
                    <a:pt x="140462" y="96647"/>
                  </a:lnTo>
                  <a:lnTo>
                    <a:pt x="224409" y="82169"/>
                  </a:lnTo>
                  <a:lnTo>
                    <a:pt x="214708" y="73025"/>
                  </a:lnTo>
                  <a:lnTo>
                    <a:pt x="160782" y="73025"/>
                  </a:lnTo>
                  <a:lnTo>
                    <a:pt x="148685" y="69361"/>
                  </a:lnTo>
                  <a:close/>
                </a:path>
                <a:path extrusionOk="0" h="97155" w="224789">
                  <a:moveTo>
                    <a:pt x="83947" y="0"/>
                  </a:moveTo>
                  <a:lnTo>
                    <a:pt x="0" y="14477"/>
                  </a:lnTo>
                  <a:lnTo>
                    <a:pt x="61975" y="73025"/>
                  </a:lnTo>
                  <a:lnTo>
                    <a:pt x="70227" y="45601"/>
                  </a:lnTo>
                  <a:lnTo>
                    <a:pt x="58038" y="41910"/>
                  </a:lnTo>
                  <a:lnTo>
                    <a:pt x="63500" y="23749"/>
                  </a:lnTo>
                  <a:lnTo>
                    <a:pt x="76801" y="23749"/>
                  </a:lnTo>
                  <a:lnTo>
                    <a:pt x="83947" y="0"/>
                  </a:lnTo>
                  <a:close/>
                </a:path>
                <a:path extrusionOk="0" h="97155" w="224789">
                  <a:moveTo>
                    <a:pt x="154198" y="51070"/>
                  </a:moveTo>
                  <a:lnTo>
                    <a:pt x="148685" y="69361"/>
                  </a:lnTo>
                  <a:lnTo>
                    <a:pt x="160782" y="73025"/>
                  </a:lnTo>
                  <a:lnTo>
                    <a:pt x="166370" y="54737"/>
                  </a:lnTo>
                  <a:lnTo>
                    <a:pt x="154198" y="51070"/>
                  </a:lnTo>
                  <a:close/>
                </a:path>
                <a:path extrusionOk="0" h="97155" w="224789">
                  <a:moveTo>
                    <a:pt x="162433" y="23749"/>
                  </a:moveTo>
                  <a:lnTo>
                    <a:pt x="154198" y="51070"/>
                  </a:lnTo>
                  <a:lnTo>
                    <a:pt x="166370" y="54737"/>
                  </a:lnTo>
                  <a:lnTo>
                    <a:pt x="160782" y="73025"/>
                  </a:lnTo>
                  <a:lnTo>
                    <a:pt x="214708" y="73025"/>
                  </a:lnTo>
                  <a:lnTo>
                    <a:pt x="162433" y="23749"/>
                  </a:lnTo>
                  <a:close/>
                </a:path>
                <a:path extrusionOk="0" h="97155" w="224789">
                  <a:moveTo>
                    <a:pt x="75696" y="27422"/>
                  </a:moveTo>
                  <a:lnTo>
                    <a:pt x="70227" y="45601"/>
                  </a:lnTo>
                  <a:lnTo>
                    <a:pt x="148685" y="69361"/>
                  </a:lnTo>
                  <a:lnTo>
                    <a:pt x="154198" y="51070"/>
                  </a:lnTo>
                  <a:lnTo>
                    <a:pt x="75696" y="27422"/>
                  </a:lnTo>
                  <a:close/>
                </a:path>
                <a:path extrusionOk="0" h="97155" w="224789">
                  <a:moveTo>
                    <a:pt x="63500" y="23749"/>
                  </a:moveTo>
                  <a:lnTo>
                    <a:pt x="58038" y="41910"/>
                  </a:lnTo>
                  <a:lnTo>
                    <a:pt x="70227" y="45601"/>
                  </a:lnTo>
                  <a:lnTo>
                    <a:pt x="75696" y="27422"/>
                  </a:lnTo>
                  <a:lnTo>
                    <a:pt x="63500" y="23749"/>
                  </a:lnTo>
                  <a:close/>
                </a:path>
                <a:path extrusionOk="0" h="97155" w="224789">
                  <a:moveTo>
                    <a:pt x="76801" y="23749"/>
                  </a:moveTo>
                  <a:lnTo>
                    <a:pt x="63500" y="23749"/>
                  </a:lnTo>
                  <a:lnTo>
                    <a:pt x="75696" y="27422"/>
                  </a:lnTo>
                  <a:lnTo>
                    <a:pt x="76801" y="23749"/>
                  </a:lnTo>
                  <a:close/>
                </a:path>
              </a:pathLst>
            </a:custGeom>
            <a:solidFill>
              <a:srgbClr val="53270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pic>
          <p:nvPicPr>
            <p:cNvPr id="163" name="Google Shape;163;p2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727061" y="2755772"/>
              <a:ext cx="273558" cy="38023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4" name="Google Shape;164;p28"/>
          <p:cNvSpPr txBox="1"/>
          <p:nvPr/>
        </p:nvSpPr>
        <p:spPr>
          <a:xfrm>
            <a:off x="2288096" y="4767758"/>
            <a:ext cx="4253389" cy="179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lang="en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https://azure.microsoft.com/en-us/global-infrastructure/geographies/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>
            <p:ph type="title"/>
          </p:nvPr>
        </p:nvSpPr>
        <p:spPr>
          <a:xfrm>
            <a:off x="158039" y="78961"/>
            <a:ext cx="3267075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Azure Services</a:t>
            </a:r>
            <a:endParaRPr/>
          </a:p>
        </p:txBody>
      </p:sp>
      <p:sp>
        <p:nvSpPr>
          <p:cNvPr id="170" name="Google Shape;170;p29"/>
          <p:cNvSpPr txBox="1"/>
          <p:nvPr/>
        </p:nvSpPr>
        <p:spPr>
          <a:xfrm>
            <a:off x="497966" y="1310639"/>
            <a:ext cx="7593330" cy="2305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Everything that can be done in the cloud is called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266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538235"/>
                </a:solidFill>
                <a:latin typeface="Lucida Sans"/>
                <a:ea typeface="Lucida Sans"/>
                <a:cs typeface="Lucida Sans"/>
                <a:sym typeface="Lucida Sans"/>
              </a:rPr>
              <a:t>Cloud Service</a:t>
            </a:r>
            <a:endParaRPr sz="30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ie. Creating VMs, building databases, set up networks, use AI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algorithms, using central user management etc.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>
            <p:ph type="title"/>
          </p:nvPr>
        </p:nvSpPr>
        <p:spPr>
          <a:xfrm>
            <a:off x="158039" y="78961"/>
            <a:ext cx="3267075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Azure Services</a:t>
            </a:r>
            <a:endParaRPr/>
          </a:p>
        </p:txBody>
      </p:sp>
      <p:sp>
        <p:nvSpPr>
          <p:cNvPr id="176" name="Google Shape;176;p30"/>
          <p:cNvSpPr txBox="1"/>
          <p:nvPr/>
        </p:nvSpPr>
        <p:spPr>
          <a:xfrm>
            <a:off x="497966" y="1310639"/>
            <a:ext cx="6038850" cy="979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Go to: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u="sng">
                <a:solidFill>
                  <a:schemeClr val="hlink"/>
                </a:solidFill>
                <a:latin typeface="Lucida Sans"/>
                <a:ea typeface="Lucida Sans"/>
                <a:cs typeface="Lucida Sans"/>
                <a:sym typeface="Lucida Sans"/>
                <a:hlinkClick r:id="rId3"/>
              </a:rPr>
              <a:t>https://azure.microsoft.com/en-us/services/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